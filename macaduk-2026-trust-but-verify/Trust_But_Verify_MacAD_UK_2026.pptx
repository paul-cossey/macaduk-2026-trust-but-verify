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30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7"/>
    <p:restoredTop sz="65890"/>
  </p:normalViewPr>
  <p:slideViewPr>
    <p:cSldViewPr snapToGrid="0" snapToObjects="1">
      <p:cViewPr varScale="1">
        <p:scale>
          <a:sx n="81" d="100"/>
          <a:sy n="81" d="100"/>
        </p:scale>
        <p:origin x="24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62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Introduce the presentation as a top-secret briefing on software safety, inspired by Cold War spy themes. </a:t>
            </a:r>
            <a:r>
              <a:rPr dirty="0" err="1"/>
              <a:t>Emphasise</a:t>
            </a:r>
            <a:r>
              <a:rPr dirty="0"/>
              <a:t> the importance of `Trust, but Verify` in the context of Mac administration and software deployment.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Introduce ourselves as the agents behind this operation. Use the dossier format to playfully present our roles, </a:t>
            </a:r>
            <a:r>
              <a:rPr dirty="0" err="1"/>
              <a:t>organisations</a:t>
            </a:r>
            <a:r>
              <a:rPr dirty="0"/>
              <a:t>, and top-secret clearance levels. The REDACTED stamps add a fun touch of mystery and intrigue.</a:t>
            </a:r>
          </a:p>
          <a:p>
            <a:endParaRPr dirty="0"/>
          </a:p>
          <a:p>
            <a:r>
              <a:rPr dirty="0"/>
              <a:t>PC – </a:t>
            </a:r>
            <a:r>
              <a:rPr lang="en-GB" dirty="0"/>
              <a:t>Hi</a:t>
            </a:r>
            <a:r>
              <a:rPr dirty="0"/>
              <a:t>, I’m Paul, and I’m a Client Platform Engineer at Jamf, and I work on the Jamf Auto Update product.</a:t>
            </a:r>
          </a:p>
          <a:p>
            <a:endParaRPr dirty="0"/>
          </a:p>
          <a:p>
            <a:r>
              <a:rPr dirty="0"/>
              <a:t>Like all good straight-to-Betamax spy thrillers, my </a:t>
            </a:r>
            <a:r>
              <a:rPr lang="en-GB" dirty="0"/>
              <a:t>IT </a:t>
            </a:r>
            <a:r>
              <a:rPr dirty="0"/>
              <a:t>origin story </a:t>
            </a:r>
            <a:r>
              <a:rPr lang="en-GB" dirty="0"/>
              <a:t>starts by</a:t>
            </a:r>
            <a:r>
              <a:rPr dirty="0"/>
              <a:t>… Sorting mail in the Virgin Direct </a:t>
            </a:r>
            <a:r>
              <a:rPr dirty="0" err="1"/>
              <a:t>Postroom</a:t>
            </a:r>
            <a:r>
              <a:rPr dirty="0"/>
              <a:t> in the late 90’s </a:t>
            </a:r>
            <a:endParaRPr lang="en-GB" dirty="0"/>
          </a:p>
          <a:p>
            <a:endParaRPr dirty="0"/>
          </a:p>
          <a:p>
            <a:r>
              <a:rPr dirty="0"/>
              <a:t>I’d always had an interest in computers so, when I discovered that helpdesk teams were a thing; I </a:t>
            </a:r>
            <a:r>
              <a:rPr lang="en-GB" dirty="0"/>
              <a:t>decided that </a:t>
            </a:r>
            <a:r>
              <a:rPr dirty="0"/>
              <a:t>was the career for me. But other than completing Doom and Quake I had no real-world IT experience to get myself there, so I volunteered my free time for hardware rebuilds, and office moves during a site wide network upgrade from Token Ring to Ethernet to get some experience.</a:t>
            </a:r>
          </a:p>
          <a:p>
            <a:endParaRPr dirty="0"/>
          </a:p>
          <a:p>
            <a:r>
              <a:rPr dirty="0"/>
              <a:t>This led on to a secondment to the helpdesk, which then turned into a permanent role.</a:t>
            </a:r>
          </a:p>
          <a:p>
            <a:endParaRPr dirty="0"/>
          </a:p>
          <a:p>
            <a:r>
              <a:rPr lang="en-GB" dirty="0"/>
              <a:t>My</a:t>
            </a:r>
            <a:r>
              <a:rPr dirty="0"/>
              <a:t> first 10 years or so were Windows-based with roles at Norfolk County Council, James Paget Hospital and Great Yarmouth &amp; Waveney PCT - in 2006 I joined Cambridge Education Group, where there was a small but quickly growing  Mac estate, it was there that I began to drift from Microsoft to Apple.</a:t>
            </a:r>
          </a:p>
          <a:p>
            <a:endParaRPr dirty="0"/>
          </a:p>
          <a:p>
            <a:r>
              <a:rPr dirty="0"/>
              <a:t>From Cambridge Education Group my next role was much closer to home at Norwich University of the Arts, where I spent eleven years as the technical owner of the Apple estate.</a:t>
            </a:r>
          </a:p>
          <a:p>
            <a:endParaRPr dirty="0"/>
          </a:p>
          <a:p>
            <a:r>
              <a:rPr dirty="0"/>
              <a:t>As we were coming out of the pandemic, I applied for a role at dataJAR to work on the Auto Update product, and somehow managed to convince Ben and Yannis that I was the man for the job, a decision I’m sure they regret at least every other day. Sorry about that!</a:t>
            </a:r>
          </a:p>
          <a:p>
            <a:endParaRPr dirty="0"/>
          </a:p>
          <a:p>
            <a:r>
              <a:rPr dirty="0"/>
              <a:t>dataJAR was then acquired by Jamf, and I moved over to continue work on the rebranded Jamf Auto Update product in the App Lifecycle and Software Update teams.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So what is Jamf Auto Update? It’s an automated application packaging and deployment service for Jamf Pro. It provides over 1,000 macOS software titles, with an App Store-like update experience for third-party applications outside of the Mac App Store.</a:t>
            </a:r>
          </a:p>
          <a:p>
            <a:endParaRPr dirty="0"/>
          </a:p>
          <a:p>
            <a:r>
              <a:rPr dirty="0"/>
              <a:t>It integrates natively with Jamf Pro patch management and includes native Notification Centre integration so users get notified of pending and completed updates.</a:t>
            </a:r>
          </a:p>
          <a:p>
            <a:endParaRPr dirty="0"/>
          </a:p>
          <a:p>
            <a:r>
              <a:rPr dirty="0"/>
              <a:t>Critically for this talk, titles are not released into production until they’ve passed a number of security checks – Developer Signing Certificate verification, SHA-256 checks, and VirusTotal analysis. That’s the process we’re going to dive into today.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and BT – Secret agent duck animation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So, “Trust, but verify” – it’s a phrase you’re probably more used to hearing in the identity space, but it’s actually an old Russian proverb. It rhymes in Russian: “doveryay, no proveryay”.</a:t>
            </a:r>
          </a:p>
          <a:p>
            <a:endParaRPr dirty="0"/>
          </a:p>
          <a:p>
            <a:r>
              <a:rPr dirty="0"/>
              <a:t>The phrase became internationally known thanks to an American scholar called Suzanne Massie, she met with Reagan many times between '84 and '87, </a:t>
            </a:r>
            <a:r>
              <a:rPr lang="en-GB" dirty="0"/>
              <a:t>she </a:t>
            </a:r>
            <a:r>
              <a:rPr dirty="0"/>
              <a:t>taught him the proverb and told him: “The Russians like to talk in proverbs. It would be nice of you to know a few. You are an actor – you can learn them very quickly.”</a:t>
            </a:r>
          </a:p>
          <a:p>
            <a:endParaRPr dirty="0"/>
          </a:p>
          <a:p>
            <a:r>
              <a:rPr dirty="0"/>
              <a:t>Reagan loved it and adopted it as his signature phrase when discussing relations with the Soviet Union. He used it so often that at the signing of the INF Treaty on 8th December 1987, Gorbachev finally replied: “You repeat that at every meeting!” Reagan’s response was “I like it.”</a:t>
            </a:r>
          </a:p>
          <a:p>
            <a:endParaRPr dirty="0"/>
          </a:p>
          <a:p>
            <a:r>
              <a:rPr dirty="0"/>
              <a:t>As a fun side note: while Reagan was quoting Russian proverbs, Gorbachev was quoting Ralph Waldo Emerson back at him – “The reward of a thing well done is to have done it.” Emerson had apparently been popular in the USSR when Gorbachev was at university.</a:t>
            </a:r>
          </a:p>
          <a:p>
            <a:endParaRPr dirty="0"/>
          </a:p>
          <a:p>
            <a:r>
              <a:rPr dirty="0"/>
              <a:t>The phrase has had a long afterlife too. In 2001, the National Infrastructure Protection Center published a paper called “Trust but verify” about protecting yourself from email viruses. In 2013, John Kerry updated it for the Syria chemical weapons deal, saying Reagan’s old adage was “in need of an update” and that they’d committed to a standard of “verify and verify.” In 2020, Pompeo went even further, saying the US should “distrust and verify” when dealing with China.</a:t>
            </a:r>
          </a:p>
          <a:p>
            <a:endParaRPr dirty="0"/>
          </a:p>
          <a:p>
            <a:r>
              <a:rPr dirty="0"/>
              <a:t>But for many in IT today, it’s the foundation of Zero Trust security models – and the perfect lens for thinking about how we verify software before it hits our fleets.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So, we ran a session poll in the Whova App, and there’s been some encouraging responses - looks like most of you are already doing some level of verification before deploying, which is great!</a:t>
            </a:r>
          </a:p>
          <a:p>
            <a:endParaRPr dirty="0"/>
          </a:p>
          <a:p>
            <a:r>
              <a:rPr dirty="0"/>
              <a:t>We’ve even got someone at Level 4 already! Hopefully by the end of this session, we can convince a few more of you to go for the full dossier!</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So most of you are already doing some level of checking, which is great. But let's look at why even that might not be enough. Here are some real-world examples of supply chain attacks where software was compromised before it reached you.</a:t>
            </a:r>
          </a:p>
          <a:p>
            <a:endParaRPr dirty="0"/>
          </a:p>
          <a:p>
            <a:r>
              <a:rPr dirty="0"/>
              <a:t>Blog posts / sources for reference:</a:t>
            </a:r>
          </a:p>
          <a:p>
            <a:r>
              <a:rPr dirty="0"/>
              <a:t>  </a:t>
            </a:r>
            <a:r>
              <a:rPr dirty="0" err="1"/>
              <a:t>XcodeGhost</a:t>
            </a:r>
            <a:r>
              <a:rPr dirty="0"/>
              <a:t>: unit42.paloaltonetworks.com/novel-malware-</a:t>
            </a:r>
            <a:r>
              <a:rPr dirty="0" err="1"/>
              <a:t>xcodeghost</a:t>
            </a:r>
            <a:r>
              <a:rPr dirty="0"/>
              <a:t>-modifies-</a:t>
            </a:r>
            <a:r>
              <a:rPr dirty="0" err="1"/>
              <a:t>xcode</a:t>
            </a:r>
            <a:r>
              <a:rPr dirty="0"/>
              <a:t>-infects-apple-</a:t>
            </a:r>
            <a:r>
              <a:rPr dirty="0" err="1"/>
              <a:t>ios</a:t>
            </a:r>
            <a:r>
              <a:rPr dirty="0"/>
              <a:t>-apps</a:t>
            </a:r>
          </a:p>
          <a:p>
            <a:r>
              <a:rPr dirty="0"/>
              <a:t>  </a:t>
            </a:r>
            <a:r>
              <a:rPr dirty="0" err="1"/>
              <a:t>KeRanger</a:t>
            </a:r>
            <a:r>
              <a:rPr dirty="0"/>
              <a:t>: unit42.paloaltonetworks.com/new-os-x-ransomware-keranger-infected-transmission-bittorrent-client-installer</a:t>
            </a:r>
          </a:p>
          <a:p>
            <a:r>
              <a:rPr dirty="0"/>
              <a:t>  </a:t>
            </a:r>
            <a:r>
              <a:rPr dirty="0" err="1"/>
              <a:t>HandBrake</a:t>
            </a:r>
            <a:r>
              <a:rPr dirty="0"/>
              <a:t>: objective-</a:t>
            </a:r>
            <a:r>
              <a:rPr dirty="0" err="1"/>
              <a:t>see.org</a:t>
            </a:r>
            <a:r>
              <a:rPr dirty="0"/>
              <a:t>/blog/blog_0x1D.html</a:t>
            </a:r>
          </a:p>
          <a:p>
            <a:r>
              <a:rPr dirty="0"/>
              <a:t>  </a:t>
            </a:r>
            <a:r>
              <a:rPr dirty="0" err="1"/>
              <a:t>Codecov</a:t>
            </a:r>
            <a:r>
              <a:rPr dirty="0"/>
              <a:t>: </a:t>
            </a:r>
            <a:r>
              <a:rPr dirty="0" err="1"/>
              <a:t>about.codecov.io</a:t>
            </a:r>
            <a:r>
              <a:rPr dirty="0"/>
              <a:t>/security-update</a:t>
            </a:r>
          </a:p>
          <a:p>
            <a:r>
              <a:rPr dirty="0"/>
              <a:t>  General supply chain: objective-</a:t>
            </a:r>
            <a:r>
              <a:rPr dirty="0" err="1"/>
              <a:t>see.org</a:t>
            </a:r>
            <a:r>
              <a:rPr dirty="0"/>
              <a:t>/blog/blog_0x75.html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These first three examples (</a:t>
            </a:r>
            <a:r>
              <a:rPr dirty="0" err="1"/>
              <a:t>XcodeGhost</a:t>
            </a:r>
            <a:r>
              <a:rPr dirty="0"/>
              <a:t>, </a:t>
            </a:r>
            <a:r>
              <a:rPr dirty="0" err="1"/>
              <a:t>KeRanger</a:t>
            </a:r>
            <a:r>
              <a:rPr dirty="0"/>
              <a:t>, </a:t>
            </a:r>
            <a:r>
              <a:rPr dirty="0" err="1"/>
              <a:t>HandBrake</a:t>
            </a:r>
            <a:r>
              <a:rPr dirty="0"/>
              <a:t>) were cases where code signature verification would have failed because the software was tampered with before it was signed.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These first three examples (</a:t>
            </a:r>
            <a:r>
              <a:rPr dirty="0" err="1"/>
              <a:t>XcodeGhost</a:t>
            </a:r>
            <a:r>
              <a:rPr dirty="0"/>
              <a:t>, </a:t>
            </a:r>
            <a:r>
              <a:rPr dirty="0" err="1"/>
              <a:t>KeRanger</a:t>
            </a:r>
            <a:r>
              <a:rPr dirty="0"/>
              <a:t>, </a:t>
            </a:r>
            <a:r>
              <a:rPr dirty="0" err="1"/>
              <a:t>HandBrake</a:t>
            </a:r>
            <a:r>
              <a:rPr dirty="0"/>
              <a:t>) were cases where code signature verification would have failed because the software was tampered with before it was signed.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These first three examples (</a:t>
            </a:r>
            <a:r>
              <a:rPr dirty="0" err="1"/>
              <a:t>XcodeGhost</a:t>
            </a:r>
            <a:r>
              <a:rPr dirty="0"/>
              <a:t>, </a:t>
            </a:r>
            <a:r>
              <a:rPr dirty="0" err="1"/>
              <a:t>KeRanger</a:t>
            </a:r>
            <a:r>
              <a:rPr dirty="0"/>
              <a:t>, </a:t>
            </a:r>
            <a:r>
              <a:rPr dirty="0" err="1"/>
              <a:t>HandBrake</a:t>
            </a:r>
            <a:r>
              <a:rPr dirty="0"/>
              <a:t>) were cases where code signature verification would have failed because the software was tampered with before it was signed.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These first three examples (</a:t>
            </a:r>
            <a:r>
              <a:rPr dirty="0" err="1"/>
              <a:t>XcodeGhost</a:t>
            </a:r>
            <a:r>
              <a:rPr dirty="0"/>
              <a:t>, </a:t>
            </a:r>
            <a:r>
              <a:rPr dirty="0" err="1"/>
              <a:t>KeRanger</a:t>
            </a:r>
            <a:r>
              <a:rPr dirty="0"/>
              <a:t>, </a:t>
            </a:r>
            <a:r>
              <a:rPr dirty="0" err="1"/>
              <a:t>HandBrake</a:t>
            </a:r>
            <a:r>
              <a:rPr dirty="0"/>
              <a:t>) were cases where code signature verification would have failed because the software was tampered with before it was signed.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These first three examples (</a:t>
            </a:r>
            <a:r>
              <a:rPr dirty="0" err="1"/>
              <a:t>XcodeGhost</a:t>
            </a:r>
            <a:r>
              <a:rPr dirty="0"/>
              <a:t>, </a:t>
            </a:r>
            <a:r>
              <a:rPr dirty="0" err="1"/>
              <a:t>KeRanger</a:t>
            </a:r>
            <a:r>
              <a:rPr dirty="0"/>
              <a:t>, </a:t>
            </a:r>
            <a:r>
              <a:rPr dirty="0" err="1"/>
              <a:t>HandBrake</a:t>
            </a:r>
            <a:r>
              <a:rPr dirty="0"/>
              <a:t>) were cases where code signature verification would have failed because the software was tampered with before it was signed.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BT - Discuss the limitations of relying solely on code signature verification as a security measure. Use the examples of real-world supply chain attacks to illustrate how even signed software can be compromised. </a:t>
            </a:r>
            <a:r>
              <a:rPr dirty="0" err="1"/>
              <a:t>Emphasise</a:t>
            </a:r>
            <a:r>
              <a:rPr dirty="0"/>
              <a:t> the need for a more comprehensive approach to verifying software safety.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Before I joined dataJAR, Ben was already doing code signature verification and VirusTotal checks on new titles. And I followed in those footsteps but got increasingly concerned about the risk of inadvertently adding compromised software to the catalog.</a:t>
            </a:r>
          </a:p>
          <a:p>
            <a:endParaRPr dirty="0"/>
          </a:p>
          <a:p>
            <a:r>
              <a:rPr dirty="0"/>
              <a:t>Blog posts like Objective-See’s - “The LockBit ransomware (kinda) comes for macOS” really drove it home – because VirusTotal initially didn’t flag anything untoward with the "locker_Apple_M1_64" sample.</a:t>
            </a:r>
          </a:p>
          <a:p>
            <a:endParaRPr dirty="0"/>
          </a:p>
          <a:p>
            <a:r>
              <a:rPr dirty="0"/>
              <a:t>I’d  noticed a pattern in Patrick blog posts. His tools seemed to stop a lot of previously unknow malware with no specific knowledge of them before hand.</a:t>
            </a:r>
          </a:p>
          <a:p>
            <a:endParaRPr dirty="0"/>
          </a:p>
          <a:p>
            <a:r>
              <a:rPr dirty="0"/>
              <a:t>So, I added the some of Objective-See tools to my test devices and just started observing for suspicious behavior during installs. That then evolved into a checklist that I’d fill out for every title and attached to the new title request ticket.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And this is the checklist. I used it as an installation test snapshot it covered a bunch things I would sometimes forget to add to recipes, a link to VirusTotal, code signing, screenshots of </a:t>
            </a:r>
            <a:r>
              <a:rPr dirty="0" err="1"/>
              <a:t>tiggered</a:t>
            </a:r>
            <a:r>
              <a:rPr dirty="0"/>
              <a:t> Objective-See tool, what config profiles the title needed, whether a pkg had deprecated dependencies like  Python 2 in its scripts.</a:t>
            </a:r>
          </a:p>
          <a:p>
            <a:endParaRPr dirty="0"/>
          </a:p>
          <a:p>
            <a:r>
              <a:rPr dirty="0"/>
              <a:t>With the pace of new titles requests we’d receive, this process was manageable, but it was a bit of a faff filling it out, making sure we get all the screenshots and command output. </a:t>
            </a:r>
            <a:r>
              <a:rPr lang="en-GB" dirty="0"/>
              <a:t>But it </a:t>
            </a:r>
            <a:r>
              <a:rPr dirty="0"/>
              <a:t>was </a:t>
            </a:r>
            <a:r>
              <a:rPr lang="en-GB" dirty="0"/>
              <a:t>still</a:t>
            </a:r>
            <a:r>
              <a:rPr dirty="0"/>
              <a:t> prone to human error</a:t>
            </a:r>
            <a:r>
              <a:rPr lang="en-GB" dirty="0"/>
              <a:t>, </a:t>
            </a:r>
            <a:r>
              <a:rPr dirty="0"/>
              <a:t>as super easy to forget to take a screenshot or check something off the list, the Irony that I created it in the hope it would stop me forgetting things isn’t lost me!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So what do we do now? Well last summer we had a batch of about 20 or so new title requests come in at once, and the thought of running though the checklist one after the other kinda filled me with dread! </a:t>
            </a:r>
          </a:p>
          <a:p>
            <a:endParaRPr dirty="0"/>
          </a:p>
          <a:p>
            <a:r>
              <a:rPr dirty="0"/>
              <a:t>I’d had the idea to write a script to automate a lot of the testing process, but knew it would be quite a complicated task, so it stayed just an idea, but thankfully this batch of new title requests coincided with the release of a new internal AI tool called Ask Jamf. I figured this was the perfect opportunity to test out the new tech and write the orchestration script I’d had whirring in the back of my mind. I</a:t>
            </a:r>
            <a:r>
              <a:rPr lang="en-GB" dirty="0"/>
              <a:t>’ve </a:t>
            </a:r>
            <a:r>
              <a:rPr dirty="0"/>
              <a:t>now migrated to using copilot agents and Claude, which is much quicker and easier than the copy and pasting I was originally doing with Ask Jamf! </a:t>
            </a:r>
          </a:p>
          <a:p>
            <a:endParaRPr dirty="0"/>
          </a:p>
          <a:p>
            <a:r>
              <a:rPr dirty="0"/>
              <a:t>When we test titles we ALWAYS test on actual hardware, and we test on both Apple Silicon and Intel. Although I’m a great believer in any testing is better than no testing! One of the main reasons we test on hardware is malware authors are sneaky buggers, they’ll often check to see if their code is being executed in</a:t>
            </a:r>
            <a:r>
              <a:rPr lang="en-GB" dirty="0"/>
              <a:t>side a</a:t>
            </a:r>
            <a:r>
              <a:rPr dirty="0"/>
              <a:t> VM or a sandbox and then bail before anything malicious runs</a:t>
            </a:r>
            <a:r>
              <a:rPr lang="en-GB" dirty="0"/>
              <a:t>, to try and</a:t>
            </a:r>
            <a:r>
              <a:rPr dirty="0"/>
              <a:t> avoid discovery by security researchers. </a:t>
            </a:r>
          </a:p>
          <a:p>
            <a:endParaRPr dirty="0"/>
          </a:p>
          <a:p>
            <a:r>
              <a:rPr dirty="0"/>
              <a:t>So, what does the script do?</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These tools form the security backbone, lets take a closer look at each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We use it in two ways: first, we upload the installer media itself and scan.  We then submit any URLs or IP addresses captured by </a:t>
            </a:r>
            <a:r>
              <a:rPr dirty="0" err="1"/>
              <a:t>LuLu</a:t>
            </a:r>
            <a:r>
              <a:rPr dirty="0"/>
              <a:t> during install or after launching the application.</a:t>
            </a:r>
          </a:p>
          <a:p>
            <a:endParaRPr dirty="0"/>
          </a:p>
          <a:p>
            <a:r>
              <a:rPr dirty="0"/>
              <a:t>You’ll need an API key, the free public tier works fine for this, there is a 600MB upload limit, which covers most installer media. It’s perfectly fine for business workflows as long as you’re uploading new samples – VirusTotal shares submissions with the security community, so just be aware of that if you’re testing internal software.</a:t>
            </a:r>
          </a:p>
          <a:p>
            <a:endParaRPr dirty="0"/>
          </a:p>
          <a:p>
            <a:r>
              <a:rPr dirty="0"/>
              <a:t>Real-world: In 2018, </a:t>
            </a:r>
            <a:r>
              <a:rPr dirty="0" err="1"/>
              <a:t>OSX.Dummy</a:t>
            </a:r>
            <a:r>
              <a:rPr dirty="0"/>
              <a:t> targeted the crypto community and was completely undetected – zero out of 60 AV engines flagged it on VirusTotal. Similarly, in 2023 the </a:t>
            </a:r>
            <a:r>
              <a:rPr dirty="0" err="1"/>
              <a:t>trojanized</a:t>
            </a:r>
            <a:r>
              <a:rPr dirty="0"/>
              <a:t> 3CX supply chain attack shipped a malicious </a:t>
            </a:r>
            <a:r>
              <a:rPr dirty="0" err="1"/>
              <a:t>libffmpeg.dylib</a:t>
            </a:r>
            <a:r>
              <a:rPr dirty="0"/>
              <a:t> that was notarized by Apple and undetected by every AV engine on VirusTotal when first uploaded. </a:t>
            </a:r>
            <a:r>
              <a:rPr lang="en-GB" dirty="0"/>
              <a:t>C</a:t>
            </a:r>
            <a:r>
              <a:rPr dirty="0" err="1"/>
              <a:t>ases</a:t>
            </a:r>
            <a:r>
              <a:rPr lang="en-GB" dirty="0"/>
              <a:t> like these</a:t>
            </a:r>
            <a:r>
              <a:rPr dirty="0"/>
              <a:t> show why we can’t rely solely on </a:t>
            </a:r>
            <a:r>
              <a:rPr lang="en-GB" dirty="0"/>
              <a:t>Virus </a:t>
            </a:r>
            <a:r>
              <a:rPr lang="en-GB" dirty="0" err="1"/>
              <a:t>Tiotal</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lang="en-GB" dirty="0"/>
              <a:t>I think this is a bit of an exclusive first look. </a:t>
            </a:r>
            <a:r>
              <a:rPr dirty="0"/>
              <a:t>Jamf Threat Labs provides dedicated Mach-O binary scanning</a:t>
            </a:r>
            <a:r>
              <a:rPr lang="en-GB" dirty="0"/>
              <a:t> service</a:t>
            </a:r>
            <a:r>
              <a:rPr dirty="0"/>
              <a:t>. Where VirusTotal scans the installer media as a whole, Threat Labs goes deeper – it scans executable binaries, validates Mach-O headers, runs YARA rules, and classifies threat levels.</a:t>
            </a:r>
          </a:p>
          <a:p>
            <a:endParaRPr dirty="0"/>
          </a:p>
          <a:p>
            <a:r>
              <a:rPr dirty="0"/>
              <a:t>It needs an API key that renews every 30 days and is currently in beta for Jamf customers. If you’d like an invite to the beta, come and speak to Ben or myself after the demo</a:t>
            </a:r>
            <a:r>
              <a:rPr lang="en-GB" dirty="0"/>
              <a:t> and we’ll sort you out</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This is the Threat Labs dashboard. You can see the upload area for Mach-O binaries, recent submissions with their status, and the quick stats showing total submissions and threats detected. The submissions table shows the full history with file names, status, and the ability to view detailed results for each scan.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Three examples of the Threat Labs results page. On the left is the standard result – threat assessment, file hashes, analysis details, and the detection methods used: Team ID analysis, SHA1 hash lookup, and YARA rules.</a:t>
            </a:r>
          </a:p>
          <a:p>
            <a:endParaRPr dirty="0"/>
          </a:p>
          <a:p>
            <a:r>
              <a:rPr dirty="0"/>
              <a:t>In the middle is the AI Analysis for a flagged binary – security classification, threat level, and file classification identifying the type of tool, vendor, architecture, and code signing status.</a:t>
            </a:r>
          </a:p>
          <a:p>
            <a:endParaRPr dirty="0"/>
          </a:p>
          <a:p>
            <a:r>
              <a:rPr dirty="0"/>
              <a:t>On the right is the Behavioral Analysis and reasoning. It examines the binary’s strings, frameworks, and capabilities to determine what the application actually does. In this example it identified a network monitoring tool with socket operations and an unknown Team ID – flagging it as medium threat requiring further verification.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dirty="0" err="1"/>
              <a:t>LuLu</a:t>
            </a:r>
            <a:r>
              <a:rPr dirty="0"/>
              <a:t> is a firewall for macOS. It monitors all outbound network connections and alerts you when an application tries to connect to a remote server.</a:t>
            </a:r>
          </a:p>
          <a:p>
            <a:endParaRPr dirty="0"/>
          </a:p>
          <a:p>
            <a:r>
              <a:rPr dirty="0"/>
              <a:t>During testing, we stream </a:t>
            </a:r>
            <a:r>
              <a:rPr dirty="0" err="1"/>
              <a:t>LuLu’s</a:t>
            </a:r>
            <a:r>
              <a:rPr dirty="0"/>
              <a:t> events via the unified log.</a:t>
            </a:r>
          </a:p>
          <a:p>
            <a:endParaRPr dirty="0"/>
          </a:p>
          <a:p>
            <a:r>
              <a:rPr dirty="0"/>
              <a:t>Captured connections are then submitted to VirusTotal for analysis. – pretty common to see connections to CDN’s and update feeds.</a:t>
            </a:r>
          </a:p>
          <a:p>
            <a:endParaRPr dirty="0"/>
          </a:p>
          <a:p>
            <a:r>
              <a:rPr dirty="0"/>
              <a:t>Real-world: In 2018, </a:t>
            </a:r>
            <a:r>
              <a:rPr dirty="0" err="1"/>
              <a:t>OSX.Dummy</a:t>
            </a:r>
            <a:r>
              <a:rPr dirty="0"/>
              <a:t> tricked crypto community users into running a malicious binary. The malware set up a persistent reverse shell to 185.243.115.230 on port 1337, giving the attacker root access. </a:t>
            </a:r>
            <a:r>
              <a:rPr dirty="0" err="1"/>
              <a:t>LuLu</a:t>
            </a:r>
            <a:r>
              <a:rPr dirty="0"/>
              <a:t> detected this outbound connection immediately – even though every AV engine on VirusTotal missed the malware entirely.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BlockBlock monitors persistence locations on macOS. Whenever something tries to install a new </a:t>
            </a:r>
            <a:r>
              <a:rPr dirty="0" err="1"/>
              <a:t>LaunchAgent</a:t>
            </a:r>
            <a:r>
              <a:rPr dirty="0"/>
              <a:t>, </a:t>
            </a:r>
            <a:r>
              <a:rPr dirty="0" err="1"/>
              <a:t>LaunchDaemon</a:t>
            </a:r>
            <a:r>
              <a:rPr dirty="0"/>
              <a:t>, login item, or other persistence mechanism, BlockBlock raises an alert.</a:t>
            </a:r>
          </a:p>
          <a:p>
            <a:endParaRPr dirty="0"/>
          </a:p>
          <a:p>
            <a:r>
              <a:rPr dirty="0"/>
              <a:t>We capture these events from the unified log during testing. This tells us exactly what persistence mechanisms the title installs – which also feeds directly into the configuration profiles we generate.</a:t>
            </a:r>
          </a:p>
          <a:p>
            <a:endParaRPr dirty="0"/>
          </a:p>
          <a:p>
            <a:r>
              <a:rPr dirty="0"/>
              <a:t>Real-world: In 2018, </a:t>
            </a:r>
            <a:r>
              <a:rPr dirty="0" err="1"/>
              <a:t>OSX.Dummy</a:t>
            </a:r>
            <a:r>
              <a:rPr dirty="0"/>
              <a:t> installed a malicious </a:t>
            </a:r>
            <a:r>
              <a:rPr dirty="0" err="1"/>
              <a:t>LaunchDaemon</a:t>
            </a:r>
            <a:r>
              <a:rPr dirty="0"/>
              <a:t> at /Library/</a:t>
            </a:r>
            <a:r>
              <a:rPr dirty="0" err="1"/>
              <a:t>LaunchDaemons</a:t>
            </a:r>
            <a:r>
              <a:rPr dirty="0"/>
              <a:t>/</a:t>
            </a:r>
            <a:r>
              <a:rPr dirty="0" err="1"/>
              <a:t>com.startup.plist</a:t>
            </a:r>
            <a:r>
              <a:rPr dirty="0"/>
              <a:t> that persisted a reverse shell script. BlockBlock detected and alerted on this persistence attempt immediately. In 2026, BlockBlock v2.3.0 added paste protection against ClickFix attacks – where attackers trick users into pasting malicious commands into Terminal. North Korean actors used this technique in fake video calls, and LLM-generated instructions were found propagating ClickFix payloads via Google Sponsored results.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dirty="0" err="1"/>
              <a:t>KnockKnock</a:t>
            </a:r>
            <a:r>
              <a:rPr dirty="0"/>
              <a:t> scans for persistently installed software. Unlike the streaming tools, it’s a point-in-time scanner – we run it before and after installation and compare the results. </a:t>
            </a:r>
          </a:p>
          <a:p>
            <a:endParaRPr dirty="0"/>
          </a:p>
          <a:p>
            <a:r>
              <a:rPr dirty="0"/>
              <a:t>The delta tells us exactly what persistence mechanisms the title added: </a:t>
            </a:r>
            <a:r>
              <a:rPr dirty="0" err="1"/>
              <a:t>LaunchAgents</a:t>
            </a:r>
            <a:r>
              <a:rPr dirty="0"/>
              <a:t>, </a:t>
            </a:r>
            <a:r>
              <a:rPr dirty="0" err="1"/>
              <a:t>LaunchDaemons</a:t>
            </a:r>
            <a:r>
              <a:rPr dirty="0"/>
              <a:t>, login items, browser extensions, shell config changes, and more. Version 4.0.3 added enhanced BTM enumeration, and the VirusTotal v3 API integration lets us cross-reference any new items</a:t>
            </a:r>
            <a:r>
              <a:rPr lang="en-GB" dirty="0"/>
              <a:t>.</a:t>
            </a:r>
            <a:endParaRPr dirty="0"/>
          </a:p>
          <a:p>
            <a:endParaRPr dirty="0"/>
          </a:p>
          <a:p>
            <a:r>
              <a:rPr dirty="0"/>
              <a:t>Real-world: Running </a:t>
            </a:r>
            <a:r>
              <a:rPr dirty="0" err="1"/>
              <a:t>KnockKnock</a:t>
            </a:r>
            <a:r>
              <a:rPr dirty="0"/>
              <a:t> as root on a system infected with </a:t>
            </a:r>
            <a:r>
              <a:rPr dirty="0" err="1"/>
              <a:t>OSX.Dummy</a:t>
            </a:r>
            <a:r>
              <a:rPr dirty="0"/>
              <a:t> revealed the unsigned </a:t>
            </a:r>
            <a:r>
              <a:rPr dirty="0" err="1"/>
              <a:t>com.startup.plist</a:t>
            </a:r>
            <a:r>
              <a:rPr dirty="0"/>
              <a:t> </a:t>
            </a:r>
            <a:r>
              <a:rPr dirty="0" err="1"/>
              <a:t>LaunchDaemon</a:t>
            </a:r>
            <a:r>
              <a:rPr dirty="0"/>
              <a:t> executing a script from /var/root/. In the 2020 Zoom vulnerability, </a:t>
            </a:r>
            <a:r>
              <a:rPr dirty="0" err="1"/>
              <a:t>KnockKnock</a:t>
            </a:r>
            <a:r>
              <a:rPr dirty="0"/>
              <a:t> detected the proxy library injection in Zoom’s Frameworks directory – a </a:t>
            </a:r>
            <a:r>
              <a:rPr dirty="0" err="1"/>
              <a:t>dylib</a:t>
            </a:r>
            <a:r>
              <a:rPr dirty="0"/>
              <a:t> that wasn’t part of the original application bundle.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dirty="0" err="1"/>
              <a:t>RansomWhere</a:t>
            </a:r>
            <a:r>
              <a:rPr dirty="0"/>
              <a:t> monitors the file system for the rapid creation of encrypted files – a hallmark of ransomware. When it detects suspicious encryption activity, it suspends the offending process and alerts the user.</a:t>
            </a:r>
          </a:p>
          <a:p>
            <a:endParaRPr dirty="0"/>
          </a:p>
          <a:p>
            <a:r>
              <a:rPr dirty="0"/>
              <a:t>Version 2.0 moved to Apple’s Endpoint Security framework for better detection. We stream its events during testing to ensure the title under test isn’t doing anything that looks like ransomware behavior.</a:t>
            </a:r>
          </a:p>
          <a:p>
            <a:endParaRPr dirty="0"/>
          </a:p>
          <a:p>
            <a:r>
              <a:rPr dirty="0"/>
              <a:t>Note - Not uncommon for apps to encrypt files, for example Chromium based apps tend to encrypt some files in user space Application Support</a:t>
            </a:r>
            <a:r>
              <a:rPr lang="en-GB" dirty="0"/>
              <a:t> folder</a:t>
            </a:r>
            <a:r>
              <a:rPr dirty="0"/>
              <a:t>. So you really want to</a:t>
            </a:r>
            <a:r>
              <a:rPr lang="en-GB" dirty="0"/>
              <a:t> be </a:t>
            </a:r>
            <a:r>
              <a:rPr dirty="0"/>
              <a:t>pay</a:t>
            </a:r>
            <a:r>
              <a:rPr lang="en-GB" dirty="0" err="1"/>
              <a:t>ing</a:t>
            </a:r>
            <a:r>
              <a:rPr dirty="0"/>
              <a:t> attention to where the files are being encrypted, and how many!</a:t>
            </a:r>
          </a:p>
          <a:p>
            <a:endParaRPr dirty="0"/>
          </a:p>
          <a:p>
            <a:r>
              <a:rPr dirty="0"/>
              <a:t>Real-world: In 2023, a cross-platform ransomware called Turtle appeared, written in Go with builds for macOS, Windows and Linux. </a:t>
            </a:r>
            <a:r>
              <a:rPr dirty="0" err="1"/>
              <a:t>RansomWhere</a:t>
            </a:r>
            <a:r>
              <a:rPr dirty="0"/>
              <a:t> generically detected and thwarted it with absolutely no prior knowledge of the malware – it simply spotted the rapid creation of encrypted files by an untrusted process. Patrick Wardle also recovered the hardcoded AES key "wugui123wugui123" (</a:t>
            </a:r>
            <a:r>
              <a:rPr dirty="0" err="1"/>
              <a:t>wugui</a:t>
            </a:r>
            <a:r>
              <a:rPr dirty="0"/>
              <a:t> means turtle in Chinese) and published a </a:t>
            </a:r>
            <a:r>
              <a:rPr dirty="0" err="1"/>
              <a:t>decryptor</a:t>
            </a:r>
            <a:r>
              <a:rPr lang="en-GB" dirty="0"/>
              <a:t>.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dirty="0" err="1"/>
              <a:t>OverSight</a:t>
            </a:r>
            <a:r>
              <a:rPr dirty="0"/>
              <a:t> monitors your Mac’s camera and microphone. If any process activates the mic or accesses the webcam, </a:t>
            </a:r>
            <a:r>
              <a:rPr dirty="0" err="1"/>
              <a:t>OverSight</a:t>
            </a:r>
            <a:r>
              <a:rPr dirty="0"/>
              <a:t> raises an alert and identifies the responsible process.</a:t>
            </a:r>
          </a:p>
          <a:p>
            <a:endParaRPr dirty="0"/>
          </a:p>
          <a:p>
            <a:r>
              <a:rPr dirty="0"/>
              <a:t>During testing, we stream these events to catch any title that silently accesses audio or video hardware. </a:t>
            </a:r>
          </a:p>
          <a:p>
            <a:endParaRPr dirty="0"/>
          </a:p>
          <a:p>
            <a:r>
              <a:rPr dirty="0"/>
              <a:t>Real-world: In 2020, Patrick Wardle demonstrated that malicious code injected into Zoom’s process could inherit its mic and camera permissions – recording audio and video with zero user prompts. Zoom could even be launched hidden via /</a:t>
            </a:r>
            <a:r>
              <a:rPr dirty="0" err="1"/>
              <a:t>usr</a:t>
            </a:r>
            <a:r>
              <a:rPr dirty="0"/>
              <a:t>/bin/open -j. </a:t>
            </a:r>
            <a:r>
              <a:rPr dirty="0" err="1"/>
              <a:t>OverSight</a:t>
            </a:r>
            <a:r>
              <a:rPr dirty="0"/>
              <a:t> would alert the user any time the mic or camera activated, even from an invisible Zoom session. Earlier, in 2016, </a:t>
            </a:r>
            <a:r>
              <a:rPr dirty="0" err="1"/>
              <a:t>OverSight</a:t>
            </a:r>
            <a:r>
              <a:rPr dirty="0"/>
              <a:t> exposed Shazam keeping the microphone active even when the user toggled it off – proving the tool catches both malicious and misbehaving software.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dirty="0" err="1"/>
              <a:t>ReiKey</a:t>
            </a:r>
            <a:r>
              <a:rPr dirty="0"/>
              <a:t> scans for and monitors </a:t>
            </a:r>
            <a:r>
              <a:rPr dirty="0" err="1"/>
              <a:t>CoreGraphics</a:t>
            </a:r>
            <a:r>
              <a:rPr dirty="0"/>
              <a:t> keyboard event taps – the most common technique used by macOS keyloggers. It can scan for existing taps and alert in real time when a new one is installed.</a:t>
            </a:r>
          </a:p>
          <a:p>
            <a:endParaRPr dirty="0"/>
          </a:p>
          <a:p>
            <a:r>
              <a:rPr dirty="0"/>
              <a:t>During testing we run a scan before and after installation. Any new keyboard event tap installed by the title under test is flagged – legitimate apps rarely need to intercept keystrokes globally.</a:t>
            </a:r>
          </a:p>
          <a:p>
            <a:endParaRPr dirty="0"/>
          </a:p>
          <a:p>
            <a:r>
              <a:rPr dirty="0"/>
              <a:t>The tool distinguishes between passive listeners and active filters, which helps gauge the severity of the finding.</a:t>
            </a:r>
          </a:p>
          <a:p>
            <a:endParaRPr dirty="0"/>
          </a:p>
          <a:p>
            <a:r>
              <a:rPr dirty="0"/>
              <a:t>Real-world: </a:t>
            </a:r>
            <a:r>
              <a:rPr dirty="0" err="1"/>
              <a:t>OSX.FruitFly</a:t>
            </a:r>
            <a:r>
              <a:rPr dirty="0"/>
              <a:t> was written over a decade ago but only discovered in 2017. It installed keyboard event taps to log keystrokes and used synthetic mouse and keyboard events to dismiss security prompts – even dumping the user’s keychain. </a:t>
            </a:r>
            <a:r>
              <a:rPr dirty="0" err="1"/>
              <a:t>ReiKey</a:t>
            </a:r>
            <a:r>
              <a:rPr dirty="0"/>
              <a:t> would have detected the event tap installation immediately.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DHS – Dylib Hijack Scanner – checks for applications vulnerable to dynamic library hijacking and detects any that have already been hijacked.</a:t>
            </a:r>
          </a:p>
          <a:p>
            <a:endParaRPr dirty="0"/>
          </a:p>
          <a:p>
            <a:r>
              <a:rPr dirty="0"/>
              <a:t>Dylib hijacking is a technique where an attacker plants a malicious dynamic library in a location that the OS will load before </a:t>
            </a:r>
            <a:r>
              <a:rPr lang="en-GB" dirty="0"/>
              <a:t>a</a:t>
            </a:r>
            <a:r>
              <a:rPr dirty="0"/>
              <a:t> legitimate one. This can give persistence and code execution in the context of a trusted application.</a:t>
            </a:r>
          </a:p>
          <a:p>
            <a:endParaRPr dirty="0"/>
          </a:p>
          <a:p>
            <a:r>
              <a:rPr dirty="0"/>
              <a:t>After installing a title, we run DHS to check whether the new application introduces any hijackable paths or, worse, ships with already-hijacked libraries. </a:t>
            </a:r>
            <a:endParaRPr lang="en-GB" dirty="0"/>
          </a:p>
          <a:p>
            <a:endParaRPr dirty="0"/>
          </a:p>
          <a:p>
            <a:r>
              <a:rPr dirty="0"/>
              <a:t>Real-world: In 2020, Patrick Wardle demonstrated that Zoom’s macOS client had a disable-library-validation entitlement, allowing any library to be loaded into its process space. By proxying a legitimate SSL library, an attacker could inherit Zoom’s mic and camera access – completely invisible to the user. DHS would flag the hijackable </a:t>
            </a:r>
            <a:r>
              <a:rPr dirty="0" err="1"/>
              <a:t>dylib</a:t>
            </a:r>
            <a:r>
              <a:rPr dirty="0"/>
              <a:t> paths. Many other apps including MS Office had similar vulnerabilities.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XProtect is Apple’s built-in antivirus, using YARA signatures to detect known malware. It works in three layers: preventing launch via Gatekeeper, blocking known malware from running, and remediating infections that slip through.</a:t>
            </a:r>
          </a:p>
          <a:p>
            <a:endParaRPr dirty="0"/>
          </a:p>
          <a:p>
            <a:r>
              <a:rPr dirty="0"/>
              <a:t>Signatures are updated automatically and independently of system updates. XProtect scans apps on first launch and whenever they change on disc.</a:t>
            </a:r>
          </a:p>
          <a:p>
            <a:endParaRPr dirty="0"/>
          </a:p>
          <a:p>
            <a:r>
              <a:rPr dirty="0"/>
              <a:t>We monitor XProtect events during testing via the unified log, watching for any malware detections or quarantine actions triggered by the title under test.</a:t>
            </a:r>
          </a:p>
          <a:p>
            <a:endParaRPr dirty="0"/>
          </a:p>
          <a:p>
            <a:r>
              <a:rPr dirty="0"/>
              <a:t>Real-world: In July 2025, Apple pushed XProtect v5304 with substantial new YARA rules for a malware family code-named </a:t>
            </a:r>
            <a:r>
              <a:rPr dirty="0" err="1"/>
              <a:t>Bonzai</a:t>
            </a:r>
            <a:r>
              <a:rPr dirty="0"/>
              <a:t> – five variants including Bonanza, Barricade, Blaster, Bonder and Banana. Security researchers linked these to DPRK’s </a:t>
            </a:r>
            <a:r>
              <a:rPr dirty="0" err="1"/>
              <a:t>BlueNoroff</a:t>
            </a:r>
            <a:r>
              <a:rPr dirty="0"/>
              <a:t> group targeting crypto and Web3 platforms. The malware was a stealer written in Go, targeting browser extensions for Chrome, Brave, Edge and Firefox. Apple also used MRT to forcibly remove Zoom’s vulnerable web server component from Macs worldwide in 2019 – the only time they’ve </a:t>
            </a:r>
            <a:r>
              <a:rPr lang="en-GB" dirty="0"/>
              <a:t>ever </a:t>
            </a:r>
            <a:r>
              <a:rPr dirty="0"/>
              <a:t>taken that action.</a:t>
            </a:r>
          </a:p>
          <a:p>
            <a:endParaRPr dirty="0"/>
          </a:p>
          <a:p>
            <a:r>
              <a:rPr dirty="0"/>
              <a:t>Reference: https://</a:t>
            </a:r>
            <a:r>
              <a:rPr dirty="0" err="1"/>
              <a:t>support.apple.com</a:t>
            </a:r>
            <a:r>
              <a:rPr dirty="0"/>
              <a:t>/</a:t>
            </a:r>
            <a:r>
              <a:rPr dirty="0" err="1"/>
              <a:t>en-gb</a:t>
            </a:r>
            <a:r>
              <a:rPr dirty="0"/>
              <a:t>/guide/security/sec469d47bd8/web</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One of the most useful outputs is the automatic generation of configuration profiles. But the key insight is context – does the access request make sense?</a:t>
            </a:r>
          </a:p>
          <a:p>
            <a:endParaRPr dirty="0"/>
          </a:p>
          <a:p>
            <a:r>
              <a:rPr dirty="0"/>
              <a:t>Zoom asking for camera and mic? Pretty reasonable, right? A text editor asking for camera access? </a:t>
            </a:r>
            <a:r>
              <a:rPr lang="en-GB" dirty="0"/>
              <a:t>Bit</a:t>
            </a:r>
            <a:r>
              <a:rPr dirty="0"/>
              <a:t> a red flag. A calculator wanting Full Disk Access? That’s suspicious.</a:t>
            </a:r>
          </a:p>
          <a:p>
            <a:endParaRPr dirty="0"/>
          </a:p>
          <a:p>
            <a:r>
              <a:rPr dirty="0"/>
              <a:t>Crucially, we check these because of just-in-time enablement. macOS uses a just-in-time model for permissions – an app might not request access to the camera, microphone, or file system until it actually needs to perform that action. So you can’t just install an app and wait for prompts – you need to check the entitlements and </a:t>
            </a:r>
            <a:r>
              <a:rPr dirty="0" err="1"/>
              <a:t>Info.plist</a:t>
            </a:r>
            <a:r>
              <a:rPr dirty="0"/>
              <a:t> declarations up front to know what it’s capable of asking for, even if it hasn’t asked yet.</a:t>
            </a:r>
          </a:p>
          <a:p>
            <a:endParaRPr dirty="0"/>
          </a:p>
          <a:p>
            <a:r>
              <a:rPr dirty="0"/>
              <a:t>We check the NS Usage Description keys in the </a:t>
            </a:r>
            <a:r>
              <a:rPr dirty="0" err="1"/>
              <a:t>Info.plist</a:t>
            </a:r>
            <a:r>
              <a:rPr dirty="0"/>
              <a:t> to see what the app declares it needs, then we verify those claims against the actual code signature entitlements.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So, we can’t relay solely on entitlements and NS Usage Description keys. Not all developers declare them properly, and some don’t declare them at all. An app might install helper tools, background agents, or login items that don’t show up in the main app’s entitlements.</a:t>
            </a:r>
          </a:p>
          <a:p>
            <a:endParaRPr dirty="0"/>
          </a:p>
          <a:p>
            <a:r>
              <a:rPr dirty="0"/>
              <a:t>So we go beyond entitlements and look at what’s actually on disk after installation. The key tool here is </a:t>
            </a:r>
            <a:r>
              <a:rPr dirty="0" err="1"/>
              <a:t>sfltool</a:t>
            </a:r>
            <a:r>
              <a:rPr dirty="0"/>
              <a:t> </a:t>
            </a:r>
            <a:r>
              <a:rPr dirty="0" err="1"/>
              <a:t>dumpbtm</a:t>
            </a:r>
            <a:r>
              <a:rPr dirty="0"/>
              <a:t>, which dumps the Background Task Management database. This tells us every login item, </a:t>
            </a:r>
            <a:r>
              <a:rPr dirty="0" err="1"/>
              <a:t>LaunchAgent</a:t>
            </a:r>
            <a:r>
              <a:rPr dirty="0"/>
              <a:t>, and </a:t>
            </a:r>
            <a:r>
              <a:rPr dirty="0" err="1"/>
              <a:t>LaunchDaemon</a:t>
            </a:r>
            <a:r>
              <a:rPr dirty="0"/>
              <a:t> that the system knows about – regardless of whether the developer declared anything in their entitlement – there is </a:t>
            </a:r>
            <a:r>
              <a:rPr dirty="0" err="1"/>
              <a:t>definetly</a:t>
            </a:r>
            <a:r>
              <a:rPr dirty="0"/>
              <a:t> overlap here with BlockBlock, and </a:t>
            </a:r>
            <a:r>
              <a:rPr dirty="0" err="1"/>
              <a:t>KnockKnock</a:t>
            </a:r>
            <a:r>
              <a:rPr dirty="0"/>
              <a:t>, but we want to sure we catch as much possible. </a:t>
            </a:r>
          </a:p>
          <a:p>
            <a:endParaRPr dirty="0"/>
          </a:p>
          <a:p>
            <a:r>
              <a:rPr dirty="0"/>
              <a:t>We also enumerate system extensions with </a:t>
            </a:r>
            <a:r>
              <a:rPr dirty="0" err="1"/>
              <a:t>systemextensionsctl</a:t>
            </a:r>
            <a:r>
              <a:rPr dirty="0"/>
              <a:t>. By combining these on-disk sources with the entitlement and persistence data from our other tools, we can auto-generate accurate PPPC, login item, and extension profiles that reflect what the app actually does, not just what the developer says it does.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 comprehensive markdown report is generated after every title test. It’s important to note that it’s not specifically designed for pass/fail scenarios, it’s designed to give you the information </a:t>
            </a:r>
            <a:r>
              <a:rPr lang="en-GB" dirty="0"/>
              <a:t>you need</a:t>
            </a:r>
            <a:r>
              <a:rPr dirty="0"/>
              <a:t> to investigate anything that that you find suspicious. Unless of course </a:t>
            </a:r>
            <a:r>
              <a:rPr lang="en-GB" dirty="0" err="1"/>
              <a:t>ThreatLabs</a:t>
            </a:r>
            <a:r>
              <a:rPr lang="en-GB" dirty="0"/>
              <a:t> and all the VirusTotal</a:t>
            </a:r>
            <a:r>
              <a:rPr dirty="0"/>
              <a:t> vendor</a:t>
            </a:r>
            <a:r>
              <a:rPr lang="en-GB" dirty="0"/>
              <a:t>s</a:t>
            </a:r>
            <a:r>
              <a:rPr dirty="0"/>
              <a:t> flags it as malicious, probably safe to automatically fail that! </a:t>
            </a:r>
          </a:p>
          <a:p>
            <a:endParaRPr dirty="0"/>
          </a:p>
          <a:p>
            <a:r>
              <a:rPr dirty="0"/>
              <a:t>This is a real example from testing Epidemic Sound 1.18.10. </a:t>
            </a:r>
            <a:endParaRPr lang="en-GB" dirty="0"/>
          </a:p>
          <a:p>
            <a:endParaRPr lang="en-GB" dirty="0"/>
          </a:p>
          <a:p>
            <a:r>
              <a:rPr lang="en-GB" dirty="0"/>
              <a:t>We record a bunch of system info, installed security</a:t>
            </a:r>
            <a:r>
              <a:rPr dirty="0"/>
              <a:t> tools</a:t>
            </a:r>
            <a:r>
              <a:rPr lang="en-GB" dirty="0"/>
              <a:t> with their version number</a:t>
            </a:r>
            <a:r>
              <a:rPr dirty="0"/>
              <a:t>, and </a:t>
            </a:r>
            <a:r>
              <a:rPr lang="en-GB" dirty="0"/>
              <a:t>Rosetta Compatibility</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Catalog validation confirms the </a:t>
            </a:r>
            <a:r>
              <a:rPr dirty="0" err="1"/>
              <a:t>munki</a:t>
            </a:r>
            <a:r>
              <a:rPr dirty="0"/>
              <a:t> </a:t>
            </a:r>
            <a:r>
              <a:rPr dirty="0" err="1"/>
              <a:t>pkginfo</a:t>
            </a:r>
            <a:r>
              <a:rPr dirty="0"/>
              <a:t> is well-formed – installs array, version matching, min OS version. Installation took 5 minutes 8 seconds, passed install and uninstall looping tests. No deprecated dependencies found</a:t>
            </a:r>
            <a:r>
              <a:rPr lang="en-GB" dirty="0"/>
              <a:t> like python 2 in the package, not least as this title is drag and drop dmg</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VirusTotal scanned the DMG – clean across all 62 engines. Full SHA-256 hash and report URL shown for verification</a:t>
            </a:r>
            <a:r>
              <a:rPr lang="en-GB" dirty="0"/>
              <a:t> or further </a:t>
            </a:r>
            <a:r>
              <a:rPr lang="en-GB" dirty="0" err="1"/>
              <a:t>investiagion</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Threat Labs extracted and scanned 5 Mach-O binaries from the app bundle. Showing two in </a:t>
            </a:r>
            <a:r>
              <a:rPr lang="en-GB" dirty="0"/>
              <a:t>this example</a:t>
            </a:r>
            <a:r>
              <a:rPr dirty="0"/>
              <a:t> – the main Epidemic Sound binary and the Helper app. All 5 came back clean.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a:t>
            </a:r>
            <a:r>
              <a:rPr dirty="0" err="1"/>
              <a:t>KnockKnock</a:t>
            </a:r>
            <a:r>
              <a:rPr dirty="0"/>
              <a:t> found no new persistence items. BlockBlock allowed an unknown application event during installation</a:t>
            </a:r>
            <a:r>
              <a:rPr lang="en-GB" dirty="0"/>
              <a:t> this was actually the script when it 1</a:t>
            </a:r>
            <a:r>
              <a:rPr lang="en-GB" baseline="30000" dirty="0"/>
              <a:t>st</a:t>
            </a:r>
            <a:r>
              <a:rPr lang="en-GB" dirty="0"/>
              <a:t> ran,  we run the tool in Notarization mode which will block anything that isn’t </a:t>
            </a:r>
            <a:r>
              <a:rPr lang="en-GB" dirty="0" err="1"/>
              <a:t>notorized</a:t>
            </a:r>
            <a:r>
              <a:rPr dirty="0"/>
              <a:t>. DHS flagged a BBEdit </a:t>
            </a:r>
            <a:r>
              <a:rPr dirty="0" err="1"/>
              <a:t>rpath</a:t>
            </a:r>
            <a:r>
              <a:rPr dirty="0"/>
              <a:t> vulnerability – not related to Epidemic Sound.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VirusTotal Network scan found two connections – one to a Google IP and one to </a:t>
            </a:r>
            <a:r>
              <a:rPr dirty="0" err="1"/>
              <a:t>googleapis.com</a:t>
            </a:r>
            <a:r>
              <a:rPr dirty="0"/>
              <a:t>, both clean. </a:t>
            </a:r>
            <a:r>
              <a:rPr dirty="0" err="1"/>
              <a:t>LuLu</a:t>
            </a:r>
            <a:r>
              <a:rPr dirty="0"/>
              <a:t> confirmed the same connections from the Helper app and main app. </a:t>
            </a:r>
            <a:r>
              <a:rPr dirty="0" err="1"/>
              <a:t>RansomWhere</a:t>
            </a:r>
            <a:r>
              <a:rPr dirty="0"/>
              <a:t> flagged the Helper creating encrypted files </a:t>
            </a:r>
            <a:r>
              <a:rPr lang="en-GB" dirty="0"/>
              <a:t>in Application Support</a:t>
            </a:r>
            <a:r>
              <a:rPr dirty="0"/>
              <a:t>. No events from XProtect, </a:t>
            </a:r>
            <a:r>
              <a:rPr dirty="0" err="1"/>
              <a:t>OverSight</a:t>
            </a:r>
            <a:r>
              <a:rPr dirty="0"/>
              <a:t>, or </a:t>
            </a:r>
            <a:r>
              <a:rPr dirty="0" err="1"/>
              <a:t>ReiKey</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System changes after installation. No system extensions. No login item changes. One new notification permission registered for </a:t>
            </a:r>
            <a:r>
              <a:rPr dirty="0" err="1"/>
              <a:t>com.electron.epidemic</a:t>
            </a:r>
            <a:r>
              <a:rPr dirty="0"/>
              <a:t>-sound but inactive.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Uninstall succeeded – Epidemic Sound was cleanly removed in 32 seconds. Code signing looks solid – properly signed by Epidemic Sound AB with Developer ID, notarized with stapled ticket, hardened runtime enabled.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Two configuration profiles auto-generated: Screen Recording and Notifications. Both for Epidemic Sound.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and BT - Transition to the live demo portion of the presentation. Set the stage for showing the live demonstration.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a:t>
            </a:r>
            <a:r>
              <a:rPr lang="en-GB" dirty="0"/>
              <a:t>–</a:t>
            </a:r>
            <a:r>
              <a:rPr dirty="0"/>
              <a:t> </a:t>
            </a:r>
            <a:r>
              <a:rPr lang="en-GB" dirty="0"/>
              <a:t>There will be a version of that script that removes a couple of Jamf Auto Update specific things called InstallAudit at that GitHub address for you have a play with.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 Share your roadmap for future development and improvements to the software verification process.</a:t>
            </a:r>
            <a:r>
              <a:rPr lang="en-GB" dirty="0"/>
              <a:t>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PC and BT - Q&amp;A slide. Provide contact information and links to resources for further learning.</a:t>
            </a:r>
          </a:p>
          <a:p>
            <a:endParaRPr dirty="0"/>
          </a:p>
          <a:p>
            <a:r>
              <a:rPr dirty="0"/>
              <a:t>Titles we’d declined to add</a:t>
            </a:r>
          </a:p>
          <a:p>
            <a:endParaRPr dirty="0"/>
          </a:p>
          <a:p>
            <a:r>
              <a:rPr dirty="0"/>
              <a:t>Titles we removed </a:t>
            </a:r>
          </a:p>
          <a:p>
            <a:r>
              <a:rPr dirty="0"/>
              <a:t>- </a:t>
            </a:r>
            <a:r>
              <a:rPr dirty="0" err="1"/>
              <a:t>Ngrok</a:t>
            </a:r>
            <a:r>
              <a:rPr dirty="0"/>
              <a:t> (unable to reliably scan due to constant flagging by VT vendors as a hacking tool)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0972800" cy="457200"/>
          </a:xfrm>
          <a:prstGeom prst="rect">
            <a:avLst/>
          </a:prstGeom>
          <a:noFill/>
        </p:spPr>
        <p:txBody>
          <a:bodyPr wrap="square"/>
          <a:lstStyle/>
          <a:p>
            <a:pPr algn="ctr">
              <a:spcBef>
                <a:spcPts val="0"/>
              </a:spcBef>
              <a:spcAft>
                <a:spcPts val="0"/>
              </a:spcAft>
              <a:defRPr sz="1600" b="0">
                <a:solidFill>
                  <a:srgbClr val="888888"/>
                </a:solidFill>
                <a:latin typeface="Courier New"/>
              </a:defRPr>
            </a:pPr>
            <a:r>
              <a:rPr lang="en-GB" altLang="en-GB"/>
              <a:t>▒▒▒  CLASSIFIED  ▒▒▒</a:t>
            </a:r>
          </a:p>
        </p:txBody>
      </p:sp>
      <p:sp>
        <p:nvSpPr>
          <p:cNvPr id="3" name="TextBox 2"/>
          <p:cNvSpPr txBox="1"/>
          <p:nvPr/>
        </p:nvSpPr>
        <p:spPr>
          <a:xfrm>
            <a:off x="731520" y="1097280"/>
            <a:ext cx="10698480" cy="1371600"/>
          </a:xfrm>
          <a:prstGeom prst="rect">
            <a:avLst/>
          </a:prstGeom>
          <a:noFill/>
        </p:spPr>
        <p:txBody>
          <a:bodyPr wrap="square"/>
          <a:lstStyle/>
          <a:p>
            <a:pPr algn="ctr">
              <a:spcBef>
                <a:spcPts val="0"/>
              </a:spcBef>
              <a:spcAft>
                <a:spcPts val="0"/>
              </a:spcAft>
              <a:defRPr sz="6000" b="1">
                <a:solidFill>
                  <a:srgbClr val="FFFFFF"/>
                </a:solidFill>
                <a:latin typeface="Courier New"/>
              </a:defRPr>
            </a:pPr>
            <a:r>
              <a:rPr lang="en-GB" altLang="en-GB"/>
              <a:t>"TRUST, BUT VERIFY"</a:t>
            </a:r>
          </a:p>
        </p:txBody>
      </p:sp>
      <p:sp>
        <p:nvSpPr>
          <p:cNvPr id="4" name="Rectangle 3"/>
          <p:cNvSpPr/>
          <p:nvPr/>
        </p:nvSpPr>
        <p:spPr>
          <a:xfrm>
            <a:off x="731520" y="256032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834640"/>
            <a:ext cx="10698480" cy="1097280"/>
          </a:xfrm>
          <a:prstGeom prst="rect">
            <a:avLst/>
          </a:prstGeom>
          <a:noFill/>
        </p:spPr>
        <p:txBody>
          <a:bodyPr wrap="square"/>
          <a:lstStyle/>
          <a:p>
            <a:pPr algn="ctr">
              <a:spcBef>
                <a:spcPts val="0"/>
              </a:spcBef>
              <a:spcAft>
                <a:spcPts val="0"/>
              </a:spcAft>
              <a:defRPr sz="3000" b="0">
                <a:solidFill>
                  <a:srgbClr val="CCCCCC"/>
                </a:solidFill>
                <a:latin typeface="Courier New"/>
              </a:defRPr>
            </a:pPr>
            <a:r>
              <a:rPr lang="en-GB" altLang="en-GB"/>
              <a:t>Building a Software Safety Snapshot</a:t>
            </a:r>
            <a:br/>
            <a:r>
              <a:rPr lang="en-GB" altLang="en-GB"/>
              <a:t>Before Deploying to Your Fleet</a:t>
            </a:r>
          </a:p>
        </p:txBody>
      </p:sp>
      <p:sp>
        <p:nvSpPr>
          <p:cNvPr id="6" name="TextBox 5"/>
          <p:cNvSpPr txBox="1"/>
          <p:nvPr/>
        </p:nvSpPr>
        <p:spPr>
          <a:xfrm>
            <a:off x="731520" y="4389120"/>
            <a:ext cx="10698480" cy="548640"/>
          </a:xfrm>
          <a:prstGeom prst="rect">
            <a:avLst/>
          </a:prstGeom>
          <a:noFill/>
        </p:spPr>
        <p:txBody>
          <a:bodyPr wrap="square"/>
          <a:lstStyle/>
          <a:p>
            <a:pPr algn="ctr">
              <a:spcBef>
                <a:spcPts val="0"/>
              </a:spcBef>
              <a:spcAft>
                <a:spcPts val="0"/>
              </a:spcAft>
              <a:defRPr sz="2200" b="1">
                <a:solidFill>
                  <a:srgbClr val="CC2424"/>
                </a:solidFill>
                <a:latin typeface="Courier New"/>
              </a:defRPr>
            </a:pPr>
            <a:r>
              <a:rPr lang="en-GB" altLang="en-GB"/>
              <a:t>MacAD.UK  ·  2026</a:t>
            </a:r>
          </a:p>
        </p:txBody>
      </p:sp>
      <p:sp>
        <p:nvSpPr>
          <p:cNvPr id="7" name="TextBox 6"/>
          <p:cNvSpPr txBox="1"/>
          <p:nvPr/>
        </p:nvSpPr>
        <p:spPr>
          <a:xfrm>
            <a:off x="731520" y="5029200"/>
            <a:ext cx="10698480" cy="548640"/>
          </a:xfrm>
          <a:prstGeom prst="rect">
            <a:avLst/>
          </a:prstGeom>
          <a:noFill/>
        </p:spPr>
        <p:txBody>
          <a:bodyPr wrap="square"/>
          <a:lstStyle/>
          <a:p>
            <a:pPr algn="ctr">
              <a:spcBef>
                <a:spcPts val="0"/>
              </a:spcBef>
              <a:spcAft>
                <a:spcPts val="0"/>
              </a:spcAft>
              <a:defRPr sz="2000" b="0">
                <a:solidFill>
                  <a:srgbClr val="888888"/>
                </a:solidFill>
                <a:latin typeface="Courier New"/>
              </a:defRPr>
            </a:pPr>
            <a:r>
              <a:rPr lang="en-GB" altLang="en-GB"/>
              <a:t>AGENTS: Toms &amp; Cossey</a:t>
            </a:r>
          </a:p>
        </p:txBody>
      </p:sp>
      <p:sp>
        <p:nvSpPr>
          <p:cNvPr id="8" name="TextBox 7"/>
          <p:cNvSpPr txBox="1"/>
          <p:nvPr/>
        </p:nvSpPr>
        <p:spPr>
          <a:xfrm>
            <a:off x="731520" y="5852160"/>
            <a:ext cx="10698480" cy="548640"/>
          </a:xfrm>
          <a:prstGeom prst="rect">
            <a:avLst/>
          </a:prstGeom>
          <a:noFill/>
        </p:spPr>
        <p:txBody>
          <a:bodyPr wrap="square"/>
          <a:lstStyle/>
          <a:p>
            <a:pPr algn="ctr">
              <a:spcBef>
                <a:spcPts val="0"/>
              </a:spcBef>
              <a:spcAft>
                <a:spcPts val="0"/>
              </a:spcAft>
              <a:defRPr sz="1600" b="0">
                <a:solidFill>
                  <a:srgbClr val="888888"/>
                </a:solidFill>
                <a:latin typeface="Courier New"/>
              </a:defRPr>
            </a:pPr>
            <a:r>
              <a:rPr lang="en-GB" altLang="en-GB"/>
              <a:t>довеpяй, но провеpяй</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AGENT DOSSIERS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371600"/>
            <a:ext cx="5029200" cy="4389120"/>
          </a:xfrm>
          <a:prstGeom prst="rect">
            <a:avLst/>
          </a:prstGeom>
          <a:no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554480"/>
            <a:ext cx="4389120" cy="3931920"/>
          </a:xfrm>
          <a:prstGeom prst="rect">
            <a:avLst/>
          </a:prstGeom>
          <a:noFill/>
        </p:spPr>
        <p:txBody>
          <a:bodyPr wrap="square">
            <a:spAutoFit/>
          </a:bodyPr>
          <a:lstStyle/>
          <a:p>
            <a:pPr algn="l">
              <a:spcAft>
                <a:spcPts val="500"/>
              </a:spcAft>
              <a:defRPr sz="1400" b="0">
                <a:solidFill>
                  <a:srgbClr val="888888"/>
                </a:solidFill>
                <a:latin typeface="Courier New"/>
              </a:defRPr>
            </a:pPr>
            <a:r>
              <a:rPr lang="en-GB" altLang="en-GB"/>
              <a:t>AGENT</a:t>
            </a:r>
          </a:p>
          <a:p>
            <a:pPr algn="l">
              <a:spcAft>
                <a:spcPts val="500"/>
              </a:spcAft>
              <a:defRPr sz="2800" b="1">
                <a:solidFill>
                  <a:srgbClr val="FFFFFF"/>
                </a:solidFill>
                <a:latin typeface="Courier New"/>
              </a:defRPr>
            </a:pPr>
            <a:r>
              <a:rPr lang="en-GB" altLang="en-GB"/>
              <a:t>Ben Toms</a:t>
            </a:r>
          </a:p>
          <a:p>
            <a:pPr algn="l">
              <a:spcAft>
                <a:spcPts val="500"/>
              </a:spcAft>
              <a:defRPr sz="8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ROLE</a:t>
            </a:r>
          </a:p>
          <a:p>
            <a:pPr algn="l">
              <a:spcAft>
                <a:spcPts val="500"/>
              </a:spcAft>
              <a:defRPr sz="2200" b="0">
                <a:solidFill>
                  <a:srgbClr val="CCCCCC"/>
                </a:solidFill>
                <a:latin typeface="Courier New"/>
              </a:defRPr>
            </a:pPr>
            <a:r>
              <a:rPr lang="en-GB" altLang="en-GB"/>
              <a:t>Principal Software Engineer</a:t>
            </a:r>
          </a:p>
          <a:p>
            <a:pPr algn="l">
              <a:spcAft>
                <a:spcPts val="500"/>
              </a:spcAft>
              <a:defRPr sz="8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ORG</a:t>
            </a:r>
          </a:p>
          <a:p>
            <a:pPr algn="l">
              <a:spcAft>
                <a:spcPts val="500"/>
              </a:spcAft>
              <a:defRPr sz="2200" b="0">
                <a:solidFill>
                  <a:srgbClr val="CCCCCC"/>
                </a:solidFill>
                <a:latin typeface="Courier New"/>
              </a:defRPr>
            </a:pPr>
            <a:r>
              <a:rPr lang="en-GB" altLang="en-GB"/>
              <a:t>Jamf</a:t>
            </a:r>
          </a:p>
          <a:p>
            <a:pPr algn="l">
              <a:spcAft>
                <a:spcPts val="500"/>
              </a:spcAft>
              <a:defRPr sz="8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CLEARANCE</a:t>
            </a:r>
          </a:p>
          <a:p>
            <a:pPr algn="l">
              <a:spcAft>
                <a:spcPts val="500"/>
              </a:spcAft>
              <a:defRPr sz="2200" b="0">
                <a:solidFill>
                  <a:srgbClr val="888888"/>
                </a:solidFill>
                <a:latin typeface="Courier New"/>
              </a:defRPr>
            </a:pPr>
            <a:r>
              <a:rPr lang="en-GB" altLang="en-GB"/>
              <a:t>████████████</a:t>
            </a:r>
          </a:p>
          <a:p>
            <a:pPr algn="l">
              <a:spcAft>
                <a:spcPts val="500"/>
              </a:spcAft>
              <a:defRPr sz="800" b="0">
                <a:solidFill>
                  <a:srgbClr val="888888"/>
                </a:solidFill>
                <a:latin typeface="Courier New"/>
              </a:defRPr>
            </a:pPr>
            <a:endParaRPr lang="en-GB" altLang="en-GB"/>
          </a:p>
          <a:p>
            <a:pPr algn="l">
              <a:spcAft>
                <a:spcPts val="500"/>
              </a:spcAft>
              <a:defRPr sz="2000" b="1">
                <a:solidFill>
                  <a:srgbClr val="00C853"/>
                </a:solidFill>
                <a:latin typeface="Courier New"/>
              </a:defRPr>
            </a:pPr>
            <a:r>
              <a:rPr lang="en-GB" altLang="en-GB"/>
              <a:t>STATUS: ACTIVE</a:t>
            </a:r>
          </a:p>
        </p:txBody>
      </p:sp>
      <p:sp>
        <p:nvSpPr>
          <p:cNvPr id="6" name="Rounded Rectangle 5"/>
          <p:cNvSpPr/>
          <p:nvPr/>
        </p:nvSpPr>
        <p:spPr>
          <a:xfrm rot="21240000">
            <a:off x="1225296" y="4873752"/>
            <a:ext cx="1728216" cy="502920"/>
          </a:xfrm>
          <a:prstGeom prst="roundRect">
            <a:avLst/>
          </a:prstGeom>
          <a:noFill/>
          <a:ln w="50800">
            <a:solidFill>
              <a:srgbClr val="CC0000"/>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CC0000"/>
                </a:solidFill>
                <a:latin typeface="Courier New"/>
              </a:defRPr>
            </a:pPr>
            <a:r>
              <a:rPr lang="en-GB" altLang="en-GB"/>
              <a:t>REDACTED</a:t>
            </a:r>
          </a:p>
        </p:txBody>
      </p:sp>
      <p:sp>
        <p:nvSpPr>
          <p:cNvPr id="7" name="Rectangle 6"/>
          <p:cNvSpPr/>
          <p:nvPr/>
        </p:nvSpPr>
        <p:spPr>
          <a:xfrm>
            <a:off x="6400800" y="1371600"/>
            <a:ext cx="5029200" cy="4389120"/>
          </a:xfrm>
          <a:prstGeom prst="rect">
            <a:avLst/>
          </a:prstGeom>
          <a:no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508760"/>
            <a:ext cx="4389120" cy="3931920"/>
          </a:xfrm>
          <a:prstGeom prst="rect">
            <a:avLst/>
          </a:prstGeom>
          <a:noFill/>
        </p:spPr>
        <p:txBody>
          <a:bodyPr wrap="square">
            <a:spAutoFit/>
          </a:bodyPr>
          <a:lstStyle/>
          <a:p>
            <a:pPr algn="l">
              <a:spcAft>
                <a:spcPts val="500"/>
              </a:spcAft>
              <a:defRPr sz="1400" b="0">
                <a:solidFill>
                  <a:srgbClr val="888888"/>
                </a:solidFill>
                <a:latin typeface="Courier New"/>
              </a:defRPr>
            </a:pPr>
            <a:r>
              <a:rPr lang="en-GB" altLang="en-GB"/>
              <a:t>AGENT</a:t>
            </a:r>
          </a:p>
          <a:p>
            <a:pPr algn="l">
              <a:spcAft>
                <a:spcPts val="500"/>
              </a:spcAft>
              <a:defRPr sz="2800" b="1">
                <a:solidFill>
                  <a:srgbClr val="FFFFFF"/>
                </a:solidFill>
                <a:latin typeface="Courier New"/>
              </a:defRPr>
            </a:pPr>
            <a:r>
              <a:rPr lang="en-GB" altLang="en-GB"/>
              <a:t>Paul Cossey</a:t>
            </a:r>
          </a:p>
          <a:p>
            <a:pPr algn="l">
              <a:spcAft>
                <a:spcPts val="500"/>
              </a:spcAft>
              <a:defRPr sz="8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ROLE</a:t>
            </a:r>
          </a:p>
          <a:p>
            <a:pPr algn="l">
              <a:spcAft>
                <a:spcPts val="500"/>
              </a:spcAft>
              <a:defRPr sz="2200" b="0">
                <a:solidFill>
                  <a:srgbClr val="CCCCCC"/>
                </a:solidFill>
                <a:latin typeface="Courier New"/>
              </a:defRPr>
            </a:pPr>
            <a:r>
              <a:rPr lang="en-GB" altLang="en-GB"/>
              <a:t>Client Platform</a:t>
            </a:r>
          </a:p>
          <a:p>
            <a:pPr algn="l">
              <a:spcAft>
                <a:spcPts val="500"/>
              </a:spcAft>
              <a:defRPr sz="2200" b="0">
                <a:solidFill>
                  <a:srgbClr val="CCCCCC"/>
                </a:solidFill>
                <a:latin typeface="Courier New"/>
              </a:defRPr>
            </a:pPr>
            <a:r>
              <a:rPr lang="en-GB" altLang="en-GB"/>
              <a:t>Engineer</a:t>
            </a:r>
          </a:p>
          <a:p>
            <a:pPr algn="l">
              <a:spcAft>
                <a:spcPts val="500"/>
              </a:spcAft>
              <a:defRPr sz="8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ORG</a:t>
            </a:r>
          </a:p>
          <a:p>
            <a:pPr algn="l">
              <a:spcAft>
                <a:spcPts val="500"/>
              </a:spcAft>
              <a:defRPr sz="2200" b="0">
                <a:solidFill>
                  <a:srgbClr val="CCCCCC"/>
                </a:solidFill>
                <a:latin typeface="Courier New"/>
              </a:defRPr>
            </a:pPr>
            <a:r>
              <a:rPr lang="en-GB" altLang="en-GB"/>
              <a:t>Jamf</a:t>
            </a:r>
          </a:p>
          <a:p>
            <a:pPr algn="l">
              <a:spcAft>
                <a:spcPts val="500"/>
              </a:spcAft>
              <a:defRPr sz="8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CLEARANCE</a:t>
            </a:r>
          </a:p>
          <a:p>
            <a:pPr algn="l">
              <a:spcAft>
                <a:spcPts val="500"/>
              </a:spcAft>
              <a:defRPr sz="2200" b="0">
                <a:solidFill>
                  <a:srgbClr val="888888"/>
                </a:solidFill>
                <a:latin typeface="Courier New"/>
              </a:defRPr>
            </a:pPr>
            <a:r>
              <a:rPr lang="en-GB" altLang="en-GB"/>
              <a:t>████████████</a:t>
            </a:r>
          </a:p>
          <a:p>
            <a:pPr algn="l">
              <a:spcAft>
                <a:spcPts val="500"/>
              </a:spcAft>
              <a:defRPr sz="800" b="0">
                <a:solidFill>
                  <a:srgbClr val="888888"/>
                </a:solidFill>
                <a:latin typeface="Courier New"/>
              </a:defRPr>
            </a:pPr>
            <a:endParaRPr lang="en-GB" altLang="en-GB"/>
          </a:p>
          <a:p>
            <a:pPr algn="l">
              <a:spcAft>
                <a:spcPts val="500"/>
              </a:spcAft>
              <a:defRPr sz="2000" b="1">
                <a:solidFill>
                  <a:srgbClr val="00C853"/>
                </a:solidFill>
                <a:latin typeface="Courier New"/>
              </a:defRPr>
            </a:pPr>
            <a:r>
              <a:rPr lang="en-GB" altLang="en-GB"/>
              <a:t>STATUS: ACTIVE</a:t>
            </a:r>
          </a:p>
        </p:txBody>
      </p:sp>
      <p:sp>
        <p:nvSpPr>
          <p:cNvPr id="9" name="Rounded Rectangle 8"/>
          <p:cNvSpPr/>
          <p:nvPr/>
        </p:nvSpPr>
        <p:spPr>
          <a:xfrm rot="21240000">
            <a:off x="6839712" y="4873752"/>
            <a:ext cx="1847088" cy="521207"/>
          </a:xfrm>
          <a:prstGeom prst="roundRect">
            <a:avLst/>
          </a:prstGeom>
          <a:noFill/>
          <a:ln w="50800">
            <a:solidFill>
              <a:srgbClr val="CC0000"/>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CC0000"/>
                </a:solidFill>
                <a:latin typeface="Courier New"/>
              </a:defRPr>
            </a:pPr>
            <a:r>
              <a:rPr lang="en-GB" altLang="en-GB"/>
              <a:t>REDACTED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53" presetClass="entr" presetSubtype="16" fill="hold" nodeType="clickEffect">
                            <p:stCondLst>
                              <p:cond delay="0"/>
                            </p:stCondLst>
                            <p:childTnLst>
                              <p:set>
                                <p:cBhvr>
                                  <p:cTn id="5" dur="1" fill="hold">
                                    <p:stCondLst>
                                      <p:cond delay="0"/>
                                    </p:stCondLst>
                                  </p:cTn>
                                  <p:tgtEl>
                                    <p:spTgt spid="6"/>
                                  </p:tgtEl>
                                  <p:attrNameLst>
                                    <p:attrName>style.visibility</p:attrName>
                                  </p:attrNameLst>
                                </p:cBhvr>
                                <p:to>
                                  <p:strVal val="visible"/>
                                </p:to>
                              </p:set>
                              <p:animScale>
                                <p:cBhvr>
                                  <p:cTn id="6" dur="200" decel="80000" fill="hold"/>
                                  <p:tgtEl>
                                    <p:spTgt spid="6"/>
                                  </p:tgtEl>
                                </p:cBhvr>
                                <p:from x="200000" y="200000"/>
                                <p:to x="100000" y="100000"/>
                              </p:animScale>
                            </p:childTnLst>
                          </p:cTn>
                        </p:par>
                        <p:par>
                          <p:cTn id="7" presetID="53" presetClass="entr" presetSubtype="16" fill="hold" nodeType="afterEffect">
                            <p:stCondLst>
                              <p:cond delay="0"/>
                            </p:stCondLst>
                            <p:childTnLst>
                              <p:set>
                                <p:cBhvr>
                                  <p:cTn id="8" dur="1" fill="hold">
                                    <p:stCondLst>
                                      <p:cond delay="0"/>
                                    </p:stCondLst>
                                  </p:cTn>
                                  <p:tgtEl>
                                    <p:spTgt spid="9"/>
                                  </p:tgtEl>
                                  <p:attrNameLst>
                                    <p:attrName>style.visibility</p:attrName>
                                  </p:attrNameLst>
                                </p:cBhvr>
                                <p:to>
                                  <p:strVal val="visible"/>
                                </p:to>
                              </p:set>
                              <p:animScale>
                                <p:cBhvr>
                                  <p:cTn id="9" dur="200" decel="80000" fill="hold"/>
                                  <p:tgtEl>
                                    <p:spTgt spid="9"/>
                                  </p:tgtEl>
                                </p:cBhvr>
                                <p:from x="200000" y="200000"/>
                                <p:to x="100000" y="100000"/>
                              </p:animScale>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JAMF AUTO UPDATE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5029200"/>
          </a:xfrm>
          <a:prstGeom prst="rect">
            <a:avLst/>
          </a:prstGeom>
          <a:noFill/>
        </p:spPr>
        <p:txBody>
          <a:bodyPr wrap="square">
            <a:spAutoFit/>
          </a:bodyPr>
          <a:lstStyle/>
          <a:p>
            <a:pPr algn="l">
              <a:spcAft>
                <a:spcPts val="500"/>
              </a:spcAft>
              <a:defRPr sz="2600" b="1">
                <a:solidFill>
                  <a:srgbClr val="FFFFFF"/>
                </a:solidFill>
                <a:latin typeface="Courier New"/>
              </a:defRPr>
            </a:pPr>
            <a:r>
              <a:rPr lang="en-GB" altLang="en-GB"/>
              <a:t>Automated application packaging and deployment</a:t>
            </a:r>
          </a:p>
          <a:p>
            <a:pPr algn="l">
              <a:spcAft>
                <a:spcPts val="500"/>
              </a:spcAft>
              <a:defRPr sz="2600" b="1">
                <a:solidFill>
                  <a:srgbClr val="FFFFFF"/>
                </a:solidFill>
                <a:latin typeface="Courier New"/>
              </a:defRPr>
            </a:pPr>
            <a:r>
              <a:rPr lang="en-GB" altLang="en-GB"/>
              <a:t>service for Jamf Pro</a:t>
            </a:r>
          </a:p>
          <a:p>
            <a:pPr algn="l">
              <a:spcAft>
                <a:spcPts val="500"/>
              </a:spcAft>
              <a:defRPr sz="1000" b="0">
                <a:solidFill>
                  <a:srgbClr val="888888"/>
                </a:solidFill>
                <a:latin typeface="Courier New"/>
              </a:defRPr>
            </a:pPr>
            <a:endParaRPr lang="en-GB" altLang="en-GB"/>
          </a:p>
          <a:p>
            <a:pPr algn="l">
              <a:spcAft>
                <a:spcPts val="500"/>
              </a:spcAft>
              <a:defRPr sz="2200" b="0">
                <a:solidFill>
                  <a:srgbClr val="CCCCCC"/>
                </a:solidFill>
                <a:latin typeface="Courier New"/>
              </a:defRPr>
            </a:pPr>
            <a:r>
              <a:rPr lang="en-GB" altLang="en-GB"/>
              <a:t>1k+ macOS software titles</a:t>
            </a:r>
          </a:p>
          <a:p>
            <a:pPr algn="l">
              <a:spcAft>
                <a:spcPts val="500"/>
              </a:spcAft>
              <a:defRPr sz="600" b="0">
                <a:solidFill>
                  <a:srgbClr val="888888"/>
                </a:solidFill>
                <a:latin typeface="Courier New"/>
              </a:defRPr>
            </a:pPr>
            <a:endParaRPr lang="en-GB" altLang="en-GB"/>
          </a:p>
          <a:p>
            <a:pPr algn="l">
              <a:spcAft>
                <a:spcPts val="500"/>
              </a:spcAft>
              <a:defRPr sz="2000" b="0">
                <a:solidFill>
                  <a:srgbClr val="00C853"/>
                </a:solidFill>
                <a:latin typeface="Courier New"/>
              </a:defRPr>
            </a:pPr>
            <a:r>
              <a:rPr lang="en-GB" altLang="en-GB"/>
              <a:t>  ✓  App Store-like update experience for 3rd party apps</a:t>
            </a:r>
          </a:p>
          <a:p>
            <a:pPr algn="l">
              <a:spcAft>
                <a:spcPts val="500"/>
              </a:spcAft>
              <a:defRPr sz="2000" b="0">
                <a:solidFill>
                  <a:srgbClr val="00C853"/>
                </a:solidFill>
                <a:latin typeface="Courier New"/>
              </a:defRPr>
            </a:pPr>
            <a:r>
              <a:rPr lang="en-GB" altLang="en-GB"/>
              <a:t>  ✓  Cloud-based, managed patch definitions for Jamf Pro</a:t>
            </a:r>
          </a:p>
          <a:p>
            <a:pPr algn="l">
              <a:spcAft>
                <a:spcPts val="500"/>
              </a:spcAft>
              <a:defRPr sz="2000" b="0">
                <a:solidFill>
                  <a:srgbClr val="00C853"/>
                </a:solidFill>
                <a:latin typeface="Courier New"/>
              </a:defRPr>
            </a:pPr>
            <a:r>
              <a:rPr lang="en-GB" altLang="en-GB"/>
              <a:t>  ✓  Native Notification Centre integration</a:t>
            </a:r>
          </a:p>
          <a:p>
            <a:pPr algn="l">
              <a:spcAft>
                <a:spcPts val="500"/>
              </a:spcAft>
              <a:defRPr sz="1000" b="0">
                <a:solidFill>
                  <a:srgbClr val="888888"/>
                </a:solidFill>
                <a:latin typeface="Courier New"/>
              </a:defRPr>
            </a:pPr>
            <a:endParaRPr lang="en-GB" altLang="en-GB"/>
          </a:p>
          <a:p>
            <a:pPr algn="l">
              <a:spcAft>
                <a:spcPts val="500"/>
              </a:spcAft>
              <a:defRPr sz="2000" b="1">
                <a:solidFill>
                  <a:srgbClr val="CC2424"/>
                </a:solidFill>
                <a:latin typeface="Courier New"/>
              </a:defRPr>
            </a:pPr>
            <a:r>
              <a:rPr lang="en-GB" altLang="en-GB"/>
              <a:t>ENHANCED SECURITY &amp; PACKAGE VALIDATION:</a:t>
            </a:r>
          </a:p>
          <a:p>
            <a:pPr algn="l">
              <a:spcAft>
                <a:spcPts val="500"/>
              </a:spcAft>
              <a:defRPr sz="400" b="0">
                <a:solidFill>
                  <a:srgbClr val="888888"/>
                </a:solidFill>
                <a:latin typeface="Courier New"/>
              </a:defRPr>
            </a:pPr>
            <a:endParaRPr lang="en-GB" altLang="en-GB"/>
          </a:p>
          <a:p>
            <a:pPr algn="l">
              <a:spcAft>
                <a:spcPts val="500"/>
              </a:spcAft>
              <a:defRPr sz="2000" b="0">
                <a:solidFill>
                  <a:srgbClr val="CCCCCC"/>
                </a:solidFill>
                <a:latin typeface="Courier New"/>
              </a:defRPr>
            </a:pPr>
            <a:r>
              <a:rPr lang="en-GB" altLang="en-GB"/>
              <a:t>  Titles pass Developer Signing Certificate checks,</a:t>
            </a:r>
          </a:p>
          <a:p>
            <a:pPr algn="l">
              <a:spcAft>
                <a:spcPts val="500"/>
              </a:spcAft>
              <a:defRPr sz="2000" b="0">
                <a:solidFill>
                  <a:srgbClr val="CCCCCC"/>
                </a:solidFill>
                <a:latin typeface="Courier New"/>
              </a:defRPr>
            </a:pPr>
            <a:r>
              <a:rPr lang="en-GB" altLang="en-GB"/>
              <a:t>  SHA-256 verification, and VirusTotal analysis</a:t>
            </a:r>
          </a:p>
          <a:p>
            <a:pPr algn="l">
              <a:spcAft>
                <a:spcPts val="500"/>
              </a:spcAft>
              <a:defRPr sz="2000" b="0">
                <a:solidFill>
                  <a:srgbClr val="CCCCCC"/>
                </a:solidFill>
                <a:latin typeface="Courier New"/>
              </a:defRPr>
            </a:pPr>
            <a:r>
              <a:rPr lang="en-GB" altLang="en-GB"/>
              <a:t>  before release to production.</a:t>
            </a:r>
          </a:p>
          <a:p>
            <a:pPr algn="l">
              <a:spcAft>
                <a:spcPts val="500"/>
              </a:spcAft>
              <a:defRPr sz="1000" b="0">
                <a:solidFill>
                  <a:srgbClr val="888888"/>
                </a:solidFill>
                <a:latin typeface="Courier New"/>
              </a:defRPr>
            </a:pPr>
            <a:endParaRPr lang="en-GB" altLang="en-GB"/>
          </a:p>
          <a:p>
            <a:pPr algn="l">
              <a:spcAft>
                <a:spcPts val="500"/>
              </a:spcAft>
              <a:defRPr sz="1800" b="1">
                <a:solidFill>
                  <a:srgbClr val="FFA500"/>
                </a:solidFill>
                <a:latin typeface="Courier New"/>
              </a:defRPr>
            </a:pPr>
            <a:r>
              <a:rPr lang="en-GB" altLang="en-GB"/>
              <a:t>datajar.co.uk/products/jamf-auto-update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a:lstStyle/>
          <a:p>
            <a:pPr algn="ctr">
              <a:spcBef>
                <a:spcPts val="0"/>
              </a:spcBef>
              <a:spcAft>
                <a:spcPts val="0"/>
              </a:spcAft>
              <a:defRPr sz="4400" b="1">
                <a:solidFill>
                  <a:srgbClr val="CC2424"/>
                </a:solidFill>
                <a:latin typeface="Courier New"/>
              </a:defRPr>
            </a:pPr>
            <a:r>
              <a:rPr lang="en-GB" altLang="en-GB"/>
              <a:t>START OF BRIEFING</a:t>
            </a:r>
          </a:p>
        </p:txBody>
      </p:sp>
      <p:sp>
        <p:nvSpPr>
          <p:cNvPr id="3" name="Rectangle 2"/>
          <p:cNvSpPr/>
          <p:nvPr/>
        </p:nvSpPr>
        <p:spPr>
          <a:xfrm>
            <a:off x="731520" y="118872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py_duck_peek.gif"/>
          <p:cNvPicPr>
            <a:picLocks noChangeAspect="1"/>
          </p:cNvPicPr>
          <p:nvPr/>
        </p:nvPicPr>
        <p:blipFill>
          <a:blip r:embed="rId3"/>
          <a:stretch>
            <a:fillRect/>
          </a:stretch>
        </p:blipFill>
        <p:spPr>
          <a:xfrm>
            <a:off x="348843" y="1490472"/>
            <a:ext cx="11494008" cy="497433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ORIGIN</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645920"/>
            <a:ext cx="9144000" cy="1828800"/>
          </a:xfrm>
          <a:prstGeom prst="rect">
            <a:avLst/>
          </a:prstGeom>
          <a:noFill/>
        </p:spPr>
        <p:txBody>
          <a:bodyPr wrap="square"/>
          <a:lstStyle/>
          <a:p>
            <a:pPr algn="ctr">
              <a:spcBef>
                <a:spcPts val="0"/>
              </a:spcBef>
              <a:spcAft>
                <a:spcPts val="0"/>
              </a:spcAft>
              <a:defRPr sz="5200" b="1">
                <a:solidFill>
                  <a:srgbClr val="FFFFFF"/>
                </a:solidFill>
                <a:latin typeface="Courier New"/>
              </a:defRPr>
            </a:pPr>
            <a:r>
              <a:rPr lang="en-GB" altLang="en-GB"/>
              <a:t>"Trust, but verify."</a:t>
            </a:r>
          </a:p>
        </p:txBody>
      </p:sp>
      <p:sp>
        <p:nvSpPr>
          <p:cNvPr id="5" name="TextBox 4"/>
          <p:cNvSpPr txBox="1"/>
          <p:nvPr/>
        </p:nvSpPr>
        <p:spPr>
          <a:xfrm>
            <a:off x="1371600" y="3200400"/>
            <a:ext cx="9144000" cy="548640"/>
          </a:xfrm>
          <a:prstGeom prst="rect">
            <a:avLst/>
          </a:prstGeom>
          <a:noFill/>
        </p:spPr>
        <p:txBody>
          <a:bodyPr wrap="square"/>
          <a:lstStyle/>
          <a:p>
            <a:pPr algn="ctr">
              <a:spcBef>
                <a:spcPts val="0"/>
              </a:spcBef>
              <a:spcAft>
                <a:spcPts val="0"/>
              </a:spcAft>
              <a:defRPr sz="2200" b="0">
                <a:solidFill>
                  <a:srgbClr val="888888"/>
                </a:solidFill>
                <a:latin typeface="Courier New"/>
              </a:defRPr>
            </a:pPr>
            <a:r>
              <a:rPr lang="en-GB" altLang="en-GB"/>
              <a:t>— Ronald Reagan, 1987  (INF Treaty signing)</a:t>
            </a:r>
          </a:p>
        </p:txBody>
      </p:sp>
      <p:sp>
        <p:nvSpPr>
          <p:cNvPr id="6" name="TextBox 5"/>
          <p:cNvSpPr txBox="1"/>
          <p:nvPr/>
        </p:nvSpPr>
        <p:spPr>
          <a:xfrm>
            <a:off x="1097280" y="4114800"/>
            <a:ext cx="9601200" cy="2286000"/>
          </a:xfrm>
          <a:prstGeom prst="rect">
            <a:avLst/>
          </a:prstGeom>
          <a:noFill/>
        </p:spPr>
        <p:txBody>
          <a:bodyPr wrap="square">
            <a:spAutoFit/>
          </a:bodyPr>
          <a:lstStyle/>
          <a:p>
            <a:pPr algn="l">
              <a:spcAft>
                <a:spcPts val="500"/>
              </a:spcAft>
              <a:defRPr sz="2000" b="0">
                <a:solidFill>
                  <a:srgbClr val="CCCCCC"/>
                </a:solidFill>
                <a:latin typeface="Courier New"/>
              </a:defRPr>
            </a:pPr>
            <a:r>
              <a:rPr lang="en-GB" altLang="en-GB"/>
              <a:t>Russian proverb:  "довеpяй, но провеpяй"</a:t>
            </a:r>
          </a:p>
          <a:p>
            <a:pPr algn="l">
              <a:spcAft>
                <a:spcPts val="500"/>
              </a:spcAft>
              <a:defRPr sz="1000" b="0">
                <a:solidFill>
                  <a:srgbClr val="888888"/>
                </a:solidFill>
                <a:latin typeface="Courier New"/>
              </a:defRPr>
            </a:pPr>
            <a:endParaRPr lang="en-GB" altLang="en-GB"/>
          </a:p>
          <a:p>
            <a:pPr algn="l">
              <a:spcAft>
                <a:spcPts val="500"/>
              </a:spcAft>
              <a:defRPr sz="2000" b="0">
                <a:solidFill>
                  <a:srgbClr val="CCCCCC"/>
                </a:solidFill>
                <a:latin typeface="Courier New"/>
              </a:defRPr>
            </a:pPr>
            <a:r>
              <a:rPr lang="en-GB" altLang="en-GB"/>
              <a:t>Reagan used it so often that Gorbachev once replied:</a:t>
            </a:r>
          </a:p>
          <a:p>
            <a:pPr algn="l">
              <a:spcAft>
                <a:spcPts val="500"/>
              </a:spcAft>
              <a:defRPr sz="2200" b="1">
                <a:solidFill>
                  <a:srgbClr val="FFA500"/>
                </a:solidFill>
                <a:latin typeface="Courier New"/>
              </a:defRPr>
            </a:pPr>
            <a:r>
              <a:rPr lang="en-GB" altLang="en-GB"/>
              <a:t>"You repeat that at every meeting!"</a:t>
            </a:r>
          </a:p>
          <a:p>
            <a:pPr algn="l">
              <a:spcAft>
                <a:spcPts val="500"/>
              </a:spcAft>
              <a:defRPr sz="1000" b="0">
                <a:solidFill>
                  <a:srgbClr val="888888"/>
                </a:solidFill>
                <a:latin typeface="Courier New"/>
              </a:defRPr>
            </a:pPr>
            <a:endParaRPr lang="en-GB" altLang="en-GB"/>
          </a:p>
          <a:p>
            <a:pPr algn="l">
              <a:spcAft>
                <a:spcPts val="500"/>
              </a:spcAft>
              <a:defRPr sz="2000" b="0">
                <a:solidFill>
                  <a:srgbClr val="CCCCCC"/>
                </a:solidFill>
                <a:latin typeface="Courier New"/>
              </a:defRPr>
            </a:pPr>
            <a:r>
              <a:rPr lang="en-GB" altLang="en-GB"/>
              <a:t>Today: the foundation of Zero Trust security models.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FIELD INTELLIGENCE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80160"/>
            <a:ext cx="10515600" cy="731520"/>
          </a:xfrm>
          <a:prstGeom prst="rect">
            <a:avLst/>
          </a:prstGeom>
          <a:noFill/>
        </p:spPr>
        <p:txBody>
          <a:bodyPr wrap="square"/>
          <a:lstStyle/>
          <a:p>
            <a:pPr algn="l">
              <a:spcBef>
                <a:spcPts val="0"/>
              </a:spcBef>
              <a:spcAft>
                <a:spcPts val="0"/>
              </a:spcAft>
              <a:defRPr sz="2400" b="1">
                <a:solidFill>
                  <a:srgbClr val="FFFFFF"/>
                </a:solidFill>
                <a:latin typeface="Courier New"/>
              </a:defRPr>
            </a:pPr>
            <a:r>
              <a:rPr lang="en-GB" altLang="en-GB"/>
              <a:t>What clearance level do you use before 3rd party</a:t>
            </a:r>
            <a:br/>
            <a:r>
              <a:rPr lang="en-GB" altLang="en-GB"/>
              <a:t>software deploys to your fleet?</a:t>
            </a:r>
          </a:p>
        </p:txBody>
      </p:sp>
      <p:sp>
        <p:nvSpPr>
          <p:cNvPr id="5" name="TextBox 4"/>
          <p:cNvSpPr txBox="1"/>
          <p:nvPr/>
        </p:nvSpPr>
        <p:spPr>
          <a:xfrm>
            <a:off x="731520" y="2560320"/>
            <a:ext cx="4114800" cy="32004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Level 0: Blind Trust</a:t>
            </a:r>
          </a:p>
        </p:txBody>
      </p:sp>
      <p:sp>
        <p:nvSpPr>
          <p:cNvPr id="6" name="TextBox 5"/>
          <p:cNvSpPr txBox="1"/>
          <p:nvPr/>
        </p:nvSpPr>
        <p:spPr>
          <a:xfrm>
            <a:off x="731520" y="2880360"/>
            <a:ext cx="4114800" cy="274320"/>
          </a:xfrm>
          <a:prstGeom prst="rect">
            <a:avLst/>
          </a:prstGeom>
          <a:noFill/>
        </p:spPr>
        <p:txBody>
          <a:bodyPr wrap="square"/>
          <a:lstStyle/>
          <a:p>
            <a:pPr algn="l">
              <a:spcBef>
                <a:spcPts val="0"/>
              </a:spcBef>
              <a:spcAft>
                <a:spcPts val="0"/>
              </a:spcAft>
              <a:defRPr sz="1400" b="0">
                <a:solidFill>
                  <a:srgbClr val="888888"/>
                </a:solidFill>
                <a:latin typeface="Courier New"/>
              </a:defRPr>
            </a:pPr>
            <a:r>
              <a:rPr lang="en-GB" altLang="en-GB"/>
              <a:t>The vendor said it's safe. Ship it.</a:t>
            </a:r>
          </a:p>
        </p:txBody>
      </p:sp>
      <p:sp>
        <p:nvSpPr>
          <p:cNvPr id="7" name="Rectangle 6"/>
          <p:cNvSpPr/>
          <p:nvPr/>
        </p:nvSpPr>
        <p:spPr>
          <a:xfrm>
            <a:off x="5303520" y="2606040"/>
            <a:ext cx="576072" cy="41148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16752" y="2606040"/>
            <a:ext cx="914400" cy="411480"/>
          </a:xfrm>
          <a:prstGeom prst="rect">
            <a:avLst/>
          </a:prstGeom>
          <a:noFill/>
        </p:spPr>
        <p:txBody>
          <a:bodyPr wrap="square"/>
          <a:lstStyle/>
          <a:p>
            <a:pPr algn="l">
              <a:spcBef>
                <a:spcPts val="0"/>
              </a:spcBef>
              <a:spcAft>
                <a:spcPts val="0"/>
              </a:spcAft>
              <a:defRPr sz="1800" b="0">
                <a:solidFill>
                  <a:srgbClr val="888888"/>
                </a:solidFill>
                <a:latin typeface="Courier New"/>
              </a:defRPr>
            </a:pPr>
            <a:r>
              <a:rPr lang="en-GB" altLang="en-GB"/>
              <a:t>9%</a:t>
            </a:r>
          </a:p>
        </p:txBody>
      </p:sp>
      <p:sp>
        <p:nvSpPr>
          <p:cNvPr id="9" name="TextBox 8"/>
          <p:cNvSpPr txBox="1"/>
          <p:nvPr/>
        </p:nvSpPr>
        <p:spPr>
          <a:xfrm>
            <a:off x="731520" y="3337560"/>
            <a:ext cx="4114800" cy="320040"/>
          </a:xfrm>
          <a:prstGeom prst="rect">
            <a:avLst/>
          </a:prstGeom>
          <a:noFill/>
        </p:spPr>
        <p:txBody>
          <a:bodyPr wrap="square"/>
          <a:lstStyle/>
          <a:p>
            <a:pPr algn="l">
              <a:spcBef>
                <a:spcPts val="0"/>
              </a:spcBef>
              <a:spcAft>
                <a:spcPts val="0"/>
              </a:spcAft>
              <a:defRPr sz="1800" b="1">
                <a:solidFill>
                  <a:srgbClr val="FFA500"/>
                </a:solidFill>
                <a:latin typeface="Courier New"/>
              </a:defRPr>
            </a:pPr>
            <a:r>
              <a:rPr lang="en-GB" altLang="en-GB"/>
              <a:t>Level 1: Quick Pat-Down</a:t>
            </a:r>
          </a:p>
        </p:txBody>
      </p:sp>
      <p:sp>
        <p:nvSpPr>
          <p:cNvPr id="10" name="TextBox 9"/>
          <p:cNvSpPr txBox="1"/>
          <p:nvPr/>
        </p:nvSpPr>
        <p:spPr>
          <a:xfrm>
            <a:off x="731520" y="3657600"/>
            <a:ext cx="4114800" cy="274320"/>
          </a:xfrm>
          <a:prstGeom prst="rect">
            <a:avLst/>
          </a:prstGeom>
          <a:noFill/>
        </p:spPr>
        <p:txBody>
          <a:bodyPr wrap="square"/>
          <a:lstStyle/>
          <a:p>
            <a:pPr algn="l">
              <a:spcBef>
                <a:spcPts val="0"/>
              </a:spcBef>
              <a:spcAft>
                <a:spcPts val="0"/>
              </a:spcAft>
              <a:defRPr sz="1400" b="0">
                <a:solidFill>
                  <a:srgbClr val="888888"/>
                </a:solidFill>
                <a:latin typeface="Courier New"/>
              </a:defRPr>
            </a:pPr>
            <a:r>
              <a:rPr lang="en-GB" altLang="en-GB"/>
              <a:t>Install it, check it launches.</a:t>
            </a:r>
          </a:p>
        </p:txBody>
      </p:sp>
      <p:sp>
        <p:nvSpPr>
          <p:cNvPr id="11" name="Rectangle 10"/>
          <p:cNvSpPr/>
          <p:nvPr/>
        </p:nvSpPr>
        <p:spPr>
          <a:xfrm>
            <a:off x="5303520" y="3383280"/>
            <a:ext cx="1664208" cy="4114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04888" y="3383280"/>
            <a:ext cx="914400" cy="411480"/>
          </a:xfrm>
          <a:prstGeom prst="rect">
            <a:avLst/>
          </a:prstGeom>
          <a:noFill/>
        </p:spPr>
        <p:txBody>
          <a:bodyPr wrap="square"/>
          <a:lstStyle/>
          <a:p>
            <a:pPr algn="l">
              <a:spcBef>
                <a:spcPts val="0"/>
              </a:spcBef>
              <a:spcAft>
                <a:spcPts val="0"/>
              </a:spcAft>
              <a:defRPr sz="1800" b="0">
                <a:solidFill>
                  <a:srgbClr val="888888"/>
                </a:solidFill>
                <a:latin typeface="Courier New"/>
              </a:defRPr>
            </a:pPr>
            <a:r>
              <a:rPr lang="en-GB" altLang="en-GB"/>
              <a:t>26%</a:t>
            </a:r>
          </a:p>
        </p:txBody>
      </p:sp>
      <p:sp>
        <p:nvSpPr>
          <p:cNvPr id="13" name="TextBox 12"/>
          <p:cNvSpPr txBox="1"/>
          <p:nvPr/>
        </p:nvSpPr>
        <p:spPr>
          <a:xfrm>
            <a:off x="731520" y="4114800"/>
            <a:ext cx="4114800" cy="320040"/>
          </a:xfrm>
          <a:prstGeom prst="rect">
            <a:avLst/>
          </a:prstGeom>
          <a:noFill/>
        </p:spPr>
        <p:txBody>
          <a:bodyPr wrap="square"/>
          <a:lstStyle/>
          <a:p>
            <a:pPr algn="l">
              <a:spcBef>
                <a:spcPts val="0"/>
              </a:spcBef>
              <a:spcAft>
                <a:spcPts val="0"/>
              </a:spcAft>
              <a:defRPr sz="1800" b="1">
                <a:solidFill>
                  <a:srgbClr val="FFA500"/>
                </a:solidFill>
                <a:latin typeface="Courier New"/>
              </a:defRPr>
            </a:pPr>
            <a:r>
              <a:rPr lang="en-GB" altLang="en-GB"/>
              <a:t>Level 2: Entry &amp; Exit Check</a:t>
            </a:r>
          </a:p>
        </p:txBody>
      </p:sp>
      <p:sp>
        <p:nvSpPr>
          <p:cNvPr id="14" name="TextBox 13"/>
          <p:cNvSpPr txBox="1"/>
          <p:nvPr/>
        </p:nvSpPr>
        <p:spPr>
          <a:xfrm>
            <a:off x="731520" y="4434840"/>
            <a:ext cx="4114800" cy="274320"/>
          </a:xfrm>
          <a:prstGeom prst="rect">
            <a:avLst/>
          </a:prstGeom>
          <a:noFill/>
        </p:spPr>
        <p:txBody>
          <a:bodyPr wrap="square"/>
          <a:lstStyle/>
          <a:p>
            <a:pPr algn="l">
              <a:spcBef>
                <a:spcPts val="0"/>
              </a:spcBef>
              <a:spcAft>
                <a:spcPts val="0"/>
              </a:spcAft>
              <a:defRPr sz="1400" b="0">
                <a:solidFill>
                  <a:srgbClr val="888888"/>
                </a:solidFill>
                <a:latin typeface="Courier New"/>
              </a:defRPr>
            </a:pPr>
            <a:r>
              <a:rPr lang="en-GB" altLang="en-GB"/>
              <a:t>Test install and uninstall.</a:t>
            </a:r>
          </a:p>
        </p:txBody>
      </p:sp>
      <p:sp>
        <p:nvSpPr>
          <p:cNvPr id="15" name="Rectangle 14"/>
          <p:cNvSpPr/>
          <p:nvPr/>
        </p:nvSpPr>
        <p:spPr>
          <a:xfrm>
            <a:off x="5303520" y="4160520"/>
            <a:ext cx="2496312" cy="4114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36992" y="4160520"/>
            <a:ext cx="914400" cy="411480"/>
          </a:xfrm>
          <a:prstGeom prst="rect">
            <a:avLst/>
          </a:prstGeom>
          <a:noFill/>
        </p:spPr>
        <p:txBody>
          <a:bodyPr wrap="square"/>
          <a:lstStyle/>
          <a:p>
            <a:pPr algn="l">
              <a:spcBef>
                <a:spcPts val="0"/>
              </a:spcBef>
              <a:spcAft>
                <a:spcPts val="0"/>
              </a:spcAft>
              <a:defRPr sz="1800" b="0">
                <a:solidFill>
                  <a:srgbClr val="888888"/>
                </a:solidFill>
                <a:latin typeface="Courier New"/>
              </a:defRPr>
            </a:pPr>
            <a:r>
              <a:rPr lang="en-GB" altLang="en-GB"/>
              <a:t>39%</a:t>
            </a:r>
          </a:p>
        </p:txBody>
      </p:sp>
      <p:sp>
        <p:nvSpPr>
          <p:cNvPr id="17" name="TextBox 16"/>
          <p:cNvSpPr txBox="1"/>
          <p:nvPr/>
        </p:nvSpPr>
        <p:spPr>
          <a:xfrm>
            <a:off x="731520" y="4892040"/>
            <a:ext cx="4114800" cy="320040"/>
          </a:xfrm>
          <a:prstGeom prst="rect">
            <a:avLst/>
          </a:prstGeom>
          <a:noFill/>
        </p:spPr>
        <p:txBody>
          <a:bodyPr wrap="square"/>
          <a:lstStyle/>
          <a:p>
            <a:pPr algn="l">
              <a:spcBef>
                <a:spcPts val="0"/>
              </a:spcBef>
              <a:spcAft>
                <a:spcPts val="0"/>
              </a:spcAft>
              <a:defRPr sz="1800" b="1">
                <a:solidFill>
                  <a:srgbClr val="00C853"/>
                </a:solidFill>
                <a:latin typeface="Courier New"/>
              </a:defRPr>
            </a:pPr>
            <a:r>
              <a:rPr lang="en-GB" altLang="en-GB"/>
              <a:t>Level 3: Interrogation</a:t>
            </a:r>
          </a:p>
        </p:txBody>
      </p:sp>
      <p:sp>
        <p:nvSpPr>
          <p:cNvPr id="18" name="TextBox 17"/>
          <p:cNvSpPr txBox="1"/>
          <p:nvPr/>
        </p:nvSpPr>
        <p:spPr>
          <a:xfrm>
            <a:off x="731520" y="5212080"/>
            <a:ext cx="4114800" cy="274320"/>
          </a:xfrm>
          <a:prstGeom prst="rect">
            <a:avLst/>
          </a:prstGeom>
          <a:noFill/>
        </p:spPr>
        <p:txBody>
          <a:bodyPr wrap="square"/>
          <a:lstStyle/>
          <a:p>
            <a:pPr algn="l">
              <a:spcBef>
                <a:spcPts val="0"/>
              </a:spcBef>
              <a:spcAft>
                <a:spcPts val="0"/>
              </a:spcAft>
              <a:defRPr sz="1400" b="0">
                <a:solidFill>
                  <a:srgbClr val="888888"/>
                </a:solidFill>
                <a:latin typeface="Courier New"/>
              </a:defRPr>
            </a:pPr>
            <a:r>
              <a:rPr lang="en-GB" altLang="en-GB"/>
              <a:t>Install + run through security tools.</a:t>
            </a:r>
          </a:p>
        </p:txBody>
      </p:sp>
      <p:sp>
        <p:nvSpPr>
          <p:cNvPr id="19" name="Rectangle 18"/>
          <p:cNvSpPr/>
          <p:nvPr/>
        </p:nvSpPr>
        <p:spPr>
          <a:xfrm>
            <a:off x="5303520" y="4937760"/>
            <a:ext cx="1408176" cy="411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48856" y="4937760"/>
            <a:ext cx="914400" cy="411480"/>
          </a:xfrm>
          <a:prstGeom prst="rect">
            <a:avLst/>
          </a:prstGeom>
          <a:noFill/>
        </p:spPr>
        <p:txBody>
          <a:bodyPr wrap="square"/>
          <a:lstStyle/>
          <a:p>
            <a:pPr algn="l">
              <a:spcBef>
                <a:spcPts val="0"/>
              </a:spcBef>
              <a:spcAft>
                <a:spcPts val="0"/>
              </a:spcAft>
              <a:defRPr sz="1800" b="0">
                <a:solidFill>
                  <a:srgbClr val="888888"/>
                </a:solidFill>
                <a:latin typeface="Courier New"/>
              </a:defRPr>
            </a:pPr>
            <a:r>
              <a:rPr lang="en-GB" altLang="en-GB"/>
              <a:t>22%</a:t>
            </a:r>
          </a:p>
        </p:txBody>
      </p:sp>
      <p:sp>
        <p:nvSpPr>
          <p:cNvPr id="21" name="TextBox 20"/>
          <p:cNvSpPr txBox="1"/>
          <p:nvPr/>
        </p:nvSpPr>
        <p:spPr>
          <a:xfrm>
            <a:off x="731520" y="5669280"/>
            <a:ext cx="4114800" cy="320040"/>
          </a:xfrm>
          <a:prstGeom prst="rect">
            <a:avLst/>
          </a:prstGeom>
          <a:noFill/>
        </p:spPr>
        <p:txBody>
          <a:bodyPr wrap="square"/>
          <a:lstStyle/>
          <a:p>
            <a:pPr algn="l">
              <a:spcBef>
                <a:spcPts val="0"/>
              </a:spcBef>
              <a:spcAft>
                <a:spcPts val="0"/>
              </a:spcAft>
              <a:defRPr sz="1800" b="1">
                <a:solidFill>
                  <a:srgbClr val="00C853"/>
                </a:solidFill>
                <a:latin typeface="Courier New"/>
              </a:defRPr>
            </a:pPr>
            <a:r>
              <a:rPr lang="en-GB" altLang="en-GB"/>
              <a:t>Level 4: Full Dossier</a:t>
            </a:r>
          </a:p>
        </p:txBody>
      </p:sp>
      <p:sp>
        <p:nvSpPr>
          <p:cNvPr id="22" name="TextBox 21"/>
          <p:cNvSpPr txBox="1"/>
          <p:nvPr/>
        </p:nvSpPr>
        <p:spPr>
          <a:xfrm>
            <a:off x="731520" y="5989320"/>
            <a:ext cx="4114800" cy="274320"/>
          </a:xfrm>
          <a:prstGeom prst="rect">
            <a:avLst/>
          </a:prstGeom>
          <a:noFill/>
        </p:spPr>
        <p:txBody>
          <a:bodyPr wrap="square"/>
          <a:lstStyle/>
          <a:p>
            <a:pPr algn="l">
              <a:spcBef>
                <a:spcPts val="0"/>
              </a:spcBef>
              <a:spcAft>
                <a:spcPts val="0"/>
              </a:spcAft>
              <a:defRPr sz="1400" b="0">
                <a:solidFill>
                  <a:srgbClr val="888888"/>
                </a:solidFill>
                <a:latin typeface="Courier New"/>
              </a:defRPr>
            </a:pPr>
            <a:r>
              <a:rPr lang="en-GB" altLang="en-GB"/>
              <a:t>Install, monitor, scan, profile, uninstall, report.</a:t>
            </a:r>
          </a:p>
        </p:txBody>
      </p:sp>
      <p:sp>
        <p:nvSpPr>
          <p:cNvPr id="23" name="Rectangle 22"/>
          <p:cNvSpPr/>
          <p:nvPr/>
        </p:nvSpPr>
        <p:spPr>
          <a:xfrm>
            <a:off x="5303520" y="5715000"/>
            <a:ext cx="256032" cy="411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96712" y="5715000"/>
            <a:ext cx="914400" cy="411480"/>
          </a:xfrm>
          <a:prstGeom prst="rect">
            <a:avLst/>
          </a:prstGeom>
          <a:noFill/>
        </p:spPr>
        <p:txBody>
          <a:bodyPr wrap="square"/>
          <a:lstStyle/>
          <a:p>
            <a:pPr algn="l">
              <a:spcBef>
                <a:spcPts val="0"/>
              </a:spcBef>
              <a:spcAft>
                <a:spcPts val="0"/>
              </a:spcAft>
              <a:defRPr sz="1800" b="0">
                <a:solidFill>
                  <a:srgbClr val="888888"/>
                </a:solidFill>
                <a:latin typeface="Courier New"/>
              </a:defRPr>
            </a:pPr>
            <a:r>
              <a:rPr lang="en-GB" altLang="en-GB"/>
              <a:t>4%</a:t>
            </a:r>
          </a:p>
        </p:txBody>
      </p:sp>
      <p:sp>
        <p:nvSpPr>
          <p:cNvPr id="25" name="TextBox 24"/>
          <p:cNvSpPr txBox="1"/>
          <p:nvPr/>
        </p:nvSpPr>
        <p:spPr>
          <a:xfrm>
            <a:off x="731520" y="6400800"/>
            <a:ext cx="10515600" cy="365760"/>
          </a:xfrm>
          <a:prstGeom prst="rect">
            <a:avLst/>
          </a:prstGeom>
          <a:noFill/>
        </p:spPr>
        <p:txBody>
          <a:bodyPr wrap="square"/>
          <a:lstStyle/>
          <a:p>
            <a:pPr algn="l">
              <a:spcBef>
                <a:spcPts val="0"/>
              </a:spcBef>
              <a:spcAft>
                <a:spcPts val="0"/>
              </a:spcAft>
              <a:defRPr sz="1400" b="0">
                <a:solidFill>
                  <a:srgbClr val="888888"/>
                </a:solidFill>
                <a:latin typeface="Courier New"/>
              </a:defRPr>
            </a:pPr>
            <a:r>
              <a:rPr lang="en-GB" altLang="en-GB"/>
              <a:t>// 23 responses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THREAT LANDSCAPE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5029200"/>
          </a:xfrm>
          <a:prstGeom prst="rect">
            <a:avLst/>
          </a:prstGeom>
          <a:noFill/>
        </p:spPr>
        <p:txBody>
          <a:bodyPr wrap="square">
            <a:spAutoFit/>
          </a:bodyPr>
          <a:lstStyle/>
          <a:p>
            <a:pPr algn="l">
              <a:spcAft>
                <a:spcPts val="500"/>
              </a:spcAft>
              <a:defRPr sz="2400" b="0">
                <a:solidFill>
                  <a:srgbClr val="FFFFFF"/>
                </a:solidFill>
                <a:latin typeface="Courier New"/>
              </a:defRPr>
            </a:pPr>
            <a:r>
              <a:rPr lang="en-GB" altLang="en-GB"/>
              <a:t>Deploying software is a core Mac Admin responsibility.</a:t>
            </a:r>
          </a:p>
          <a:p>
            <a:pPr algn="l">
              <a:spcAft>
                <a:spcPts val="500"/>
              </a:spcAft>
              <a:defRPr sz="1000" b="0">
                <a:solidFill>
                  <a:srgbClr val="888888"/>
                </a:solidFill>
                <a:latin typeface="Courier New"/>
              </a:defRPr>
            </a:pPr>
            <a:endParaRPr lang="en-GB" altLang="en-GB"/>
          </a:p>
          <a:p>
            <a:pPr algn="l">
              <a:spcAft>
                <a:spcPts val="500"/>
              </a:spcAft>
              <a:defRPr sz="2200" b="0">
                <a:solidFill>
                  <a:srgbClr val="CCCCCC"/>
                </a:solidFill>
                <a:latin typeface="Courier New"/>
              </a:defRPr>
            </a:pPr>
            <a:r>
              <a:rPr lang="en-GB" altLang="en-GB"/>
              <a:t>But software can get compromised:</a:t>
            </a:r>
          </a:p>
          <a:p>
            <a:pPr algn="l">
              <a:spcAft>
                <a:spcPts val="500"/>
              </a:spcAft>
              <a:defRPr sz="800" b="0">
                <a:solidFill>
                  <a:srgbClr val="888888"/>
                </a:solidFill>
                <a:latin typeface="Courier New"/>
              </a:defRPr>
            </a:pPr>
            <a:endParaRPr lang="en-GB" altLang="en-GB"/>
          </a:p>
          <a:p>
            <a:pPr algn="l">
              <a:spcAft>
                <a:spcPts val="500"/>
              </a:spcAft>
              <a:defRPr sz="2200" b="0">
                <a:solidFill>
                  <a:srgbClr val="FFA500"/>
                </a:solidFill>
                <a:latin typeface="Courier New"/>
              </a:defRPr>
            </a:pPr>
            <a:r>
              <a:rPr lang="en-GB" altLang="en-GB"/>
              <a:t>  ⚠  XcodeGhost — infected IDE distributed via China (2015)</a:t>
            </a:r>
          </a:p>
          <a:p>
            <a:pPr algn="l">
              <a:spcAft>
                <a:spcPts val="500"/>
              </a:spcAft>
              <a:defRPr sz="2200" b="0">
                <a:solidFill>
                  <a:srgbClr val="FFA500"/>
                </a:solidFill>
                <a:latin typeface="Courier New"/>
              </a:defRPr>
            </a:pPr>
            <a:r>
              <a:rPr lang="en-GB" altLang="en-GB"/>
              <a:t>  ⚠  KeRanger — ransomware trojan horse (2016)</a:t>
            </a:r>
          </a:p>
          <a:p>
            <a:pPr algn="l">
              <a:spcAft>
                <a:spcPts val="500"/>
              </a:spcAft>
              <a:defRPr sz="2200" b="0">
                <a:solidFill>
                  <a:srgbClr val="FFA500"/>
                </a:solidFill>
                <a:latin typeface="Courier New"/>
              </a:defRPr>
            </a:pPr>
            <a:r>
              <a:rPr lang="en-GB" altLang="en-GB"/>
              <a:t>  ⚠  HandBrake — trojanised download mirror (2017)</a:t>
            </a:r>
          </a:p>
          <a:p>
            <a:pPr algn="l">
              <a:spcAft>
                <a:spcPts val="500"/>
              </a:spcAft>
              <a:defRPr sz="2200" b="0">
                <a:solidFill>
                  <a:srgbClr val="FFA500"/>
                </a:solidFill>
                <a:latin typeface="Courier New"/>
              </a:defRPr>
            </a:pPr>
            <a:r>
              <a:rPr lang="en-GB" altLang="en-GB"/>
              <a:t>  ⚠  Codecov — bash uploader tampered for months (2021)</a:t>
            </a:r>
          </a:p>
          <a:p>
            <a:pPr algn="l">
              <a:spcAft>
                <a:spcPts val="500"/>
              </a:spcAft>
              <a:defRPr sz="2200" b="0">
                <a:solidFill>
                  <a:srgbClr val="FFA500"/>
                </a:solidFill>
                <a:latin typeface="Courier New"/>
              </a:defRPr>
            </a:pPr>
            <a:r>
              <a:rPr lang="en-GB" altLang="en-GB"/>
              <a:t>  ⚠  Axios — supply chain attack (2026)</a:t>
            </a:r>
          </a:p>
          <a:p>
            <a:pPr algn="l">
              <a:spcAft>
                <a:spcPts val="500"/>
              </a:spcAft>
              <a:defRPr sz="1000" b="0">
                <a:solidFill>
                  <a:srgbClr val="888888"/>
                </a:solidFill>
                <a:latin typeface="Courier New"/>
              </a:defRPr>
            </a:pPr>
            <a:endParaRPr lang="en-GB" altLang="en-GB"/>
          </a:p>
          <a:p>
            <a:pPr algn="l">
              <a:spcAft>
                <a:spcPts val="500"/>
              </a:spcAft>
              <a:defRPr sz="2600" b="1">
                <a:solidFill>
                  <a:srgbClr val="FFFFFF"/>
                </a:solidFill>
                <a:latin typeface="Courier New"/>
              </a:defRPr>
            </a:pPr>
            <a:r>
              <a:rPr lang="en-GB" altLang="en-GB"/>
              <a:t>Trusting a vendor alone is not enough.</a:t>
            </a:r>
          </a:p>
          <a:p>
            <a:pPr algn="l">
              <a:spcAft>
                <a:spcPts val="500"/>
              </a:spcAft>
              <a:defRPr sz="800" b="0">
                <a:solidFill>
                  <a:srgbClr val="888888"/>
                </a:solidFill>
                <a:latin typeface="Courier New"/>
              </a:defRPr>
            </a:pPr>
            <a:endParaRPr lang="en-GB" altLang="en-GB"/>
          </a:p>
          <a:p>
            <a:pPr algn="l">
              <a:spcAft>
                <a:spcPts val="500"/>
              </a:spcAft>
              <a:defRPr sz="2200" b="0">
                <a:solidFill>
                  <a:srgbClr val="00C853"/>
                </a:solidFill>
                <a:latin typeface="Courier New"/>
              </a:defRPr>
            </a:pPr>
            <a:r>
              <a:rPr lang="en-GB" altLang="en-GB"/>
              <a:t>You need to verify every asset before it enters the homeland.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THREAT LANDSCAPE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5029200"/>
          </a:xfrm>
          <a:prstGeom prst="rect">
            <a:avLst/>
          </a:prstGeom>
          <a:noFill/>
        </p:spPr>
        <p:txBody>
          <a:bodyPr wrap="square">
            <a:spAutoFit/>
          </a:bodyPr>
          <a:lstStyle/>
          <a:p>
            <a:pPr algn="l">
              <a:spcAft>
                <a:spcPts val="500"/>
              </a:spcAft>
              <a:defRPr sz="2400" b="0">
                <a:solidFill>
                  <a:srgbClr val="FFFFFF"/>
                </a:solidFill>
                <a:latin typeface="Courier New"/>
              </a:defRPr>
            </a:pPr>
            <a:r>
              <a:rPr lang="en-GB" altLang="en-GB"/>
              <a:t>Deploying software is a core Mac Admin responsibility.</a:t>
            </a:r>
          </a:p>
          <a:p>
            <a:pPr algn="l">
              <a:spcAft>
                <a:spcPts val="500"/>
              </a:spcAft>
              <a:defRPr sz="1000" b="0">
                <a:solidFill>
                  <a:srgbClr val="888888"/>
                </a:solidFill>
                <a:latin typeface="Courier New"/>
              </a:defRPr>
            </a:pPr>
            <a:endParaRPr lang="en-GB" altLang="en-GB"/>
          </a:p>
          <a:p>
            <a:pPr algn="l">
              <a:spcAft>
                <a:spcPts val="500"/>
              </a:spcAft>
              <a:defRPr sz="2200" b="0">
                <a:solidFill>
                  <a:srgbClr val="CCCCCC"/>
                </a:solidFill>
                <a:latin typeface="Courier New"/>
              </a:defRPr>
            </a:pPr>
            <a:r>
              <a:rPr lang="en-GB" altLang="en-GB"/>
              <a:t>But software can get compromised:</a:t>
            </a:r>
          </a:p>
          <a:p>
            <a:pPr algn="l">
              <a:spcAft>
                <a:spcPts val="500"/>
              </a:spcAft>
              <a:defRPr sz="800" b="0">
                <a:solidFill>
                  <a:srgbClr val="888888"/>
                </a:solidFill>
                <a:latin typeface="Courier New"/>
              </a:defRPr>
            </a:pPr>
            <a:endParaRPr lang="en-GB" altLang="en-GB"/>
          </a:p>
          <a:p>
            <a:pPr algn="l">
              <a:spcAft>
                <a:spcPts val="500"/>
              </a:spcAft>
              <a:defRPr sz="2200" b="0">
                <a:solidFill>
                  <a:srgbClr val="FFA500"/>
                </a:solidFill>
                <a:latin typeface="Courier New"/>
              </a:defRPr>
            </a:pPr>
            <a:r>
              <a:rPr lang="en-GB" altLang="en-GB"/>
              <a:t>  ⚠  XcodeGhost — infected IDE distributed via China (2015)</a:t>
            </a:r>
          </a:p>
          <a:p>
            <a:pPr algn="l">
              <a:spcAft>
                <a:spcPts val="500"/>
              </a:spcAft>
              <a:defRPr sz="2200" b="0">
                <a:solidFill>
                  <a:srgbClr val="FFA500"/>
                </a:solidFill>
                <a:latin typeface="Courier New"/>
              </a:defRPr>
            </a:pPr>
            <a:r>
              <a:rPr lang="en-GB" altLang="en-GB"/>
              <a:t>  ⚠  KeRanger — ransomware trojan horse (2016)</a:t>
            </a:r>
          </a:p>
          <a:p>
            <a:pPr algn="l">
              <a:spcAft>
                <a:spcPts val="500"/>
              </a:spcAft>
              <a:defRPr sz="2200" b="0">
                <a:solidFill>
                  <a:srgbClr val="FFA500"/>
                </a:solidFill>
                <a:latin typeface="Courier New"/>
              </a:defRPr>
            </a:pPr>
            <a:r>
              <a:rPr lang="en-GB" altLang="en-GB"/>
              <a:t>  ⚠  HandBrake — trojanised download mirror (2017)</a:t>
            </a:r>
          </a:p>
          <a:p>
            <a:pPr algn="l">
              <a:spcAft>
                <a:spcPts val="500"/>
              </a:spcAft>
              <a:defRPr sz="2200" b="0">
                <a:solidFill>
                  <a:srgbClr val="6F4A00"/>
                </a:solidFill>
                <a:latin typeface="Courier New"/>
              </a:defRPr>
            </a:pPr>
            <a:r>
              <a:rPr lang="en-GB" altLang="en-GB"/>
              <a:t>  ⚠  Codecov — bash uploader tampered for months (2021)</a:t>
            </a:r>
          </a:p>
          <a:p>
            <a:pPr algn="l">
              <a:spcAft>
                <a:spcPts val="500"/>
              </a:spcAft>
              <a:defRPr sz="2200" b="0">
                <a:solidFill>
                  <a:srgbClr val="6F4A00"/>
                </a:solidFill>
                <a:latin typeface="Courier New"/>
              </a:defRPr>
            </a:pPr>
            <a:r>
              <a:rPr lang="en-GB" altLang="en-GB"/>
              <a:t>  ⚠  Axios — supply chain attack (2026)</a:t>
            </a:r>
          </a:p>
          <a:p>
            <a:pPr algn="l">
              <a:spcAft>
                <a:spcPts val="500"/>
              </a:spcAft>
              <a:defRPr sz="1000" b="0">
                <a:solidFill>
                  <a:srgbClr val="888888"/>
                </a:solidFill>
                <a:latin typeface="Courier New"/>
              </a:defRPr>
            </a:pPr>
            <a:endParaRPr lang="en-GB" altLang="en-GB"/>
          </a:p>
          <a:p>
            <a:pPr algn="l">
              <a:spcAft>
                <a:spcPts val="500"/>
              </a:spcAft>
              <a:defRPr sz="2600" b="1">
                <a:solidFill>
                  <a:srgbClr val="FFFFFF"/>
                </a:solidFill>
                <a:latin typeface="Courier New"/>
              </a:defRPr>
            </a:pPr>
            <a:r>
              <a:rPr lang="en-GB" altLang="en-GB"/>
              <a:t>Trusting a vendor alone is not enough.</a:t>
            </a:r>
          </a:p>
          <a:p>
            <a:pPr algn="l">
              <a:spcAft>
                <a:spcPts val="500"/>
              </a:spcAft>
              <a:defRPr sz="800" b="0">
                <a:solidFill>
                  <a:srgbClr val="888888"/>
                </a:solidFill>
                <a:latin typeface="Courier New"/>
              </a:defRPr>
            </a:pPr>
            <a:endParaRPr lang="en-GB" altLang="en-GB"/>
          </a:p>
          <a:p>
            <a:pPr algn="l">
              <a:spcAft>
                <a:spcPts val="500"/>
              </a:spcAft>
              <a:defRPr sz="2200" b="0">
                <a:solidFill>
                  <a:srgbClr val="00C853"/>
                </a:solidFill>
                <a:latin typeface="Courier New"/>
              </a:defRPr>
            </a:pPr>
            <a:r>
              <a:rPr lang="en-GB" altLang="en-GB"/>
              <a:t>You need to verify every asset before it enters the homeland.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CODE SIGNATURE VERIFICATION</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5029200"/>
          </a:xfrm>
          <a:prstGeom prst="rect">
            <a:avLst/>
          </a:prstGeom>
          <a:noFill/>
        </p:spPr>
        <p:txBody>
          <a:bodyPr wrap="square">
            <a:spAutoFit/>
          </a:bodyPr>
          <a:lstStyle/>
          <a:p>
            <a:pPr algn="l">
              <a:spcAft>
                <a:spcPts val="500"/>
              </a:spcAft>
              <a:defRPr sz="1800" b="0">
                <a:solidFill>
                  <a:srgbClr val="00C853"/>
                </a:solidFill>
                <a:latin typeface="Courier New"/>
              </a:defRPr>
            </a:pPr>
            <a:r>
              <a:rPr lang="en-GB" altLang="en-GB"/>
              <a:t>codesign --display -r- --deep -v "/Applications/Google Chrome.app"</a:t>
            </a:r>
          </a:p>
          <a:p>
            <a:pPr algn="l">
              <a:spcAft>
                <a:spcPts val="500"/>
              </a:spcAft>
              <a:defRPr sz="800" b="0">
                <a:solidFill>
                  <a:srgbClr val="888888"/>
                </a:solidFill>
                <a:latin typeface="Courier New"/>
              </a:defRPr>
            </a:pPr>
            <a:endParaRPr lang="en-GB" altLang="en-GB"/>
          </a:p>
          <a:p>
            <a:pPr algn="l">
              <a:spcAft>
                <a:spcPts val="500"/>
              </a:spcAft>
              <a:defRPr sz="1600" b="0">
                <a:solidFill>
                  <a:srgbClr val="FFFFFF"/>
                </a:solidFill>
                <a:latin typeface="Courier New"/>
              </a:defRPr>
            </a:pPr>
            <a:r>
              <a:rPr lang="en-GB" altLang="en-GB"/>
              <a:t>Executable=/Applications/Google Chrome.app/Contents/MacOS/Google Chrome</a:t>
            </a:r>
          </a:p>
          <a:p>
            <a:pPr algn="l">
              <a:spcAft>
                <a:spcPts val="500"/>
              </a:spcAft>
              <a:defRPr sz="1600" b="0">
                <a:solidFill>
                  <a:srgbClr val="FFFFFF"/>
                </a:solidFill>
                <a:latin typeface="Courier New"/>
              </a:defRPr>
            </a:pPr>
            <a:r>
              <a:rPr lang="en-GB" altLang="en-GB"/>
              <a:t>Identifier=com.google.Chrome</a:t>
            </a:r>
          </a:p>
          <a:p>
            <a:pPr algn="l">
              <a:spcAft>
                <a:spcPts val="500"/>
              </a:spcAft>
              <a:defRPr sz="1600" b="0">
                <a:solidFill>
                  <a:srgbClr val="FFFFFF"/>
                </a:solidFill>
                <a:latin typeface="Courier New"/>
              </a:defRPr>
            </a:pPr>
            <a:r>
              <a:rPr lang="en-GB" altLang="en-GB"/>
              <a:t>Format=app bundle with Mach-O universal (x86_64 arm64)</a:t>
            </a:r>
          </a:p>
          <a:p>
            <a:pPr algn="l">
              <a:spcAft>
                <a:spcPts val="500"/>
              </a:spcAft>
              <a:defRPr sz="1600" b="0">
                <a:solidFill>
                  <a:srgbClr val="FFFFFF"/>
                </a:solidFill>
                <a:latin typeface="Courier New"/>
              </a:defRPr>
            </a:pPr>
            <a:r>
              <a:rPr lang="en-GB" altLang="en-GB"/>
              <a:t>CodeDirectory v=20500 size=893 flags=0x12a00(kill,restrict,library-validation,runtime) hashes=17+7 location=embedded</a:t>
            </a:r>
          </a:p>
          <a:p>
            <a:pPr algn="l">
              <a:spcAft>
                <a:spcPts val="500"/>
              </a:spcAft>
              <a:defRPr sz="1600" b="0">
                <a:solidFill>
                  <a:srgbClr val="FFFFFF"/>
                </a:solidFill>
                <a:latin typeface="Courier New"/>
              </a:defRPr>
            </a:pPr>
            <a:r>
              <a:rPr lang="en-GB" altLang="en-GB"/>
              <a:t>Signature size=8989</a:t>
            </a:r>
          </a:p>
          <a:p>
            <a:pPr algn="l">
              <a:spcAft>
                <a:spcPts val="500"/>
              </a:spcAft>
              <a:defRPr sz="1600" b="0">
                <a:solidFill>
                  <a:srgbClr val="FFFFFF"/>
                </a:solidFill>
                <a:latin typeface="Courier New"/>
              </a:defRPr>
            </a:pPr>
            <a:r>
              <a:rPr lang="en-GB" altLang="en-GB"/>
              <a:t>Timestamp=6 Apr 2026 at 21:44:58</a:t>
            </a:r>
          </a:p>
          <a:p>
            <a:pPr algn="l">
              <a:spcAft>
                <a:spcPts val="500"/>
              </a:spcAft>
              <a:defRPr sz="1600" b="0">
                <a:solidFill>
                  <a:srgbClr val="FFFFFF"/>
                </a:solidFill>
                <a:latin typeface="Courier New"/>
              </a:defRPr>
            </a:pPr>
            <a:r>
              <a:rPr lang="en-GB" altLang="en-GB"/>
              <a:t>Info.plist entries=45</a:t>
            </a:r>
          </a:p>
          <a:p>
            <a:pPr algn="l">
              <a:spcAft>
                <a:spcPts val="500"/>
              </a:spcAft>
            </a:pPr>
            <a:r>
              <a:rPr lang="en-GB" altLang="en-GB" sz="1600" b="0">
                <a:solidFill>
                  <a:srgbClr val="FFFFFF"/>
                </a:solidFill>
                <a:latin typeface="Courier New"/>
              </a:rPr>
              <a:t>TeamIdentifier=</a:t>
            </a:r>
            <a:r>
              <a:rPr lang="en-GB" altLang="en-GB" sz="1600" b="0">
                <a:solidFill>
                  <a:srgbClr val="FFA500"/>
                </a:solidFill>
                <a:latin typeface="Courier New"/>
              </a:rPr>
              <a:t>EQHXZ8M8AV</a:t>
            </a:r>
          </a:p>
          <a:p>
            <a:pPr algn="l">
              <a:spcAft>
                <a:spcPts val="500"/>
              </a:spcAft>
              <a:defRPr sz="1600" b="0">
                <a:solidFill>
                  <a:srgbClr val="FFFFFF"/>
                </a:solidFill>
                <a:latin typeface="Courier New"/>
              </a:defRPr>
            </a:pPr>
            <a:r>
              <a:rPr lang="en-GB" altLang="en-GB"/>
              <a:t>Runtime Version=26.2.0</a:t>
            </a:r>
          </a:p>
          <a:p>
            <a:pPr algn="l">
              <a:spcAft>
                <a:spcPts val="500"/>
              </a:spcAft>
              <a:defRPr sz="1600" b="0">
                <a:solidFill>
                  <a:srgbClr val="FFFFFF"/>
                </a:solidFill>
                <a:latin typeface="Courier New"/>
              </a:defRPr>
            </a:pPr>
            <a:r>
              <a:rPr lang="en-GB" altLang="en-GB"/>
              <a:t>Sealed Resources version=2 rules=13 files=63</a:t>
            </a:r>
          </a:p>
          <a:p>
            <a:pPr algn="l">
              <a:spcAft>
                <a:spcPts val="500"/>
              </a:spcAft>
              <a:defRPr sz="1600" b="0">
                <a:solidFill>
                  <a:srgbClr val="FFFFFF"/>
                </a:solidFill>
                <a:latin typeface="Courier New"/>
              </a:defRPr>
            </a:pPr>
            <a:r>
              <a:rPr lang="en-GB" altLang="en-GB"/>
              <a:t>Nested=Frameworks/Google Chrome Framework.framework</a:t>
            </a:r>
          </a:p>
          <a:p>
            <a:pPr algn="l">
              <a:spcAft>
                <a:spcPts val="500"/>
              </a:spcAft>
            </a:pPr>
            <a:r>
              <a:rPr lang="en-GB" altLang="en-GB" sz="1600" b="0">
                <a:solidFill>
                  <a:srgbClr val="FFFFFF"/>
                </a:solidFill>
                <a:latin typeface="Courier New"/>
              </a:rPr>
              <a:t>designated =&gt; (identifier "com.google.Chrome" or identifier "com.google.Chrome.beta" or identifier "com.google.Chrome.dev" or identifier "com.google.Chrome.canary") and anchor apple generic and certificate 1[field.1.2.840.113635.100.6.2.6] /* exists */ and certificate leaf[field.1.2.840.113635.100.6.1.13] /* exists */ and certificate leaf[subject.OU] = </a:t>
            </a:r>
            <a:r>
              <a:rPr lang="en-GB" altLang="en-GB" sz="1600" b="0">
                <a:solidFill>
                  <a:srgbClr val="FFA500"/>
                </a:solidFill>
                <a:latin typeface="Courier New"/>
              </a:rPr>
              <a:t>EQHXZ8M8AV</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CODE SIGNATURE VERIFICATION</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5029200"/>
          </a:xfrm>
          <a:prstGeom prst="rect">
            <a:avLst/>
          </a:prstGeom>
          <a:noFill/>
        </p:spPr>
        <p:txBody>
          <a:bodyPr wrap="square">
            <a:spAutoFit/>
          </a:bodyPr>
          <a:lstStyle/>
          <a:p>
            <a:pPr algn="l">
              <a:spcAft>
                <a:spcPts val="500"/>
              </a:spcAft>
              <a:defRPr sz="1800" b="0">
                <a:solidFill>
                  <a:srgbClr val="00C853"/>
                </a:solidFill>
                <a:latin typeface="Courier New"/>
              </a:defRPr>
            </a:pPr>
            <a:r>
              <a:rPr lang="en-GB" altLang="en-GB"/>
              <a:t>pkgutil --check-signature /Users/ronald/Downloads/JamfAutoUpdate-1.5.pkg</a:t>
            </a:r>
          </a:p>
          <a:p>
            <a:pPr algn="l">
              <a:spcAft>
                <a:spcPts val="500"/>
              </a:spcAft>
              <a:defRPr sz="800" b="0">
                <a:solidFill>
                  <a:srgbClr val="888888"/>
                </a:solidFill>
                <a:latin typeface="Courier New"/>
              </a:defRPr>
            </a:pPr>
            <a:endParaRPr lang="en-GB" altLang="en-GB"/>
          </a:p>
          <a:p>
            <a:pPr algn="l">
              <a:spcAft>
                <a:spcPts val="500"/>
              </a:spcAft>
              <a:defRPr sz="1600" b="0">
                <a:solidFill>
                  <a:srgbClr val="FFFFFF"/>
                </a:solidFill>
                <a:latin typeface="Courier New"/>
              </a:defRPr>
            </a:pPr>
            <a:r>
              <a:rPr lang="en-GB" altLang="en-GB"/>
              <a:t>Package "JamfAutoUpdate-1.5.pkg":</a:t>
            </a:r>
          </a:p>
          <a:p>
            <a:pPr algn="l">
              <a:spcAft>
                <a:spcPts val="500"/>
              </a:spcAft>
              <a:defRPr sz="1600" b="0">
                <a:solidFill>
                  <a:srgbClr val="FFFFFF"/>
                </a:solidFill>
                <a:latin typeface="Courier New"/>
              </a:defRPr>
            </a:pPr>
            <a:r>
              <a:rPr lang="en-GB" altLang="en-GB"/>
              <a:t>	Status: signed by a developer certificate issued by Apple for distribution</a:t>
            </a:r>
          </a:p>
          <a:p>
            <a:pPr algn="l">
              <a:spcAft>
                <a:spcPts val="500"/>
              </a:spcAft>
              <a:defRPr sz="1600" b="0">
                <a:solidFill>
                  <a:srgbClr val="FFFFFF"/>
                </a:solidFill>
                <a:latin typeface="Courier New"/>
              </a:defRPr>
            </a:pPr>
            <a:r>
              <a:rPr lang="en-GB" altLang="en-GB"/>
              <a:t>	Notarization: trusted by the Apple notary service</a:t>
            </a:r>
          </a:p>
          <a:p>
            <a:pPr algn="l">
              <a:spcAft>
                <a:spcPts val="500"/>
              </a:spcAft>
              <a:defRPr sz="1600" b="0">
                <a:solidFill>
                  <a:srgbClr val="FFFFFF"/>
                </a:solidFill>
                <a:latin typeface="Courier New"/>
              </a:defRPr>
            </a:pPr>
            <a:r>
              <a:rPr lang="en-GB" altLang="en-GB"/>
              <a:t>	Signed with a trusted timestamp on: 2026-04-08 12:33:51 +0000</a:t>
            </a:r>
          </a:p>
          <a:p>
            <a:pPr algn="l">
              <a:spcAft>
                <a:spcPts val="500"/>
              </a:spcAft>
              <a:defRPr sz="1600" b="0">
                <a:solidFill>
                  <a:srgbClr val="FFFFFF"/>
                </a:solidFill>
                <a:latin typeface="Courier New"/>
              </a:defRPr>
            </a:pPr>
            <a:r>
              <a:rPr lang="en-GB" altLang="en-GB"/>
              <a:t>	Certificate Chain:</a:t>
            </a:r>
          </a:p>
          <a:p>
            <a:pPr algn="l">
              <a:spcAft>
                <a:spcPts val="500"/>
              </a:spcAft>
            </a:pPr>
            <a:r>
              <a:rPr lang="en-GB" altLang="en-GB" sz="1600" b="0">
                <a:solidFill>
                  <a:srgbClr val="FFFFFF"/>
                </a:solidFill>
                <a:latin typeface="Courier New"/>
              </a:rPr>
              <a:t>    1.  Developer ID Installer: JAMF Software (</a:t>
            </a:r>
            <a:r>
              <a:rPr lang="en-GB" altLang="en-GB" sz="1600" b="0">
                <a:solidFill>
                  <a:srgbClr val="FFA500"/>
                </a:solidFill>
                <a:latin typeface="Courier New"/>
              </a:rPr>
              <a:t>483DWKW443</a:t>
            </a:r>
            <a:r>
              <a:rPr lang="en-GB" altLang="en-GB" sz="1600" b="0">
                <a:solidFill>
                  <a:srgbClr val="FFFFFF"/>
                </a:solidFill>
                <a:latin typeface="Courier New"/>
              </a:rPr>
              <a:t>)</a:t>
            </a:r>
          </a:p>
          <a:p>
            <a:pPr algn="l">
              <a:spcAft>
                <a:spcPts val="500"/>
              </a:spcAft>
              <a:defRPr sz="1600" b="0">
                <a:solidFill>
                  <a:srgbClr val="FFFFFF"/>
                </a:solidFill>
                <a:latin typeface="Courier New"/>
              </a:defRPr>
            </a:pPr>
            <a:r>
              <a:rPr lang="en-GB" altLang="en-GB"/>
              <a:t>        Expires: 2027-06-01 16:58:54 +0000</a:t>
            </a:r>
          </a:p>
          <a:p>
            <a:pPr algn="l">
              <a:spcAft>
                <a:spcPts val="500"/>
              </a:spcAft>
              <a:defRPr sz="1600" b="0">
                <a:solidFill>
                  <a:srgbClr val="FFFFFF"/>
                </a:solidFill>
                <a:latin typeface="Courier New"/>
              </a:defRPr>
            </a:pPr>
            <a:r>
              <a:rPr lang="en-GB" altLang="en-GB"/>
              <a:t>        SHA256 Fingerprint:</a:t>
            </a:r>
          </a:p>
          <a:p>
            <a:pPr algn="l">
              <a:spcAft>
                <a:spcPts val="500"/>
              </a:spcAft>
              <a:defRPr sz="1600" b="0">
                <a:solidFill>
                  <a:srgbClr val="FFFFFF"/>
                </a:solidFill>
                <a:latin typeface="Courier New"/>
              </a:defRPr>
            </a:pPr>
            <a:r>
              <a:rPr lang="en-GB" altLang="en-GB"/>
              <a:t>			 CB 3C 51 9C E7 9B 47 8D 81 4A C7 FA 17 46 36 1F 9F 3C F9 5A 7B 48</a:t>
            </a:r>
          </a:p>
          <a:p>
            <a:pPr algn="l">
              <a:spcAft>
                <a:spcPts val="500"/>
              </a:spcAft>
              <a:defRPr sz="1600" b="0">
                <a:solidFill>
                  <a:srgbClr val="FFFFFF"/>
                </a:solidFill>
                <a:latin typeface="Courier New"/>
              </a:defRPr>
            </a:pPr>
            <a:r>
              <a:rPr lang="en-GB" altLang="en-GB"/>
              <a:t>			 92 E7 DF 0B 58 DD E1 EE 1B DD</a:t>
            </a:r>
          </a:p>
          <a:p>
            <a:pPr algn="l">
              <a:spcAft>
                <a:spcPts val="500"/>
              </a:spcAft>
              <a:defRPr sz="1600" b="0">
                <a:solidFill>
                  <a:srgbClr val="FFFFFF"/>
                </a:solidFill>
                <a:latin typeface="Courier New"/>
              </a:defRPr>
            </a:pPr>
            <a:r>
              <a:rPr lang="en-GB" altLang="en-GB"/>
              <a:t>		------------------------------------------------------------------------</a:t>
            </a:r>
          </a:p>
          <a:p>
            <a:pPr algn="l">
              <a:spcAft>
                <a:spcPts val="500"/>
              </a:spcAft>
              <a:defRPr sz="1600" b="0">
                <a:solidFill>
                  <a:srgbClr val="FFFFFF"/>
                </a:solidFill>
                <a:latin typeface="Courier New"/>
              </a:defRPr>
            </a:pPr>
            <a:r>
              <a:rPr lang="en-GB" altLang="en-GB"/>
              <a:t>    2.  Developer ID Certification Authority</a:t>
            </a:r>
          </a:p>
          <a:p>
            <a:pPr algn="l">
              <a:spcAft>
                <a:spcPts val="500"/>
              </a:spcAft>
              <a:defRPr sz="1600" b="0">
                <a:solidFill>
                  <a:srgbClr val="FFFFFF"/>
                </a:solidFill>
                <a:latin typeface="Courier New"/>
              </a:defRPr>
            </a:pPr>
            <a:r>
              <a:rPr lang="en-GB" altLang="en-GB"/>
              <a:t>        Expires: 2031-09-17 00:00:00 +0000</a:t>
            </a:r>
          </a:p>
          <a:p>
            <a:pPr algn="l">
              <a:spcAft>
                <a:spcPts val="500"/>
              </a:spcAft>
              <a:defRPr sz="1600" b="0">
                <a:solidFill>
                  <a:srgbClr val="FFFFFF"/>
                </a:solidFill>
                <a:latin typeface="Courier New"/>
              </a:defRPr>
            </a:pPr>
            <a:r>
              <a:rPr lang="en-GB" altLang="en-GB"/>
              <a:t>        SHA256 Fingerprint:</a:t>
            </a:r>
          </a:p>
          <a:p>
            <a:pPr algn="l">
              <a:spcAft>
                <a:spcPts val="500"/>
              </a:spcAft>
              <a:defRPr sz="1600" b="0">
                <a:solidFill>
                  <a:srgbClr val="FFFFFF"/>
                </a:solidFill>
                <a:latin typeface="Courier New"/>
              </a:defRPr>
            </a:pPr>
            <a:r>
              <a:rPr lang="en-GB" altLang="en-GB"/>
              <a:t>			 F1 6C D3 C5 4C 7F 83 CE A4 BF 1A 3E 6A 08 19 C8 AA A8 E4 A1 52 8F</a:t>
            </a:r>
          </a:p>
          <a:p>
            <a:pPr algn="l">
              <a:spcAft>
                <a:spcPts val="500"/>
              </a:spcAft>
              <a:defRPr sz="1600" b="0">
                <a:solidFill>
                  <a:srgbClr val="FFFFFF"/>
                </a:solidFill>
                <a:latin typeface="Courier New"/>
              </a:defRPr>
            </a:pPr>
            <a:r>
              <a:rPr lang="en-GB" altLang="en-GB"/>
              <a:t>			 D1 44 71 5F 35 06 43 D2 DF 3A</a:t>
            </a:r>
          </a:p>
          <a:p>
            <a:pPr algn="l">
              <a:spcAft>
                <a:spcPts val="500"/>
              </a:spcAft>
              <a:defRPr sz="1600" b="0">
                <a:solidFill>
                  <a:srgbClr val="FFFFFF"/>
                </a:solidFill>
                <a:latin typeface="Courier New"/>
              </a:defRPr>
            </a:pPr>
            <a:r>
              <a:rPr lang="en-GB" altLang="en-GB"/>
              <a: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CODE SIGNATURE VERIFICATION</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5029200"/>
          </a:xfrm>
          <a:prstGeom prst="rect">
            <a:avLst/>
          </a:prstGeom>
          <a:noFill/>
        </p:spPr>
        <p:txBody>
          <a:bodyPr wrap="square">
            <a:spAutoFit/>
          </a:bodyPr>
          <a:lstStyle/>
          <a:p>
            <a:pPr algn="l">
              <a:spcAft>
                <a:spcPts val="500"/>
              </a:spcAft>
              <a:defRPr sz="1800" b="0">
                <a:solidFill>
                  <a:srgbClr val="00C853"/>
                </a:solidFill>
                <a:latin typeface="Courier New"/>
              </a:defRPr>
            </a:pPr>
            <a:r>
              <a:rPr lang="en-GB" altLang="en-GB"/>
              <a:t>spctl -a -vv "/Applications/Google Chrome.app"</a:t>
            </a:r>
          </a:p>
          <a:p>
            <a:pPr algn="l">
              <a:spcAft>
                <a:spcPts val="500"/>
              </a:spcAft>
              <a:defRPr sz="800" b="0">
                <a:solidFill>
                  <a:srgbClr val="888888"/>
                </a:solidFill>
                <a:latin typeface="Courier New"/>
              </a:defRPr>
            </a:pPr>
            <a:endParaRPr lang="en-GB" altLang="en-GB"/>
          </a:p>
          <a:p>
            <a:pPr algn="l">
              <a:spcAft>
                <a:spcPts val="500"/>
              </a:spcAft>
              <a:defRPr sz="1600" b="0">
                <a:solidFill>
                  <a:srgbClr val="FFFFFF"/>
                </a:solidFill>
                <a:latin typeface="Courier New"/>
              </a:defRPr>
            </a:pPr>
            <a:r>
              <a:rPr lang="en-GB" altLang="en-GB"/>
              <a:t>/Applications/Google Chrome.app: accepted</a:t>
            </a:r>
          </a:p>
          <a:p>
            <a:pPr algn="l">
              <a:spcAft>
                <a:spcPts val="500"/>
              </a:spcAft>
              <a:defRPr sz="1600" b="0">
                <a:solidFill>
                  <a:srgbClr val="FFFFFF"/>
                </a:solidFill>
                <a:latin typeface="Courier New"/>
              </a:defRPr>
            </a:pPr>
            <a:r>
              <a:rPr lang="en-GB" altLang="en-GB"/>
              <a:t>source=Notarized Developer ID</a:t>
            </a:r>
          </a:p>
          <a:p>
            <a:pPr algn="l">
              <a:spcAft>
                <a:spcPts val="500"/>
              </a:spcAft>
            </a:pPr>
            <a:r>
              <a:rPr lang="en-GB" altLang="en-GB" sz="1600" b="0">
                <a:solidFill>
                  <a:srgbClr val="FFFFFF"/>
                </a:solidFill>
                <a:latin typeface="Courier New"/>
              </a:rPr>
              <a:t>origin=Developer ID Application: Google LLC (</a:t>
            </a:r>
            <a:r>
              <a:rPr lang="en-GB" altLang="en-GB" sz="1600" b="0">
                <a:solidFill>
                  <a:srgbClr val="FFA500"/>
                </a:solidFill>
                <a:latin typeface="Courier New"/>
              </a:rPr>
              <a:t>EQHXZ8M8AV</a:t>
            </a:r>
            <a:r>
              <a:rPr lang="en-GB" altLang="en-GB" sz="1600" b="0">
                <a:solidFill>
                  <a:srgbClr val="FFFFFF"/>
                </a:solidFill>
                <a:latin typeface="Courier New"/>
              </a:rPr>
              <a:t>)</a:t>
            </a:r>
          </a:p>
        </p:txBody>
      </p:sp>
      <p:sp>
        <p:nvSpPr>
          <p:cNvPr id="5" name="TextBox 4"/>
          <p:cNvSpPr txBox="1"/>
          <p:nvPr/>
        </p:nvSpPr>
        <p:spPr>
          <a:xfrm>
            <a:off x="731520" y="3657600"/>
            <a:ext cx="10515600" cy="5029200"/>
          </a:xfrm>
          <a:prstGeom prst="rect">
            <a:avLst/>
          </a:prstGeom>
          <a:noFill/>
        </p:spPr>
        <p:txBody>
          <a:bodyPr wrap="square">
            <a:spAutoFit/>
          </a:bodyPr>
          <a:lstStyle/>
          <a:p>
            <a:pPr algn="l">
              <a:spcAft>
                <a:spcPts val="500"/>
              </a:spcAft>
              <a:defRPr sz="1800" b="0">
                <a:solidFill>
                  <a:srgbClr val="00C853"/>
                </a:solidFill>
                <a:latin typeface="Courier New"/>
              </a:defRPr>
            </a:pPr>
            <a:r>
              <a:rPr lang="en-GB" altLang="en-GB"/>
              <a:t>spctl -a -vv -t install /Users/ronald/Downloads/JamfAutoUpdate-1.5.pkg</a:t>
            </a:r>
          </a:p>
          <a:p>
            <a:pPr algn="l">
              <a:spcAft>
                <a:spcPts val="500"/>
              </a:spcAft>
              <a:defRPr sz="800" b="0">
                <a:solidFill>
                  <a:srgbClr val="888888"/>
                </a:solidFill>
                <a:latin typeface="Courier New"/>
              </a:defRPr>
            </a:pPr>
            <a:endParaRPr lang="en-GB" altLang="en-GB"/>
          </a:p>
          <a:p>
            <a:pPr algn="l">
              <a:spcAft>
                <a:spcPts val="500"/>
              </a:spcAft>
              <a:defRPr sz="1600" b="0">
                <a:solidFill>
                  <a:srgbClr val="FFFFFF"/>
                </a:solidFill>
                <a:latin typeface="Courier New"/>
              </a:defRPr>
            </a:pPr>
            <a:r>
              <a:rPr lang="en-GB" altLang="en-GB"/>
              <a:t>/Users/ronald/Downloads/JamfAutoUpdate-1.5.pkg</a:t>
            </a:r>
          </a:p>
          <a:p>
            <a:pPr algn="l">
              <a:spcAft>
                <a:spcPts val="500"/>
              </a:spcAft>
              <a:defRPr sz="1600" b="0">
                <a:solidFill>
                  <a:srgbClr val="FFFFFF"/>
                </a:solidFill>
                <a:latin typeface="Courier New"/>
              </a:defRPr>
            </a:pPr>
            <a:r>
              <a:rPr lang="en-GB" altLang="en-GB"/>
              <a:t>source=Notarized Developer ID</a:t>
            </a:r>
          </a:p>
          <a:p>
            <a:pPr algn="l">
              <a:spcAft>
                <a:spcPts val="500"/>
              </a:spcAft>
            </a:pPr>
            <a:r>
              <a:rPr lang="en-GB" altLang="en-GB" sz="1600" b="0">
                <a:solidFill>
                  <a:srgbClr val="FFFFFF"/>
                </a:solidFill>
                <a:latin typeface="Courier New"/>
              </a:rPr>
              <a:t>origin=Developer ID Application: JAMF Software (</a:t>
            </a:r>
            <a:r>
              <a:rPr lang="en-GB" altLang="en-GB" sz="1600" b="0">
                <a:solidFill>
                  <a:srgbClr val="FFA500"/>
                </a:solidFill>
                <a:latin typeface="Courier New"/>
              </a:rPr>
              <a:t>483DWKW443</a:t>
            </a:r>
            <a:r>
              <a:rPr lang="en-GB" altLang="en-GB" sz="1600" b="0">
                <a:solidFill>
                  <a:srgbClr val="FFFFFF"/>
                </a:solidFill>
                <a:latin typeface="Courier New"/>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THREAT LANDSCAPE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5029200"/>
          </a:xfrm>
          <a:prstGeom prst="rect">
            <a:avLst/>
          </a:prstGeom>
          <a:noFill/>
        </p:spPr>
        <p:txBody>
          <a:bodyPr wrap="square">
            <a:spAutoFit/>
          </a:bodyPr>
          <a:lstStyle/>
          <a:p>
            <a:pPr algn="l">
              <a:spcAft>
                <a:spcPts val="500"/>
              </a:spcAft>
              <a:defRPr sz="2400" b="0">
                <a:solidFill>
                  <a:srgbClr val="FFFFFF"/>
                </a:solidFill>
                <a:latin typeface="Courier New"/>
              </a:defRPr>
            </a:pPr>
            <a:r>
              <a:rPr lang="en-GB" altLang="en-GB"/>
              <a:t>Deploying software is a core Mac Admin responsibility.</a:t>
            </a:r>
          </a:p>
          <a:p>
            <a:pPr algn="l">
              <a:spcAft>
                <a:spcPts val="500"/>
              </a:spcAft>
              <a:defRPr sz="1000" b="0">
                <a:solidFill>
                  <a:srgbClr val="888888"/>
                </a:solidFill>
                <a:latin typeface="Courier New"/>
              </a:defRPr>
            </a:pPr>
            <a:endParaRPr lang="en-GB" altLang="en-GB"/>
          </a:p>
          <a:p>
            <a:pPr algn="l">
              <a:spcAft>
                <a:spcPts val="500"/>
              </a:spcAft>
              <a:defRPr sz="2200" b="0">
                <a:solidFill>
                  <a:srgbClr val="CCCCCC"/>
                </a:solidFill>
                <a:latin typeface="Courier New"/>
              </a:defRPr>
            </a:pPr>
            <a:r>
              <a:rPr lang="en-GB" altLang="en-GB"/>
              <a:t>But software can get compromised:</a:t>
            </a:r>
          </a:p>
          <a:p>
            <a:pPr algn="l">
              <a:spcAft>
                <a:spcPts val="500"/>
              </a:spcAft>
              <a:defRPr sz="800" b="0">
                <a:solidFill>
                  <a:srgbClr val="888888"/>
                </a:solidFill>
                <a:latin typeface="Courier New"/>
              </a:defRPr>
            </a:pPr>
            <a:endParaRPr lang="en-GB" altLang="en-GB"/>
          </a:p>
          <a:p>
            <a:pPr algn="l">
              <a:spcAft>
                <a:spcPts val="500"/>
              </a:spcAft>
              <a:defRPr sz="2200" b="0">
                <a:solidFill>
                  <a:srgbClr val="FFA500"/>
                </a:solidFill>
                <a:latin typeface="Courier New"/>
              </a:defRPr>
            </a:pPr>
            <a:r>
              <a:rPr lang="en-GB" altLang="en-GB"/>
              <a:t>  ⚠  XcodeGhost — infected IDE distributed via China (2015)</a:t>
            </a:r>
          </a:p>
          <a:p>
            <a:pPr algn="l">
              <a:spcAft>
                <a:spcPts val="500"/>
              </a:spcAft>
              <a:defRPr sz="2200" b="0">
                <a:solidFill>
                  <a:srgbClr val="FFA500"/>
                </a:solidFill>
                <a:latin typeface="Courier New"/>
              </a:defRPr>
            </a:pPr>
            <a:r>
              <a:rPr lang="en-GB" altLang="en-GB"/>
              <a:t>  ⚠  KeRanger — ransomware trojan horse (2016)</a:t>
            </a:r>
          </a:p>
          <a:p>
            <a:pPr algn="l">
              <a:spcAft>
                <a:spcPts val="500"/>
              </a:spcAft>
              <a:defRPr sz="2200" b="0">
                <a:solidFill>
                  <a:srgbClr val="FFA500"/>
                </a:solidFill>
                <a:latin typeface="Courier New"/>
              </a:defRPr>
            </a:pPr>
            <a:r>
              <a:rPr lang="en-GB" altLang="en-GB"/>
              <a:t>  ⚠  HandBrake — trojanised download mirror (2017)</a:t>
            </a:r>
          </a:p>
          <a:p>
            <a:pPr algn="l">
              <a:spcAft>
                <a:spcPts val="500"/>
              </a:spcAft>
              <a:defRPr sz="2200" b="0">
                <a:solidFill>
                  <a:srgbClr val="6F4A00"/>
                </a:solidFill>
                <a:latin typeface="Courier New"/>
              </a:defRPr>
            </a:pPr>
            <a:r>
              <a:rPr lang="en-GB" altLang="en-GB"/>
              <a:t>  ⚠  Codecov — bash uploader tampered for months (2021)</a:t>
            </a:r>
          </a:p>
          <a:p>
            <a:pPr algn="l">
              <a:spcAft>
                <a:spcPts val="500"/>
              </a:spcAft>
              <a:defRPr sz="2200" b="0">
                <a:solidFill>
                  <a:srgbClr val="6F4A00"/>
                </a:solidFill>
                <a:latin typeface="Courier New"/>
              </a:defRPr>
            </a:pPr>
            <a:r>
              <a:rPr lang="en-GB" altLang="en-GB"/>
              <a:t>  ⚠  Axios — supply chain attack (2026)</a:t>
            </a:r>
          </a:p>
          <a:p>
            <a:pPr algn="l">
              <a:spcAft>
                <a:spcPts val="500"/>
              </a:spcAft>
              <a:defRPr sz="1000" b="0">
                <a:solidFill>
                  <a:srgbClr val="888888"/>
                </a:solidFill>
                <a:latin typeface="Courier New"/>
              </a:defRPr>
            </a:pPr>
            <a:endParaRPr lang="en-GB" altLang="en-GB"/>
          </a:p>
          <a:p>
            <a:pPr algn="l">
              <a:spcAft>
                <a:spcPts val="500"/>
              </a:spcAft>
              <a:defRPr sz="2600" b="1">
                <a:solidFill>
                  <a:srgbClr val="FFFFFF"/>
                </a:solidFill>
                <a:latin typeface="Courier New"/>
              </a:defRPr>
            </a:pPr>
            <a:r>
              <a:rPr lang="en-GB" altLang="en-GB"/>
              <a:t>Trusting a vendor alone is not enough.</a:t>
            </a:r>
          </a:p>
          <a:p>
            <a:pPr algn="l">
              <a:spcAft>
                <a:spcPts val="500"/>
              </a:spcAft>
              <a:defRPr sz="800" b="0">
                <a:solidFill>
                  <a:srgbClr val="888888"/>
                </a:solidFill>
                <a:latin typeface="Courier New"/>
              </a:defRPr>
            </a:pPr>
            <a:endParaRPr lang="en-GB" altLang="en-GB"/>
          </a:p>
          <a:p>
            <a:pPr algn="l">
              <a:spcAft>
                <a:spcPts val="500"/>
              </a:spcAft>
              <a:defRPr sz="2200" b="0">
                <a:solidFill>
                  <a:srgbClr val="00C853"/>
                </a:solidFill>
                <a:latin typeface="Courier New"/>
              </a:defRPr>
            </a:pPr>
            <a:r>
              <a:rPr lang="en-GB" altLang="en-GB"/>
              <a:t>You need to verify every asset before it enters the homeland.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THREAT LANDSCAPE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5029200"/>
          </a:xfrm>
          <a:prstGeom prst="rect">
            <a:avLst/>
          </a:prstGeom>
          <a:noFill/>
        </p:spPr>
        <p:txBody>
          <a:bodyPr wrap="square">
            <a:spAutoFit/>
          </a:bodyPr>
          <a:lstStyle/>
          <a:p>
            <a:pPr algn="l">
              <a:spcAft>
                <a:spcPts val="500"/>
              </a:spcAft>
              <a:defRPr sz="2400" b="0">
                <a:solidFill>
                  <a:srgbClr val="FFFFFF"/>
                </a:solidFill>
                <a:latin typeface="Courier New"/>
              </a:defRPr>
            </a:pPr>
            <a:r>
              <a:rPr lang="en-GB" altLang="en-GB"/>
              <a:t>Deploying software is a core Mac Admin responsibility.</a:t>
            </a:r>
          </a:p>
          <a:p>
            <a:pPr algn="l">
              <a:spcAft>
                <a:spcPts val="500"/>
              </a:spcAft>
              <a:defRPr sz="1000" b="0">
                <a:solidFill>
                  <a:srgbClr val="888888"/>
                </a:solidFill>
                <a:latin typeface="Courier New"/>
              </a:defRPr>
            </a:pPr>
            <a:endParaRPr lang="en-GB" altLang="en-GB"/>
          </a:p>
          <a:p>
            <a:pPr algn="l">
              <a:spcAft>
                <a:spcPts val="500"/>
              </a:spcAft>
              <a:defRPr sz="2200" b="0">
                <a:solidFill>
                  <a:srgbClr val="CCCCCC"/>
                </a:solidFill>
                <a:latin typeface="Courier New"/>
              </a:defRPr>
            </a:pPr>
            <a:r>
              <a:rPr lang="en-GB" altLang="en-GB"/>
              <a:t>But software can get compromised:</a:t>
            </a:r>
          </a:p>
          <a:p>
            <a:pPr algn="l">
              <a:spcAft>
                <a:spcPts val="500"/>
              </a:spcAft>
              <a:defRPr sz="800" b="0">
                <a:solidFill>
                  <a:srgbClr val="888888"/>
                </a:solidFill>
                <a:latin typeface="Courier New"/>
              </a:defRPr>
            </a:pPr>
            <a:endParaRPr lang="en-GB" altLang="en-GB"/>
          </a:p>
          <a:p>
            <a:pPr algn="l">
              <a:spcAft>
                <a:spcPts val="500"/>
              </a:spcAft>
              <a:defRPr sz="2200" b="0">
                <a:solidFill>
                  <a:srgbClr val="6F4A00"/>
                </a:solidFill>
                <a:latin typeface="Courier New"/>
              </a:defRPr>
            </a:pPr>
            <a:r>
              <a:rPr lang="en-GB" altLang="en-GB"/>
              <a:t>  ⚠  XcodeGhost — infected IDE distributed via China (2015)</a:t>
            </a:r>
          </a:p>
          <a:p>
            <a:pPr algn="l">
              <a:spcAft>
                <a:spcPts val="500"/>
              </a:spcAft>
              <a:defRPr sz="2200" b="0">
                <a:solidFill>
                  <a:srgbClr val="6F4A00"/>
                </a:solidFill>
                <a:latin typeface="Courier New"/>
              </a:defRPr>
            </a:pPr>
            <a:r>
              <a:rPr lang="en-GB" altLang="en-GB"/>
              <a:t>  ⚠  KeRanger — ransomware trojan horse (2016)</a:t>
            </a:r>
          </a:p>
          <a:p>
            <a:pPr algn="l">
              <a:spcAft>
                <a:spcPts val="500"/>
              </a:spcAft>
              <a:defRPr sz="2200" b="0">
                <a:solidFill>
                  <a:srgbClr val="6F4A00"/>
                </a:solidFill>
                <a:latin typeface="Courier New"/>
              </a:defRPr>
            </a:pPr>
            <a:r>
              <a:rPr lang="en-GB" altLang="en-GB"/>
              <a:t>  ⚠  HandBrake — trojanised download mirror (2017)</a:t>
            </a:r>
          </a:p>
          <a:p>
            <a:pPr algn="l">
              <a:spcAft>
                <a:spcPts val="500"/>
              </a:spcAft>
              <a:defRPr sz="2200" b="0">
                <a:solidFill>
                  <a:srgbClr val="FFA500"/>
                </a:solidFill>
                <a:latin typeface="Courier New"/>
              </a:defRPr>
            </a:pPr>
            <a:r>
              <a:rPr lang="en-GB" altLang="en-GB"/>
              <a:t>  ⚠  Codecov — bash uploader tampered for months (2021)</a:t>
            </a:r>
          </a:p>
          <a:p>
            <a:pPr algn="l">
              <a:spcAft>
                <a:spcPts val="500"/>
              </a:spcAft>
              <a:defRPr sz="2200" b="0">
                <a:solidFill>
                  <a:srgbClr val="FFA500"/>
                </a:solidFill>
                <a:latin typeface="Courier New"/>
              </a:defRPr>
            </a:pPr>
            <a:r>
              <a:rPr lang="en-GB" altLang="en-GB"/>
              <a:t>  ⚠  Axios — supply chain attack (2026)</a:t>
            </a:r>
          </a:p>
          <a:p>
            <a:pPr algn="l">
              <a:spcAft>
                <a:spcPts val="500"/>
              </a:spcAft>
              <a:defRPr sz="1000" b="0">
                <a:solidFill>
                  <a:srgbClr val="888888"/>
                </a:solidFill>
                <a:latin typeface="Courier New"/>
              </a:defRPr>
            </a:pPr>
            <a:endParaRPr lang="en-GB" altLang="en-GB"/>
          </a:p>
          <a:p>
            <a:pPr algn="l">
              <a:spcAft>
                <a:spcPts val="500"/>
              </a:spcAft>
              <a:defRPr sz="2600" b="1">
                <a:solidFill>
                  <a:srgbClr val="FFFFFF"/>
                </a:solidFill>
                <a:latin typeface="Courier New"/>
              </a:defRPr>
            </a:pPr>
            <a:r>
              <a:rPr lang="en-GB" altLang="en-GB"/>
              <a:t>Trusting a vendor alone is not enough.</a:t>
            </a:r>
          </a:p>
          <a:p>
            <a:pPr algn="l">
              <a:spcAft>
                <a:spcPts val="500"/>
              </a:spcAft>
              <a:defRPr sz="800" b="0">
                <a:solidFill>
                  <a:srgbClr val="888888"/>
                </a:solidFill>
                <a:latin typeface="Courier New"/>
              </a:defRPr>
            </a:pPr>
            <a:endParaRPr lang="en-GB" altLang="en-GB"/>
          </a:p>
          <a:p>
            <a:pPr algn="l">
              <a:spcAft>
                <a:spcPts val="500"/>
              </a:spcAft>
              <a:defRPr sz="2200" b="0">
                <a:solidFill>
                  <a:srgbClr val="00C853"/>
                </a:solidFill>
                <a:latin typeface="Courier New"/>
              </a:defRPr>
            </a:pPr>
            <a:r>
              <a:rPr lang="en-GB" altLang="en-GB"/>
              <a:t>You need to verify every asset before it enters the homeland.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INTELLIGENCE HISTORY</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2286000"/>
          </a:xfrm>
          <a:prstGeom prst="rect">
            <a:avLst/>
          </a:prstGeom>
          <a:noFill/>
        </p:spPr>
        <p:txBody>
          <a:bodyPr wrap="square">
            <a:spAutoFit/>
          </a:bodyPr>
          <a:lstStyle/>
          <a:p>
            <a:pPr algn="l">
              <a:spcAft>
                <a:spcPts val="500"/>
              </a:spcAft>
              <a:defRPr sz="2000" b="0">
                <a:solidFill>
                  <a:srgbClr val="FFFFFF"/>
                </a:solidFill>
                <a:latin typeface="Courier New"/>
              </a:defRPr>
            </a:pPr>
            <a:r>
              <a:rPr lang="en-GB" altLang="en-GB"/>
              <a:t>The evolution of our verification process:</a:t>
            </a:r>
          </a:p>
          <a:p>
            <a:pPr algn="l">
              <a:spcAft>
                <a:spcPts val="500"/>
              </a:spcAft>
              <a:defRPr sz="600" b="0">
                <a:solidFill>
                  <a:srgbClr val="888888"/>
                </a:solidFill>
                <a:latin typeface="Courier New"/>
              </a:defRPr>
            </a:pPr>
            <a:endParaRPr lang="en-GB" altLang="en-GB"/>
          </a:p>
          <a:p>
            <a:pPr algn="l">
              <a:spcAft>
                <a:spcPts val="500"/>
              </a:spcAft>
              <a:defRPr sz="1800" b="0">
                <a:solidFill>
                  <a:srgbClr val="CCCCCC"/>
                </a:solidFill>
                <a:latin typeface="Courier New"/>
              </a:defRPr>
            </a:pPr>
            <a:r>
              <a:rPr lang="en-GB" altLang="en-GB"/>
              <a:t>  Inherited basic checks</a:t>
            </a:r>
          </a:p>
          <a:p>
            <a:pPr algn="l">
              <a:spcAft>
                <a:spcPts val="500"/>
              </a:spcAft>
              <a:defRPr sz="1400" b="0">
                <a:solidFill>
                  <a:srgbClr val="888888"/>
                </a:solidFill>
                <a:latin typeface="Courier New"/>
              </a:defRPr>
            </a:pPr>
            <a:r>
              <a:rPr lang="en-GB" altLang="en-GB"/>
              <a:t>  Code signature validation and VirusTotal</a:t>
            </a:r>
          </a:p>
          <a:p>
            <a:pPr algn="l">
              <a:spcAft>
                <a:spcPts val="500"/>
              </a:spcAft>
              <a:defRPr sz="400" b="0">
                <a:solidFill>
                  <a:srgbClr val="888888"/>
                </a:solidFill>
                <a:latin typeface="Courier New"/>
              </a:defRPr>
            </a:pPr>
            <a:endParaRPr lang="en-GB" altLang="en-GB"/>
          </a:p>
          <a:p>
            <a:pPr algn="l">
              <a:spcAft>
                <a:spcPts val="500"/>
              </a:spcAft>
              <a:defRPr sz="1800" b="0">
                <a:solidFill>
                  <a:srgbClr val="CCCCCC"/>
                </a:solidFill>
                <a:latin typeface="Courier New"/>
              </a:defRPr>
            </a:pPr>
            <a:r>
              <a:rPr lang="en-GB" altLang="en-GB"/>
              <a:t>  Objective-See tools on test devices</a:t>
            </a:r>
          </a:p>
          <a:p>
            <a:pPr algn="l">
              <a:spcAft>
                <a:spcPts val="500"/>
              </a:spcAft>
              <a:defRPr sz="1400" b="0">
                <a:solidFill>
                  <a:srgbClr val="888888"/>
                </a:solidFill>
                <a:latin typeface="Courier New"/>
              </a:defRPr>
            </a:pPr>
            <a:r>
              <a:rPr lang="en-GB" altLang="en-GB"/>
              <a:t>  Manual observation for suspicious behaviour</a:t>
            </a:r>
          </a:p>
          <a:p>
            <a:pPr algn="l">
              <a:spcAft>
                <a:spcPts val="500"/>
              </a:spcAft>
              <a:defRPr sz="400" b="0">
                <a:solidFill>
                  <a:srgbClr val="888888"/>
                </a:solidFill>
                <a:latin typeface="Courier New"/>
              </a:defRPr>
            </a:pPr>
            <a:endParaRPr lang="en-GB" altLang="en-GB"/>
          </a:p>
          <a:p>
            <a:pPr algn="l">
              <a:spcAft>
                <a:spcPts val="500"/>
              </a:spcAft>
              <a:defRPr sz="1800" b="0">
                <a:solidFill>
                  <a:srgbClr val="FFA500"/>
                </a:solidFill>
                <a:latin typeface="Courier New"/>
              </a:defRPr>
            </a:pPr>
            <a:r>
              <a:rPr lang="en-GB" altLang="en-GB"/>
              <a:t>  The checklist</a:t>
            </a:r>
          </a:p>
          <a:p>
            <a:pPr algn="l">
              <a:spcAft>
                <a:spcPts val="500"/>
              </a:spcAft>
              <a:defRPr sz="1400" b="0">
                <a:solidFill>
                  <a:srgbClr val="888888"/>
                </a:solidFill>
                <a:latin typeface="Courier New"/>
              </a:defRPr>
            </a:pPr>
            <a:r>
              <a:rPr lang="en-GB" altLang="en-GB"/>
              <a:t>  Structured, repeatable process for every title.</a:t>
            </a:r>
          </a:p>
        </p:txBody>
      </p:sp>
      <p:sp>
        <p:nvSpPr>
          <p:cNvPr id="5" name="TextBox 4"/>
          <p:cNvSpPr txBox="1"/>
          <p:nvPr/>
        </p:nvSpPr>
        <p:spPr>
          <a:xfrm>
            <a:off x="822960" y="3904487"/>
            <a:ext cx="10515600" cy="457200"/>
          </a:xfrm>
          <a:prstGeom prst="rect">
            <a:avLst/>
          </a:prstGeom>
          <a:noFill/>
        </p:spPr>
        <p:txBody>
          <a:bodyPr wrap="square"/>
          <a:lstStyle/>
          <a:p>
            <a:pPr algn="l">
              <a:spcBef>
                <a:spcPts val="0"/>
              </a:spcBef>
              <a:spcAft>
                <a:spcPts val="0"/>
              </a:spcAft>
              <a:defRPr sz="1800" b="0">
                <a:solidFill>
                  <a:srgbClr val="888888"/>
                </a:solidFill>
                <a:latin typeface="Courier New"/>
              </a:defRPr>
            </a:pPr>
            <a:r>
              <a:rPr lang="en-GB" altLang="en-GB"/>
              <a:t> Posts like this made us question whether basic checks were enough:</a:t>
            </a:r>
          </a:p>
        </p:txBody>
      </p:sp>
      <p:pic>
        <p:nvPicPr>
          <p:cNvPr id="6" name="Picture 5" descr="lockbit_virustotal.png"/>
          <p:cNvPicPr>
            <a:picLocks noChangeAspect="1"/>
          </p:cNvPicPr>
          <p:nvPr/>
        </p:nvPicPr>
        <p:blipFill>
          <a:blip r:embed="rId3"/>
          <a:stretch>
            <a:fillRect/>
          </a:stretch>
        </p:blipFill>
        <p:spPr>
          <a:xfrm>
            <a:off x="3145536" y="4361688"/>
            <a:ext cx="5541264" cy="2048256"/>
          </a:xfrm>
          <a:prstGeom prst="rect">
            <a:avLst/>
          </a:prstGeom>
        </p:spPr>
      </p:pic>
      <p:sp>
        <p:nvSpPr>
          <p:cNvPr id="7" name="TextBox 6"/>
          <p:cNvSpPr txBox="1"/>
          <p:nvPr/>
        </p:nvSpPr>
        <p:spPr>
          <a:xfrm>
            <a:off x="731520" y="6492240"/>
            <a:ext cx="10515600" cy="365760"/>
          </a:xfrm>
          <a:prstGeom prst="rect">
            <a:avLst/>
          </a:prstGeom>
          <a:noFill/>
        </p:spPr>
        <p:txBody>
          <a:bodyPr wrap="square"/>
          <a:lstStyle/>
          <a:p>
            <a:pPr algn="l">
              <a:spcBef>
                <a:spcPts val="0"/>
              </a:spcBef>
              <a:spcAft>
                <a:spcPts val="0"/>
              </a:spcAft>
              <a:defRPr sz="1200" b="0">
                <a:solidFill>
                  <a:srgbClr val="888888"/>
                </a:solidFill>
                <a:latin typeface="Courier New"/>
              </a:defRPr>
            </a:pPr>
            <a:r>
              <a:rPr lang="en-GB" altLang="en-GB"/>
              <a:t>“The LockBit ransomware (kinda) comes for macOS”  —  objective-see.org/blog/blog_0x75.html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CHECKLIST</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ecklist_top.png"/>
          <p:cNvPicPr>
            <a:picLocks noChangeAspect="1"/>
          </p:cNvPicPr>
          <p:nvPr/>
        </p:nvPicPr>
        <p:blipFill>
          <a:blip r:embed="rId3"/>
          <a:stretch>
            <a:fillRect/>
          </a:stretch>
        </p:blipFill>
        <p:spPr>
          <a:xfrm>
            <a:off x="274320" y="1280160"/>
            <a:ext cx="5669280" cy="5303520"/>
          </a:xfrm>
          <a:prstGeom prst="rect">
            <a:avLst/>
          </a:prstGeom>
        </p:spPr>
      </p:pic>
      <p:pic>
        <p:nvPicPr>
          <p:cNvPr id="5" name="Picture 4" descr="checklist_bottom.png"/>
          <p:cNvPicPr>
            <a:picLocks noChangeAspect="1"/>
          </p:cNvPicPr>
          <p:nvPr/>
        </p:nvPicPr>
        <p:blipFill>
          <a:blip r:embed="rId4"/>
          <a:stretch>
            <a:fillRect/>
          </a:stretch>
        </p:blipFill>
        <p:spPr>
          <a:xfrm>
            <a:off x="6217920" y="1280160"/>
            <a:ext cx="5669280" cy="53035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MISSION BRIEFING</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80160"/>
            <a:ext cx="10058400" cy="731520"/>
          </a:xfrm>
          <a:prstGeom prst="rect">
            <a:avLst/>
          </a:prstGeom>
          <a:noFill/>
        </p:spPr>
        <p:txBody>
          <a:bodyPr wrap="square"/>
          <a:lstStyle/>
          <a:p>
            <a:pPr algn="l">
              <a:spcBef>
                <a:spcPts val="0"/>
              </a:spcBef>
              <a:spcAft>
                <a:spcPts val="0"/>
              </a:spcAft>
              <a:defRPr sz="2400" b="0">
                <a:solidFill>
                  <a:srgbClr val="FFFFFF"/>
                </a:solidFill>
                <a:latin typeface="Courier New"/>
              </a:defRPr>
            </a:pPr>
            <a:r>
              <a:rPr lang="en-GB" altLang="en-GB"/>
              <a:t>Before any title enters Jamf Auto Update, we build</a:t>
            </a:r>
            <a:br/>
            <a:r>
              <a:rPr lang="en-GB" altLang="en-GB"/>
              <a:t>a safety snapshot of the asset.</a:t>
            </a:r>
          </a:p>
        </p:txBody>
      </p:sp>
      <p:sp>
        <p:nvSpPr>
          <p:cNvPr id="5" name="TextBox 4"/>
          <p:cNvSpPr txBox="1"/>
          <p:nvPr/>
        </p:nvSpPr>
        <p:spPr>
          <a:xfrm>
            <a:off x="731520" y="2377440"/>
            <a:ext cx="10515600" cy="3904487"/>
          </a:xfrm>
          <a:prstGeom prst="rect">
            <a:avLst/>
          </a:prstGeom>
          <a:noFill/>
        </p:spPr>
        <p:txBody>
          <a:bodyPr wrap="square">
            <a:spAutoFit/>
          </a:bodyPr>
          <a:lstStyle/>
          <a:p>
            <a:pPr algn="l">
              <a:spcAft>
                <a:spcPts val="200"/>
              </a:spcAft>
              <a:defRPr sz="2000" b="1">
                <a:solidFill>
                  <a:srgbClr val="CC2424"/>
                </a:solidFill>
                <a:latin typeface="Courier New"/>
              </a:defRPr>
            </a:pPr>
            <a:r>
              <a:rPr lang="en-GB" altLang="en-GB"/>
              <a:t>OPERATION PHASES:</a:t>
            </a:r>
          </a:p>
          <a:p>
            <a:pPr algn="l">
              <a:spcAft>
                <a:spcPts val="200"/>
              </a:spcAft>
              <a:defRPr sz="400" b="0">
                <a:solidFill>
                  <a:srgbClr val="888888"/>
                </a:solidFill>
                <a:latin typeface="Courier New"/>
              </a:defRPr>
            </a:pPr>
            <a:endParaRPr lang="en-GB" altLang="en-GB"/>
          </a:p>
          <a:p>
            <a:pPr algn="l">
              <a:spcAft>
                <a:spcPts val="200"/>
              </a:spcAft>
              <a:defRPr sz="1800" b="0">
                <a:solidFill>
                  <a:srgbClr val="CCCCCC"/>
                </a:solidFill>
                <a:latin typeface="Courier New"/>
              </a:defRPr>
            </a:pPr>
            <a:r>
              <a:rPr lang="en-GB" altLang="en-GB"/>
              <a:t>  1 ░  PROFILE         — Collect system data and state, tool details</a:t>
            </a:r>
          </a:p>
          <a:p>
            <a:pPr algn="l">
              <a:spcAft>
                <a:spcPts val="200"/>
              </a:spcAft>
              <a:defRPr sz="1800" b="0">
                <a:solidFill>
                  <a:srgbClr val="CCCCCC"/>
                </a:solidFill>
                <a:latin typeface="Courier New"/>
              </a:defRPr>
            </a:pPr>
            <a:r>
              <a:rPr lang="en-GB" altLang="en-GB"/>
              <a:t>  2 ░  MONITOR         — Start real-time surveillance</a:t>
            </a:r>
          </a:p>
          <a:p>
            <a:pPr algn="l">
              <a:spcAft>
                <a:spcPts val="200"/>
              </a:spcAft>
              <a:defRPr sz="1800" b="0">
                <a:solidFill>
                  <a:srgbClr val="CCCCCC"/>
                </a:solidFill>
                <a:latin typeface="Courier New"/>
              </a:defRPr>
            </a:pPr>
            <a:r>
              <a:rPr lang="en-GB" altLang="en-GB"/>
              <a:t>  3 ░  SCAN            — Run the asset through intelligence systems</a:t>
            </a:r>
          </a:p>
          <a:p>
            <a:pPr algn="l">
              <a:spcAft>
                <a:spcPts val="200"/>
              </a:spcAft>
              <a:defRPr sz="1800" b="0">
                <a:solidFill>
                  <a:srgbClr val="CCCCCC"/>
                </a:solidFill>
                <a:latin typeface="Courier New"/>
              </a:defRPr>
            </a:pPr>
            <a:r>
              <a:rPr lang="en-GB" altLang="en-GB"/>
              <a:t>  4 ░  INSTALL         — Deploy the asset in isolation</a:t>
            </a:r>
          </a:p>
          <a:p>
            <a:pPr algn="l">
              <a:spcAft>
                <a:spcPts val="200"/>
              </a:spcAft>
              <a:defRPr sz="1800" b="0">
                <a:solidFill>
                  <a:srgbClr val="CCCCCC"/>
                </a:solidFill>
                <a:latin typeface="Courier New"/>
              </a:defRPr>
            </a:pPr>
            <a:r>
              <a:rPr lang="en-GB" altLang="en-GB"/>
              <a:t>  5 ░  ANALYSE         — Inspect the asset and monitor behaviour</a:t>
            </a:r>
          </a:p>
          <a:p>
            <a:pPr algn="l">
              <a:spcAft>
                <a:spcPts val="200"/>
              </a:spcAft>
              <a:defRPr sz="1800" b="0">
                <a:solidFill>
                  <a:srgbClr val="CCCCCC"/>
                </a:solidFill>
                <a:latin typeface="Courier New"/>
              </a:defRPr>
            </a:pPr>
            <a:r>
              <a:rPr lang="en-GB" altLang="en-GB"/>
              <a:t>  6 ░  UNINSTALL       — Remove the asset &amp; verify clean extraction</a:t>
            </a:r>
          </a:p>
          <a:p>
            <a:pPr algn="l">
              <a:spcAft>
                <a:spcPts val="200"/>
              </a:spcAft>
              <a:defRPr sz="1800" b="0">
                <a:solidFill>
                  <a:srgbClr val="CCCCCC"/>
                </a:solidFill>
                <a:latin typeface="Courier New"/>
              </a:defRPr>
            </a:pPr>
            <a:r>
              <a:rPr lang="en-GB" altLang="en-GB"/>
              <a:t>  7 ░  STOP MONITORING — Stand down real-time surveillance</a:t>
            </a:r>
          </a:p>
          <a:p>
            <a:pPr algn="l">
              <a:spcAft>
                <a:spcPts val="200"/>
              </a:spcAft>
              <a:defRPr sz="1800" b="0">
                <a:solidFill>
                  <a:srgbClr val="CCCCCC"/>
                </a:solidFill>
                <a:latin typeface="Courier New"/>
              </a:defRPr>
            </a:pPr>
            <a:r>
              <a:rPr lang="en-GB" altLang="en-GB"/>
              <a:t>  8 ░  REPORT          — Compile the full dossier</a:t>
            </a:r>
          </a:p>
          <a:p>
            <a:pPr algn="l">
              <a:spcAft>
                <a:spcPts val="200"/>
              </a:spcAft>
              <a:defRPr sz="1800" b="0">
                <a:solidFill>
                  <a:srgbClr val="CCCCCC"/>
                </a:solidFill>
                <a:latin typeface="Courier New"/>
              </a:defRPr>
            </a:pPr>
            <a:r>
              <a:rPr lang="en-GB" altLang="en-GB"/>
              <a:t>  9 ░  DECIDE          — Clear or reject</a:t>
            </a:r>
          </a:p>
          <a:p>
            <a:pPr algn="l">
              <a:spcAft>
                <a:spcPts val="200"/>
              </a:spcAft>
              <a:defRPr sz="400" b="0">
                <a:solidFill>
                  <a:srgbClr val="888888"/>
                </a:solidFill>
                <a:latin typeface="Courier New"/>
              </a:defRPr>
            </a:pPr>
            <a:endParaRPr lang="en-GB" altLang="en-GB"/>
          </a:p>
          <a:p>
            <a:pPr algn="l">
              <a:spcAft>
                <a:spcPts val="200"/>
              </a:spcAft>
              <a:defRPr sz="400" b="0">
                <a:solidFill>
                  <a:srgbClr val="888888"/>
                </a:solidFill>
                <a:latin typeface="Courier New"/>
              </a:defRPr>
            </a:pPr>
            <a:endParaRPr lang="en-GB" altLang="en-GB"/>
          </a:p>
          <a:p>
            <a:pPr algn="l">
              <a:spcAft>
                <a:spcPts val="200"/>
              </a:spcAft>
              <a:defRPr sz="1800" b="0">
                <a:solidFill>
                  <a:srgbClr val="00C853"/>
                </a:solidFill>
                <a:latin typeface="Courier New"/>
              </a:defRPr>
            </a:pPr>
            <a:r>
              <a:rPr lang="en-GB" altLang="en-GB"/>
              <a:t>All using open-source and free-to-use tools.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FIELD EQUIPMENT</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0972800" cy="365760"/>
          </a:xfrm>
          <a:prstGeom prst="rect">
            <a:avLst/>
          </a:prstGeom>
          <a:noFill/>
        </p:spPr>
        <p:txBody>
          <a:bodyPr wrap="square"/>
          <a:lstStyle/>
          <a:p>
            <a:pPr algn="l">
              <a:spcBef>
                <a:spcPts val="0"/>
              </a:spcBef>
              <a:spcAft>
                <a:spcPts val="0"/>
              </a:spcAft>
              <a:defRPr sz="1700" b="1">
                <a:solidFill>
                  <a:srgbClr val="CC2424"/>
                </a:solidFill>
                <a:latin typeface="Courier New"/>
              </a:defRPr>
            </a:pPr>
            <a:r>
              <a:rPr lang="en-GB" altLang="en-GB"/>
              <a:t>  DIVISION               EQUIPMENT                        CODENAME</a:t>
            </a:r>
          </a:p>
        </p:txBody>
      </p:sp>
      <p:sp>
        <p:nvSpPr>
          <p:cNvPr id="5" name="TextBox 4"/>
          <p:cNvSpPr txBox="1"/>
          <p:nvPr/>
        </p:nvSpPr>
        <p:spPr>
          <a:xfrm>
            <a:off x="548640" y="1664208"/>
            <a:ext cx="10972800" cy="365760"/>
          </a:xfrm>
          <a:prstGeom prst="rect">
            <a:avLst/>
          </a:prstGeom>
          <a:noFill/>
        </p:spPr>
        <p:txBody>
          <a:bodyPr wrap="square"/>
          <a:lstStyle/>
          <a:p>
            <a:pPr algn="l">
              <a:spcBef>
                <a:spcPts val="0"/>
              </a:spcBef>
              <a:spcAft>
                <a:spcPts val="0"/>
              </a:spcAft>
              <a:defRPr sz="1700" b="0">
                <a:solidFill>
                  <a:srgbClr val="888888"/>
                </a:solidFill>
                <a:latin typeface="Courier New"/>
              </a:defRPr>
            </a:pPr>
            <a:r>
              <a:rPr lang="en-GB" altLang="en-GB"/>
              <a:t>  ────────────────────   ──────────────────────────────   ────────────────────</a:t>
            </a:r>
          </a:p>
        </p:txBody>
      </p:sp>
      <p:sp>
        <p:nvSpPr>
          <p:cNvPr id="6" name="TextBox 5"/>
          <p:cNvSpPr txBox="1"/>
          <p:nvPr/>
        </p:nvSpPr>
        <p:spPr>
          <a:xfrm>
            <a:off x="548640" y="2048256"/>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Malware Intel          VirusTotal                       70+ intel agencies</a:t>
            </a:r>
          </a:p>
        </p:txBody>
      </p:sp>
      <p:sp>
        <p:nvSpPr>
          <p:cNvPr id="7" name="TextBox 6"/>
          <p:cNvSpPr txBox="1"/>
          <p:nvPr/>
        </p:nvSpPr>
        <p:spPr>
          <a:xfrm>
            <a:off x="548640" y="2432304"/>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Binary Polygraph       Jamf ThreatLabs                  Mach-O deep scan</a:t>
            </a:r>
          </a:p>
        </p:txBody>
      </p:sp>
      <p:sp>
        <p:nvSpPr>
          <p:cNvPr id="8" name="TextBox 7"/>
          <p:cNvSpPr txBox="1"/>
          <p:nvPr/>
        </p:nvSpPr>
        <p:spPr>
          <a:xfrm>
            <a:off x="548640" y="2816352"/>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Sleeper Detection      KnockKnock                       Persistence sweep</a:t>
            </a:r>
          </a:p>
        </p:txBody>
      </p:sp>
      <p:sp>
        <p:nvSpPr>
          <p:cNvPr id="9" name="TextBox 8"/>
          <p:cNvSpPr txBox="1"/>
          <p:nvPr/>
        </p:nvSpPr>
        <p:spPr>
          <a:xfrm>
            <a:off x="548640" y="3200400"/>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Counter-Surveillance   BlockBlock                       Persistence alerts</a:t>
            </a:r>
          </a:p>
        </p:txBody>
      </p:sp>
      <p:sp>
        <p:nvSpPr>
          <p:cNvPr id="10" name="TextBox 9"/>
          <p:cNvSpPr txBox="1"/>
          <p:nvPr/>
        </p:nvSpPr>
        <p:spPr>
          <a:xfrm>
            <a:off x="548640" y="3584448"/>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Comms Intercept        LuLu                             Network monitoring</a:t>
            </a:r>
          </a:p>
        </p:txBody>
      </p:sp>
      <p:sp>
        <p:nvSpPr>
          <p:cNvPr id="11" name="TextBox 10"/>
          <p:cNvSpPr txBox="1"/>
          <p:nvPr/>
        </p:nvSpPr>
        <p:spPr>
          <a:xfrm>
            <a:off x="548640" y="3968496"/>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Border Security        XProtect                         Apple's own guard</a:t>
            </a:r>
          </a:p>
        </p:txBody>
      </p:sp>
      <p:sp>
        <p:nvSpPr>
          <p:cNvPr id="12" name="TextBox 11"/>
          <p:cNvSpPr txBox="1"/>
          <p:nvPr/>
        </p:nvSpPr>
        <p:spPr>
          <a:xfrm>
            <a:off x="548640" y="4352544"/>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Ransom Watch           RansomWhere                      Encryption detection</a:t>
            </a:r>
          </a:p>
        </p:txBody>
      </p:sp>
      <p:sp>
        <p:nvSpPr>
          <p:cNvPr id="13" name="TextBox 12"/>
          <p:cNvSpPr txBox="1"/>
          <p:nvPr/>
        </p:nvSpPr>
        <p:spPr>
          <a:xfrm>
            <a:off x="548640" y="4736592"/>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Audio/Visual           OverSight                        Camera / mic watch</a:t>
            </a:r>
          </a:p>
        </p:txBody>
      </p:sp>
      <p:sp>
        <p:nvSpPr>
          <p:cNvPr id="14" name="TextBox 13"/>
          <p:cNvSpPr txBox="1"/>
          <p:nvPr/>
        </p:nvSpPr>
        <p:spPr>
          <a:xfrm>
            <a:off x="548640" y="5120640"/>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Keylogger Sweep        ReiKey                           Keyboard events</a:t>
            </a:r>
          </a:p>
        </p:txBody>
      </p:sp>
      <p:sp>
        <p:nvSpPr>
          <p:cNvPr id="15" name="TextBox 14"/>
          <p:cNvSpPr txBox="1"/>
          <p:nvPr/>
        </p:nvSpPr>
        <p:spPr>
          <a:xfrm>
            <a:off x="548640" y="5504688"/>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Supply Chain           DHS                              Dylib hijack scan</a:t>
            </a:r>
          </a:p>
        </p:txBody>
      </p:sp>
      <p:sp>
        <p:nvSpPr>
          <p:cNvPr id="16" name="TextBox 15"/>
          <p:cNvSpPr txBox="1"/>
          <p:nvPr/>
        </p:nvSpPr>
        <p:spPr>
          <a:xfrm>
            <a:off x="548640" y="5888736"/>
            <a:ext cx="10972800" cy="365760"/>
          </a:xfrm>
          <a:prstGeom prst="rect">
            <a:avLst/>
          </a:prstGeom>
          <a:noFill/>
        </p:spPr>
        <p:txBody>
          <a:bodyPr wrap="square"/>
          <a:lstStyle/>
          <a:p>
            <a:pPr algn="l">
              <a:spcBef>
                <a:spcPts val="0"/>
              </a:spcBef>
              <a:spcAft>
                <a:spcPts val="0"/>
              </a:spcAft>
              <a:defRPr sz="1700" b="0">
                <a:solidFill>
                  <a:srgbClr val="CCCCCC"/>
                </a:solidFill>
                <a:latin typeface="Courier New"/>
              </a:defRPr>
            </a:pPr>
            <a:r>
              <a:rPr lang="en-GB" altLang="en-GB"/>
              <a:t>  Pkg Inspection         pkgcheck                         Deprecated deps scan</a:t>
            </a:r>
          </a:p>
        </p:txBody>
      </p:sp>
      <p:sp>
        <p:nvSpPr>
          <p:cNvPr id="17" name="TextBox 16"/>
          <p:cNvSpPr txBox="1"/>
          <p:nvPr/>
        </p:nvSpPr>
        <p:spPr>
          <a:xfrm>
            <a:off x="548640" y="6272784"/>
            <a:ext cx="10972800" cy="365760"/>
          </a:xfrm>
          <a:prstGeom prst="rect">
            <a:avLst/>
          </a:prstGeom>
          <a:noFill/>
        </p:spPr>
        <p:txBody>
          <a:bodyPr wrap="square"/>
          <a:lstStyle/>
          <a:p>
            <a:pPr algn="l">
              <a:spcBef>
                <a:spcPts val="0"/>
              </a:spcBef>
              <a:spcAft>
                <a:spcPts val="0"/>
              </a:spcAft>
              <a:defRPr sz="1700" b="0">
                <a:solidFill>
                  <a:srgbClr val="00C853"/>
                </a:solidFill>
                <a:latin typeface="Courier New"/>
              </a:defRPr>
            </a:pPr>
            <a:r>
              <a:rPr lang="en-GB" altLang="en-GB"/>
              <a:t>  Orchestration          Title Tester                     The handler (Python)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VIRUSTOTAL</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029200" cy="3657600"/>
          </a:xfrm>
          <a:prstGeom prst="rect">
            <a:avLst/>
          </a:prstGeom>
          <a:noFill/>
        </p:spPr>
        <p:txBody>
          <a:bodyPr wrap="square">
            <a:spAutoFit/>
          </a:bodyPr>
          <a:lstStyle/>
          <a:p>
            <a:pPr algn="l">
              <a:spcAft>
                <a:spcPts val="100"/>
              </a:spcAft>
              <a:defRPr sz="2200" b="1">
                <a:solidFill>
                  <a:srgbClr val="FFFFFF"/>
                </a:solidFill>
                <a:latin typeface="Courier New"/>
              </a:defRPr>
            </a:pPr>
            <a:r>
              <a:rPr lang="en-GB" altLang="en-GB"/>
              <a:t>70+ antivirus engines in one scan</a:t>
            </a:r>
          </a:p>
          <a:p>
            <a:pPr algn="l">
              <a:spcAft>
                <a:spcPts val="100"/>
              </a:spcAft>
              <a:defRPr sz="400" b="0">
                <a:solidFill>
                  <a:srgbClr val="888888"/>
                </a:solidFill>
                <a:latin typeface="Courier New"/>
              </a:defRPr>
            </a:pPr>
            <a:endParaRPr lang="en-GB" altLang="en-GB"/>
          </a:p>
          <a:p>
            <a:pPr algn="l">
              <a:spcAft>
                <a:spcPts val="100"/>
              </a:spcAft>
              <a:defRPr sz="1600" b="0">
                <a:solidFill>
                  <a:srgbClr val="CCCCCC"/>
                </a:solidFill>
                <a:latin typeface="Courier New"/>
              </a:defRPr>
            </a:pPr>
            <a:r>
              <a:rPr lang="en-GB" altLang="en-GB"/>
              <a:t>We use VirusTotal for two things:</a:t>
            </a:r>
          </a:p>
          <a:p>
            <a:pPr algn="l">
              <a:spcAft>
                <a:spcPts val="100"/>
              </a:spcAft>
              <a:defRPr sz="400" b="0">
                <a:solidFill>
                  <a:srgbClr val="888888"/>
                </a:solidFill>
                <a:latin typeface="Courier New"/>
              </a:defRPr>
            </a:pPr>
            <a:endParaRPr lang="en-GB" altLang="en-GB"/>
          </a:p>
          <a:p>
            <a:pPr algn="l">
              <a:spcAft>
                <a:spcPts val="100"/>
              </a:spcAft>
              <a:defRPr sz="1600" b="0">
                <a:solidFill>
                  <a:srgbClr val="CCCCCC"/>
                </a:solidFill>
                <a:latin typeface="Courier New"/>
              </a:defRPr>
            </a:pPr>
            <a:r>
              <a:rPr lang="en-GB" altLang="en-GB"/>
              <a:t>  1.  Upload installer media</a:t>
            </a:r>
          </a:p>
          <a:p>
            <a:pPr algn="l">
              <a:spcAft>
                <a:spcPts val="100"/>
              </a:spcAft>
              <a:defRPr sz="1400" b="0">
                <a:solidFill>
                  <a:srgbClr val="888888"/>
                </a:solidFill>
                <a:latin typeface="Courier New"/>
              </a:defRPr>
            </a:pPr>
            <a:r>
              <a:rPr lang="en-GB" altLang="en-GB"/>
              <a:t>      (DMG, PKG, ZIP — up to 600MB)</a:t>
            </a:r>
          </a:p>
          <a:p>
            <a:pPr algn="l">
              <a:spcAft>
                <a:spcPts val="100"/>
              </a:spcAft>
              <a:defRPr sz="200" b="0">
                <a:solidFill>
                  <a:srgbClr val="888888"/>
                </a:solidFill>
                <a:latin typeface="Courier New"/>
              </a:defRPr>
            </a:pPr>
            <a:endParaRPr lang="en-GB" altLang="en-GB"/>
          </a:p>
          <a:p>
            <a:pPr algn="l">
              <a:spcAft>
                <a:spcPts val="100"/>
              </a:spcAft>
              <a:defRPr sz="1600" b="0">
                <a:solidFill>
                  <a:srgbClr val="CCCCCC"/>
                </a:solidFill>
                <a:latin typeface="Courier New"/>
              </a:defRPr>
            </a:pPr>
            <a:r>
              <a:rPr lang="en-GB" altLang="en-GB"/>
              <a:t>  2.  Submit captured URLs/IPs</a:t>
            </a:r>
          </a:p>
          <a:p>
            <a:pPr algn="l">
              <a:spcAft>
                <a:spcPts val="100"/>
              </a:spcAft>
              <a:defRPr sz="1400" b="0">
                <a:solidFill>
                  <a:srgbClr val="888888"/>
                </a:solidFill>
                <a:latin typeface="Courier New"/>
              </a:defRPr>
            </a:pPr>
            <a:r>
              <a:rPr lang="en-GB" altLang="en-GB"/>
              <a:t>      (from LuLu network intercepts)</a:t>
            </a:r>
          </a:p>
          <a:p>
            <a:pPr algn="l">
              <a:spcAft>
                <a:spcPts val="100"/>
              </a:spcAft>
              <a:defRPr sz="600" b="0">
                <a:solidFill>
                  <a:srgbClr val="888888"/>
                </a:solidFill>
                <a:latin typeface="Courier New"/>
              </a:defRPr>
            </a:pPr>
            <a:endParaRPr lang="en-GB" altLang="en-GB"/>
          </a:p>
          <a:p>
            <a:pPr algn="l">
              <a:spcAft>
                <a:spcPts val="100"/>
              </a:spcAft>
              <a:defRPr sz="1600" b="1">
                <a:solidFill>
                  <a:srgbClr val="FFA500"/>
                </a:solidFill>
                <a:latin typeface="Courier New"/>
              </a:defRPr>
            </a:pPr>
            <a:r>
              <a:rPr lang="en-GB" altLang="en-GB"/>
              <a:t>API KEY REQUIRED</a:t>
            </a:r>
          </a:p>
          <a:p>
            <a:pPr algn="l">
              <a:spcAft>
                <a:spcPts val="100"/>
              </a:spcAft>
              <a:defRPr sz="1400" b="0">
                <a:solidFill>
                  <a:srgbClr val="CCCCCC"/>
                </a:solidFill>
                <a:latin typeface="Courier New"/>
              </a:defRPr>
            </a:pPr>
            <a:r>
              <a:rPr lang="en-GB" altLang="en-GB"/>
              <a:t>  •  Free public tier works fine</a:t>
            </a:r>
          </a:p>
          <a:p>
            <a:pPr algn="l">
              <a:spcAft>
                <a:spcPts val="100"/>
              </a:spcAft>
              <a:defRPr sz="1400" b="0">
                <a:solidFill>
                  <a:srgbClr val="CCCCCC"/>
                </a:solidFill>
                <a:latin typeface="Courier New"/>
              </a:defRPr>
            </a:pPr>
            <a:r>
              <a:rPr lang="en-GB" altLang="en-GB"/>
              <a:t>  •  600MB upload limit</a:t>
            </a:r>
          </a:p>
          <a:p>
            <a:pPr algn="l">
              <a:spcAft>
                <a:spcPts val="100"/>
              </a:spcAft>
              <a:defRPr sz="1400" b="0">
                <a:solidFill>
                  <a:srgbClr val="CCCCCC"/>
                </a:solidFill>
                <a:latin typeface="Courier New"/>
              </a:defRPr>
            </a:pPr>
            <a:r>
              <a:rPr lang="en-GB" altLang="en-GB"/>
              <a:t>  •  Fine for business workflows as</a:t>
            </a:r>
          </a:p>
          <a:p>
            <a:pPr algn="l">
              <a:spcAft>
                <a:spcPts val="100"/>
              </a:spcAft>
              <a:defRPr sz="1400" b="0">
                <a:solidFill>
                  <a:srgbClr val="CCCCCC"/>
                </a:solidFill>
                <a:latin typeface="Courier New"/>
              </a:defRPr>
            </a:pPr>
            <a:r>
              <a:rPr lang="en-GB" altLang="en-GB"/>
              <a:t>     long as you upload new samples</a:t>
            </a:r>
          </a:p>
          <a:p>
            <a:pPr algn="l">
              <a:spcAft>
                <a:spcPts val="100"/>
              </a:spcAft>
              <a:defRPr sz="600" b="0">
                <a:solidFill>
                  <a:srgbClr val="888888"/>
                </a:solidFill>
                <a:latin typeface="Courier New"/>
              </a:defRPr>
            </a:pPr>
            <a:endParaRPr lang="en-GB" altLang="en-GB"/>
          </a:p>
          <a:p>
            <a:pPr algn="l">
              <a:spcAft>
                <a:spcPts val="100"/>
              </a:spcAft>
              <a:defRPr sz="1600" b="1">
                <a:solidFill>
                  <a:srgbClr val="00C853"/>
                </a:solidFill>
                <a:latin typeface="Courier New"/>
              </a:defRPr>
            </a:pPr>
            <a:r>
              <a:rPr lang="en-GB" altLang="en-GB"/>
              <a:t>virustotal.com</a:t>
            </a:r>
          </a:p>
        </p:txBody>
      </p:sp>
      <p:pic>
        <p:nvPicPr>
          <p:cNvPr id="5" name="Picture 4" descr="screenshot_virustotal.png"/>
          <p:cNvPicPr>
            <a:picLocks noChangeAspect="1"/>
          </p:cNvPicPr>
          <p:nvPr/>
        </p:nvPicPr>
        <p:blipFill>
          <a:blip r:embed="rId3"/>
          <a:stretch>
            <a:fillRect/>
          </a:stretch>
        </p:blipFill>
        <p:spPr>
          <a:xfrm>
            <a:off x="6217920" y="1828800"/>
            <a:ext cx="5486400" cy="2807208"/>
          </a:xfrm>
          <a:prstGeom prst="rect">
            <a:avLst/>
          </a:prstGeom>
        </p:spPr>
      </p:pic>
      <p:sp>
        <p:nvSpPr>
          <p:cNvPr id="6" name="TextBox 5"/>
          <p:cNvSpPr txBox="1"/>
          <p:nvPr/>
        </p:nvSpPr>
        <p:spPr>
          <a:xfrm>
            <a:off x="731520" y="576072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OSX.Dummy (2018) — 0/60 AV engines; 3CX supply chain (2023) — 0 detections</a:t>
            </a:r>
          </a:p>
          <a:p>
            <a:pPr algn="l">
              <a:spcAft>
                <a:spcPts val="500"/>
              </a:spcAft>
              <a:defRPr sz="1300" b="1">
                <a:solidFill>
                  <a:srgbClr val="FFA500"/>
                </a:solidFill>
                <a:latin typeface="Courier New"/>
              </a:defRPr>
            </a:pPr>
            <a:r>
              <a:rPr lang="en-GB" altLang="en-GB"/>
              <a:t>objective-see.org/blog/blog_0x32.html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JAMF THREAT LABS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806440" cy="2724912"/>
          </a:xfrm>
          <a:prstGeom prst="rect">
            <a:avLst/>
          </a:prstGeom>
          <a:noFill/>
        </p:spPr>
        <p:txBody>
          <a:bodyPr wrap="square">
            <a:spAutoFit/>
          </a:bodyPr>
          <a:lstStyle/>
          <a:p>
            <a:pPr algn="l">
              <a:spcAft>
                <a:spcPts val="100"/>
              </a:spcAft>
              <a:defRPr sz="2200" b="1">
                <a:solidFill>
                  <a:srgbClr val="FFFFFF"/>
                </a:solidFill>
                <a:latin typeface="Courier New"/>
              </a:defRPr>
            </a:pPr>
            <a:r>
              <a:rPr lang="en-GB" altLang="en-GB"/>
              <a:t>Mach-O binary deep-scan</a:t>
            </a:r>
          </a:p>
          <a:p>
            <a:pPr algn="l">
              <a:spcAft>
                <a:spcPts val="100"/>
              </a:spcAft>
              <a:defRPr sz="400" b="0">
                <a:solidFill>
                  <a:srgbClr val="888888"/>
                </a:solidFill>
                <a:latin typeface="Courier New"/>
              </a:defRPr>
            </a:pPr>
            <a:endParaRPr lang="en-GB" altLang="en-GB"/>
          </a:p>
          <a:p>
            <a:pPr algn="l">
              <a:spcAft>
                <a:spcPts val="100"/>
              </a:spcAft>
              <a:defRPr sz="1600" b="0">
                <a:solidFill>
                  <a:srgbClr val="CCCCCC"/>
                </a:solidFill>
                <a:latin typeface="Courier New"/>
              </a:defRPr>
            </a:pPr>
            <a:r>
              <a:rPr lang="en-GB" altLang="en-GB"/>
              <a:t>  •  Scans executable binaries</a:t>
            </a:r>
          </a:p>
          <a:p>
            <a:pPr algn="l">
              <a:spcAft>
                <a:spcPts val="100"/>
              </a:spcAft>
              <a:defRPr sz="1600" b="0">
                <a:solidFill>
                  <a:srgbClr val="CCCCCC"/>
                </a:solidFill>
                <a:latin typeface="Courier New"/>
              </a:defRPr>
            </a:pPr>
            <a:r>
              <a:rPr lang="en-GB" altLang="en-GB"/>
              <a:t>  •  Validates Mach-O header signatures</a:t>
            </a:r>
          </a:p>
          <a:p>
            <a:pPr algn="l">
              <a:spcAft>
                <a:spcPts val="100"/>
              </a:spcAft>
              <a:defRPr sz="1600" b="0">
                <a:solidFill>
                  <a:srgbClr val="CCCCCC"/>
                </a:solidFill>
                <a:latin typeface="Courier New"/>
              </a:defRPr>
            </a:pPr>
            <a:r>
              <a:rPr lang="en-GB" altLang="en-GB"/>
              <a:t>  •  YARA rule matching</a:t>
            </a:r>
          </a:p>
          <a:p>
            <a:pPr algn="l">
              <a:spcAft>
                <a:spcPts val="100"/>
              </a:spcAft>
              <a:defRPr sz="1600" b="0">
                <a:solidFill>
                  <a:srgbClr val="CCCCCC"/>
                </a:solidFill>
                <a:latin typeface="Courier New"/>
              </a:defRPr>
            </a:pPr>
            <a:r>
              <a:rPr lang="en-GB" altLang="en-GB"/>
              <a:t>  •  Threat level classification</a:t>
            </a:r>
          </a:p>
          <a:p>
            <a:pPr algn="l">
              <a:spcAft>
                <a:spcPts val="100"/>
              </a:spcAft>
              <a:defRPr sz="600" b="0">
                <a:solidFill>
                  <a:srgbClr val="888888"/>
                </a:solidFill>
                <a:latin typeface="Courier New"/>
              </a:defRPr>
            </a:pPr>
            <a:endParaRPr lang="en-GB" altLang="en-GB"/>
          </a:p>
          <a:p>
            <a:pPr algn="l">
              <a:spcAft>
                <a:spcPts val="100"/>
              </a:spcAft>
              <a:defRPr sz="1600" b="1">
                <a:solidFill>
                  <a:srgbClr val="FFA500"/>
                </a:solidFill>
                <a:latin typeface="Courier New"/>
              </a:defRPr>
            </a:pPr>
            <a:r>
              <a:rPr lang="en-GB" altLang="en-GB"/>
              <a:t>API KEY REQUIRED - 30 day renewal</a:t>
            </a:r>
          </a:p>
          <a:p>
            <a:pPr algn="l">
              <a:spcAft>
                <a:spcPts val="100"/>
              </a:spcAft>
              <a:defRPr sz="1400" b="0">
                <a:solidFill>
                  <a:srgbClr val="CCCCCC"/>
                </a:solidFill>
                <a:latin typeface="Courier New"/>
              </a:defRPr>
            </a:pPr>
            <a:r>
              <a:rPr lang="en-GB" altLang="en-GB"/>
              <a:t>  •  Currently in beta for Jamf customers</a:t>
            </a:r>
          </a:p>
          <a:p>
            <a:pPr algn="l">
              <a:spcAft>
                <a:spcPts val="100"/>
              </a:spcAft>
              <a:defRPr sz="1400" b="1">
                <a:solidFill>
                  <a:srgbClr val="00C853"/>
                </a:solidFill>
                <a:latin typeface="Courier New"/>
              </a:defRPr>
            </a:pPr>
            <a:r>
              <a:rPr lang="en-GB" altLang="en-GB"/>
              <a:t>  •  Speak to Ben or Paul for an invite to the beta!</a:t>
            </a:r>
          </a:p>
          <a:p>
            <a:pPr algn="l">
              <a:spcAft>
                <a:spcPts val="100"/>
              </a:spcAft>
              <a:defRPr sz="600" b="0">
                <a:solidFill>
                  <a:srgbClr val="888888"/>
                </a:solidFill>
                <a:latin typeface="Courier New"/>
              </a:defRPr>
            </a:pPr>
            <a:endParaRPr lang="en-GB" altLang="en-GB"/>
          </a:p>
        </p:txBody>
      </p:sp>
      <p:pic>
        <p:nvPicPr>
          <p:cNvPr id="5" name="Picture 4" descr="screenshot_threatlabs_welcome.png"/>
          <p:cNvPicPr>
            <a:picLocks noChangeAspect="1"/>
          </p:cNvPicPr>
          <p:nvPr/>
        </p:nvPicPr>
        <p:blipFill>
          <a:blip r:embed="rId3"/>
          <a:stretch>
            <a:fillRect/>
          </a:stretch>
        </p:blipFill>
        <p:spPr>
          <a:xfrm>
            <a:off x="7132320" y="1188720"/>
            <a:ext cx="3108960" cy="4572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JAMF THREAT LABS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creenshot_threatlabs_dashboard.png"/>
          <p:cNvPicPr>
            <a:picLocks noChangeAspect="1"/>
          </p:cNvPicPr>
          <p:nvPr/>
        </p:nvPicPr>
        <p:blipFill>
          <a:blip r:embed="rId3"/>
          <a:stretch>
            <a:fillRect/>
          </a:stretch>
        </p:blipFill>
        <p:spPr>
          <a:xfrm>
            <a:off x="2651760" y="1280160"/>
            <a:ext cx="6858000" cy="5212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THREAT LABS: VIEW RESULTS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creenshot_threatlabs_results_std.png"/>
          <p:cNvPicPr>
            <a:picLocks noChangeAspect="1"/>
          </p:cNvPicPr>
          <p:nvPr/>
        </p:nvPicPr>
        <p:blipFill>
          <a:blip r:embed="rId3"/>
          <a:stretch>
            <a:fillRect/>
          </a:stretch>
        </p:blipFill>
        <p:spPr>
          <a:xfrm>
            <a:off x="274320" y="1188720"/>
            <a:ext cx="3749039" cy="3410712"/>
          </a:xfrm>
          <a:prstGeom prst="rect">
            <a:avLst/>
          </a:prstGeom>
        </p:spPr>
      </p:pic>
      <p:pic>
        <p:nvPicPr>
          <p:cNvPr id="5" name="Picture 4" descr="screenshot_threatlabs_results_ai.png"/>
          <p:cNvPicPr>
            <a:picLocks noChangeAspect="1"/>
          </p:cNvPicPr>
          <p:nvPr/>
        </p:nvPicPr>
        <p:blipFill>
          <a:blip r:embed="rId4"/>
          <a:stretch>
            <a:fillRect/>
          </a:stretch>
        </p:blipFill>
        <p:spPr>
          <a:xfrm>
            <a:off x="4206240" y="1188720"/>
            <a:ext cx="3749039" cy="2743200"/>
          </a:xfrm>
          <a:prstGeom prst="rect">
            <a:avLst/>
          </a:prstGeom>
        </p:spPr>
      </p:pic>
      <p:pic>
        <p:nvPicPr>
          <p:cNvPr id="6" name="Picture 5" descr="screenshot_threatlabs_results_beh.png"/>
          <p:cNvPicPr>
            <a:picLocks noChangeAspect="1"/>
          </p:cNvPicPr>
          <p:nvPr/>
        </p:nvPicPr>
        <p:blipFill>
          <a:blip r:embed="rId5"/>
          <a:stretch>
            <a:fillRect/>
          </a:stretch>
        </p:blipFill>
        <p:spPr>
          <a:xfrm>
            <a:off x="8138160" y="1188720"/>
            <a:ext cx="3749039" cy="368503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LULU</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029200" cy="3200400"/>
          </a:xfrm>
          <a:prstGeom prst="rect">
            <a:avLst/>
          </a:prstGeom>
          <a:noFill/>
        </p:spPr>
        <p:txBody>
          <a:bodyPr wrap="square">
            <a:spAutoFit/>
          </a:bodyPr>
          <a:lstStyle/>
          <a:p>
            <a:pPr algn="l">
              <a:spcAft>
                <a:spcPts val="500"/>
              </a:spcAft>
              <a:defRPr sz="2200" b="1">
                <a:solidFill>
                  <a:srgbClr val="FFFFFF"/>
                </a:solidFill>
                <a:latin typeface="Courier New"/>
              </a:defRPr>
            </a:pPr>
            <a:r>
              <a:rPr lang="en-GB" altLang="en-GB"/>
              <a:t>macOS firewall</a:t>
            </a:r>
          </a:p>
          <a:p>
            <a:pPr algn="l">
              <a:spcAft>
                <a:spcPts val="500"/>
              </a:spcAft>
              <a:defRPr sz="400" b="0">
                <a:solidFill>
                  <a:srgbClr val="888888"/>
                </a:solidFill>
                <a:latin typeface="Courier New"/>
              </a:defRPr>
            </a:pPr>
            <a:endParaRPr lang="en-GB" altLang="en-GB"/>
          </a:p>
          <a:p>
            <a:pPr algn="l">
              <a:spcAft>
                <a:spcPts val="500"/>
              </a:spcAft>
              <a:defRPr sz="1500" b="0">
                <a:solidFill>
                  <a:srgbClr val="CCCCCC"/>
                </a:solidFill>
                <a:latin typeface="Courier New"/>
              </a:defRPr>
            </a:pPr>
            <a:r>
              <a:rPr lang="en-GB" altLang="en-GB"/>
              <a:t>  •  Monitors all outbound connections</a:t>
            </a:r>
          </a:p>
          <a:p>
            <a:pPr algn="l">
              <a:spcAft>
                <a:spcPts val="500"/>
              </a:spcAft>
              <a:defRPr sz="1500" b="0">
                <a:solidFill>
                  <a:srgbClr val="CCCCCC"/>
                </a:solidFill>
                <a:latin typeface="Courier New"/>
              </a:defRPr>
            </a:pPr>
            <a:r>
              <a:rPr lang="en-GB" altLang="en-GB"/>
              <a:t>  •  Intercepts URLs/IPs for VT analysis</a:t>
            </a:r>
          </a:p>
          <a:p>
            <a:pPr algn="l">
              <a:spcAft>
                <a:spcPts val="500"/>
              </a:spcAft>
              <a:defRPr sz="400" b="0">
                <a:solidFill>
                  <a:srgbClr val="888888"/>
                </a:solidFill>
                <a:latin typeface="Courier New"/>
              </a:defRPr>
            </a:pPr>
            <a:endParaRPr lang="en-GB" altLang="en-GB"/>
          </a:p>
          <a:p>
            <a:pPr algn="l">
              <a:spcAft>
                <a:spcPts val="500"/>
              </a:spcAft>
              <a:defRPr sz="1600" b="1">
                <a:solidFill>
                  <a:srgbClr val="FFA500"/>
                </a:solidFill>
                <a:latin typeface="Courier New"/>
              </a:defRPr>
            </a:pPr>
            <a:r>
              <a:rPr lang="en-GB" altLang="en-GB"/>
              <a:t>objective-see.org/products/lulu.html</a:t>
            </a:r>
          </a:p>
        </p:txBody>
      </p:sp>
      <p:pic>
        <p:nvPicPr>
          <p:cNvPr id="5" name="Picture 4" descr="alert_lulu.png"/>
          <p:cNvPicPr>
            <a:picLocks noChangeAspect="1"/>
          </p:cNvPicPr>
          <p:nvPr/>
        </p:nvPicPr>
        <p:blipFill>
          <a:blip r:embed="rId3"/>
          <a:stretch>
            <a:fillRect/>
          </a:stretch>
        </p:blipFill>
        <p:spPr>
          <a:xfrm>
            <a:off x="6217920" y="1188720"/>
            <a:ext cx="5486400" cy="3200400"/>
          </a:xfrm>
          <a:prstGeom prst="rect">
            <a:avLst/>
          </a:prstGeom>
        </p:spPr>
      </p:pic>
      <p:sp>
        <p:nvSpPr>
          <p:cNvPr id="6" name="TextBox 5"/>
          <p:cNvSpPr txBox="1"/>
          <p:nvPr/>
        </p:nvSpPr>
        <p:spPr>
          <a:xfrm>
            <a:off x="731520" y="484632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UNIFIED LOG:</a:t>
            </a:r>
          </a:p>
        </p:txBody>
      </p:sp>
      <p:sp>
        <p:nvSpPr>
          <p:cNvPr id="7" name="TextBox 6"/>
          <p:cNvSpPr txBox="1"/>
          <p:nvPr/>
        </p:nvSpPr>
        <p:spPr>
          <a:xfrm>
            <a:off x="731520" y="5303520"/>
            <a:ext cx="10515600" cy="640080"/>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log stream --level debug --predicate "subsystem='com.objective-see.lulu'"</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Events: (user) response:, presenting alert, creating rule</a:t>
            </a:r>
          </a:p>
        </p:txBody>
      </p:sp>
      <p:sp>
        <p:nvSpPr>
          <p:cNvPr id="8" name="TextBox 7"/>
          <p:cNvSpPr txBox="1"/>
          <p:nvPr/>
        </p:nvSpPr>
        <p:spPr>
          <a:xfrm>
            <a:off x="731520" y="603504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OSX.Dummy (2018) — LuLu caught reverse shell to 185.243.115.230:1337</a:t>
            </a:r>
          </a:p>
          <a:p>
            <a:pPr algn="l">
              <a:spcAft>
                <a:spcPts val="500"/>
              </a:spcAft>
              <a:defRPr sz="1300" b="1">
                <a:solidFill>
                  <a:srgbClr val="FFA500"/>
                </a:solidFill>
                <a:latin typeface="Courier New"/>
              </a:defRPr>
            </a:pPr>
            <a:r>
              <a:rPr lang="en-GB" altLang="en-GB"/>
              <a:t>objective-see.org/blog/blog_0x32.html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BLOCKBLOCK</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74904" y="1188720"/>
            <a:ext cx="5385816" cy="1901952"/>
          </a:xfrm>
          <a:prstGeom prst="rect">
            <a:avLst/>
          </a:prstGeom>
          <a:noFill/>
        </p:spPr>
        <p:txBody>
          <a:bodyPr wrap="square">
            <a:spAutoFit/>
          </a:bodyPr>
          <a:lstStyle/>
          <a:p>
            <a:pPr algn="l">
              <a:spcAft>
                <a:spcPts val="200"/>
              </a:spcAft>
              <a:defRPr sz="2200" b="1">
                <a:solidFill>
                  <a:srgbClr val="FFFFFF"/>
                </a:solidFill>
                <a:latin typeface="Courier New"/>
              </a:defRPr>
            </a:pPr>
            <a:r>
              <a:rPr lang="en-GB" altLang="en-GB"/>
              <a:t>Persistence mechanism monitor</a:t>
            </a:r>
          </a:p>
          <a:p>
            <a:pPr algn="l">
              <a:spcAft>
                <a:spcPts val="200"/>
              </a:spcAft>
              <a:defRPr sz="400" b="0">
                <a:solidFill>
                  <a:srgbClr val="888888"/>
                </a:solidFill>
                <a:latin typeface="Courier New"/>
              </a:defRPr>
            </a:pPr>
            <a:endParaRPr lang="en-GB" altLang="en-GB"/>
          </a:p>
          <a:p>
            <a:pPr algn="l">
              <a:spcAft>
                <a:spcPts val="200"/>
              </a:spcAft>
              <a:defRPr sz="1500" b="0">
                <a:solidFill>
                  <a:srgbClr val="CCCCCC"/>
                </a:solidFill>
                <a:latin typeface="Courier New"/>
              </a:defRPr>
            </a:pPr>
            <a:r>
              <a:rPr lang="en-GB" altLang="en-GB"/>
              <a:t>  •  Monitors persistence locations</a:t>
            </a:r>
          </a:p>
          <a:p>
            <a:pPr algn="l">
              <a:spcAft>
                <a:spcPts val="200"/>
              </a:spcAft>
              <a:defRPr sz="1500" b="0">
                <a:solidFill>
                  <a:srgbClr val="CCCCCC"/>
                </a:solidFill>
                <a:latin typeface="Courier New"/>
              </a:defRPr>
            </a:pPr>
            <a:r>
              <a:rPr lang="en-GB" altLang="en-GB"/>
              <a:t>  •  Detects login items &amp; BTM changes</a:t>
            </a:r>
          </a:p>
          <a:p>
            <a:pPr algn="l">
              <a:spcAft>
                <a:spcPts val="200"/>
              </a:spcAft>
              <a:defRPr sz="1500" b="0">
                <a:solidFill>
                  <a:srgbClr val="CCCCCC"/>
                </a:solidFill>
                <a:latin typeface="Courier New"/>
              </a:defRPr>
            </a:pPr>
            <a:r>
              <a:rPr lang="en-GB" altLang="en-GB"/>
              <a:t>  •  ClickFix paste protection (v2.3.0+)</a:t>
            </a:r>
          </a:p>
          <a:p>
            <a:pPr algn="l">
              <a:spcAft>
                <a:spcPts val="200"/>
              </a:spcAft>
              <a:defRPr sz="1500" b="0">
                <a:solidFill>
                  <a:srgbClr val="CCCCCC"/>
                </a:solidFill>
                <a:latin typeface="Courier New"/>
              </a:defRPr>
            </a:pPr>
            <a:r>
              <a:rPr lang="en-GB" altLang="en-GB"/>
              <a:t>  •  Real-time allow/block decisions</a:t>
            </a:r>
          </a:p>
          <a:p>
            <a:pPr algn="l">
              <a:spcAft>
                <a:spcPts val="200"/>
              </a:spcAft>
              <a:defRPr sz="400" b="0">
                <a:solidFill>
                  <a:srgbClr val="888888"/>
                </a:solidFill>
                <a:latin typeface="Courier New"/>
              </a:defRPr>
            </a:pPr>
            <a:endParaRPr lang="en-GB" altLang="en-GB"/>
          </a:p>
          <a:p>
            <a:pPr algn="l">
              <a:spcAft>
                <a:spcPts val="200"/>
              </a:spcAft>
              <a:defRPr sz="1600" b="1">
                <a:solidFill>
                  <a:srgbClr val="FFA500"/>
                </a:solidFill>
                <a:latin typeface="Courier New"/>
              </a:defRPr>
            </a:pPr>
            <a:r>
              <a:rPr lang="en-GB" altLang="en-GB"/>
              <a:t>objectivesee.org/products/blockblock.html</a:t>
            </a:r>
          </a:p>
        </p:txBody>
      </p:sp>
      <p:pic>
        <p:nvPicPr>
          <p:cNvPr id="5" name="Picture 4" descr="alert_blockblock.png"/>
          <p:cNvPicPr>
            <a:picLocks noChangeAspect="1"/>
          </p:cNvPicPr>
          <p:nvPr/>
        </p:nvPicPr>
        <p:blipFill>
          <a:blip r:embed="rId3"/>
          <a:stretch>
            <a:fillRect/>
          </a:stretch>
        </p:blipFill>
        <p:spPr>
          <a:xfrm>
            <a:off x="6217920" y="1188720"/>
            <a:ext cx="5486400" cy="3200400"/>
          </a:xfrm>
          <a:prstGeom prst="rect">
            <a:avLst/>
          </a:prstGeom>
        </p:spPr>
      </p:pic>
      <p:sp>
        <p:nvSpPr>
          <p:cNvPr id="6" name="TextBox 5"/>
          <p:cNvSpPr txBox="1"/>
          <p:nvPr/>
        </p:nvSpPr>
        <p:spPr>
          <a:xfrm>
            <a:off x="731520" y="484632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UNIFIED LOG:</a:t>
            </a:r>
          </a:p>
        </p:txBody>
      </p:sp>
      <p:sp>
        <p:nvSpPr>
          <p:cNvPr id="7" name="TextBox 6"/>
          <p:cNvSpPr txBox="1"/>
          <p:nvPr/>
        </p:nvSpPr>
        <p:spPr>
          <a:xfrm>
            <a:off x="731520" y="5303520"/>
            <a:ext cx="10515600" cy="713232"/>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log stream --predicate "subsystem == 'com.objective-see.blockblock'"</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Events: user says 'allow'/'block', installed a launch daemon/agent</a:t>
            </a:r>
          </a:p>
        </p:txBody>
      </p:sp>
      <p:sp>
        <p:nvSpPr>
          <p:cNvPr id="8" name="TextBox 7"/>
          <p:cNvSpPr txBox="1"/>
          <p:nvPr/>
        </p:nvSpPr>
        <p:spPr>
          <a:xfrm>
            <a:off x="731520" y="603504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OSX.Dummy (2018) — caught com.startup.plist LaunchDaemon persistence</a:t>
            </a:r>
          </a:p>
          <a:p>
            <a:pPr algn="l">
              <a:spcAft>
                <a:spcPts val="500"/>
              </a:spcAft>
              <a:defRPr sz="1300" b="1">
                <a:solidFill>
                  <a:srgbClr val="FFA500"/>
                </a:solidFill>
                <a:latin typeface="Courier New"/>
              </a:defRPr>
            </a:pPr>
            <a:r>
              <a:rPr lang="en-GB" altLang="en-GB"/>
              <a:t>objective-see.org/blog/blog_0x32.html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KNOCKKNOCK</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 y="1188720"/>
            <a:ext cx="5184648" cy="2057400"/>
          </a:xfrm>
          <a:prstGeom prst="rect">
            <a:avLst/>
          </a:prstGeom>
          <a:noFill/>
        </p:spPr>
        <p:txBody>
          <a:bodyPr wrap="square">
            <a:spAutoFit/>
          </a:bodyPr>
          <a:lstStyle/>
          <a:p>
            <a:pPr algn="l">
              <a:spcAft>
                <a:spcPts val="100"/>
              </a:spcAft>
              <a:defRPr sz="2200" b="1">
                <a:solidFill>
                  <a:srgbClr val="FFFFFF"/>
                </a:solidFill>
                <a:latin typeface="Courier New"/>
              </a:defRPr>
            </a:pPr>
            <a:r>
              <a:rPr lang="en-GB" altLang="en-GB"/>
              <a:t>Persistence mechanism scanner</a:t>
            </a:r>
          </a:p>
          <a:p>
            <a:pPr algn="l">
              <a:spcAft>
                <a:spcPts val="100"/>
              </a:spcAft>
              <a:defRPr sz="400" b="0">
                <a:solidFill>
                  <a:srgbClr val="888888"/>
                </a:solidFill>
                <a:latin typeface="Courier New"/>
              </a:defRPr>
            </a:pPr>
            <a:endParaRPr lang="en-GB" altLang="en-GB"/>
          </a:p>
          <a:p>
            <a:pPr algn="l">
              <a:spcAft>
                <a:spcPts val="100"/>
              </a:spcAft>
              <a:defRPr sz="1600" b="0">
                <a:solidFill>
                  <a:srgbClr val="CCCCCC"/>
                </a:solidFill>
                <a:latin typeface="Courier New"/>
              </a:defRPr>
            </a:pPr>
            <a:r>
              <a:rPr lang="en-GB" altLang="en-GB"/>
              <a:t>  •  Scans for persistent software</a:t>
            </a:r>
          </a:p>
          <a:p>
            <a:pPr algn="l">
              <a:spcAft>
                <a:spcPts val="100"/>
              </a:spcAft>
              <a:defRPr sz="1600" b="0">
                <a:solidFill>
                  <a:srgbClr val="CCCCCC"/>
                </a:solidFill>
                <a:latin typeface="Courier New"/>
              </a:defRPr>
            </a:pPr>
            <a:r>
              <a:rPr lang="en-GB" altLang="en-GB"/>
              <a:t>  •  LaunchAgents/Daemons, login items</a:t>
            </a:r>
          </a:p>
          <a:p>
            <a:pPr algn="l">
              <a:spcAft>
                <a:spcPts val="100"/>
              </a:spcAft>
              <a:defRPr sz="1600" b="0">
                <a:solidFill>
                  <a:srgbClr val="CCCCCC"/>
                </a:solidFill>
                <a:latin typeface="Courier New"/>
              </a:defRPr>
            </a:pPr>
            <a:r>
              <a:rPr lang="en-GB" altLang="en-GB"/>
              <a:t>  •  Browser &amp; kernel extensions</a:t>
            </a:r>
          </a:p>
          <a:p>
            <a:pPr algn="l">
              <a:spcAft>
                <a:spcPts val="100"/>
              </a:spcAft>
              <a:defRPr sz="1600" b="0">
                <a:solidFill>
                  <a:srgbClr val="CCCCCC"/>
                </a:solidFill>
                <a:latin typeface="Courier New"/>
              </a:defRPr>
            </a:pPr>
            <a:r>
              <a:rPr lang="en-GB" altLang="en-GB"/>
              <a:t>  •  Shell config (.zshrc, .bashrc)</a:t>
            </a:r>
          </a:p>
          <a:p>
            <a:pPr algn="l">
              <a:spcAft>
                <a:spcPts val="100"/>
              </a:spcAft>
              <a:defRPr sz="1600" b="0">
                <a:solidFill>
                  <a:srgbClr val="CCCCCC"/>
                </a:solidFill>
                <a:latin typeface="Courier New"/>
              </a:defRPr>
            </a:pPr>
            <a:r>
              <a:rPr lang="en-GB" altLang="en-GB"/>
              <a:t>  •  VirusTotal v3 API integration</a:t>
            </a:r>
          </a:p>
          <a:p>
            <a:pPr algn="l">
              <a:spcAft>
                <a:spcPts val="100"/>
              </a:spcAft>
              <a:defRPr sz="1600" b="0">
                <a:solidFill>
                  <a:srgbClr val="CCCCCC"/>
                </a:solidFill>
                <a:latin typeface="Courier New"/>
              </a:defRPr>
            </a:pPr>
            <a:r>
              <a:rPr lang="en-GB" altLang="en-GB"/>
              <a:t>  •  BTM enumeration (v4.0.3+)</a:t>
            </a:r>
          </a:p>
        </p:txBody>
      </p:sp>
      <p:pic>
        <p:nvPicPr>
          <p:cNvPr id="5" name="Picture 4" descr="alert_knockknock.png"/>
          <p:cNvPicPr>
            <a:picLocks noChangeAspect="1"/>
          </p:cNvPicPr>
          <p:nvPr/>
        </p:nvPicPr>
        <p:blipFill>
          <a:blip r:embed="rId3"/>
          <a:stretch>
            <a:fillRect/>
          </a:stretch>
        </p:blipFill>
        <p:spPr>
          <a:xfrm>
            <a:off x="6217920" y="1188720"/>
            <a:ext cx="5486400" cy="2743200"/>
          </a:xfrm>
          <a:prstGeom prst="rect">
            <a:avLst/>
          </a:prstGeom>
        </p:spPr>
      </p:pic>
      <p:sp>
        <p:nvSpPr>
          <p:cNvPr id="6" name="TextBox 5"/>
          <p:cNvSpPr txBox="1"/>
          <p:nvPr/>
        </p:nvSpPr>
        <p:spPr>
          <a:xfrm>
            <a:off x="731520" y="4114800"/>
            <a:ext cx="10515600" cy="365760"/>
          </a:xfrm>
          <a:prstGeom prst="rect">
            <a:avLst/>
          </a:prstGeom>
          <a:noFill/>
        </p:spPr>
        <p:txBody>
          <a:bodyPr wrap="square"/>
          <a:lstStyle/>
          <a:p>
            <a:pPr algn="l">
              <a:spcBef>
                <a:spcPts val="0"/>
              </a:spcBef>
              <a:spcAft>
                <a:spcPts val="0"/>
              </a:spcAft>
              <a:defRPr sz="1700" b="1">
                <a:solidFill>
                  <a:srgbClr val="FFA500"/>
                </a:solidFill>
                <a:latin typeface="Courier New"/>
              </a:defRPr>
            </a:pPr>
            <a:r>
              <a:rPr lang="en-GB" altLang="en-GB"/>
              <a:t>Before/after comparison: baseline scan → post-install delta</a:t>
            </a:r>
          </a:p>
        </p:txBody>
      </p:sp>
      <p:sp>
        <p:nvSpPr>
          <p:cNvPr id="7" name="TextBox 6"/>
          <p:cNvSpPr txBox="1"/>
          <p:nvPr/>
        </p:nvSpPr>
        <p:spPr>
          <a:xfrm>
            <a:off x="731520" y="484632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COMMAND LINE:</a:t>
            </a:r>
          </a:p>
        </p:txBody>
      </p:sp>
      <p:sp>
        <p:nvSpPr>
          <p:cNvPr id="8" name="TextBox 7"/>
          <p:cNvSpPr txBox="1"/>
          <p:nvPr/>
        </p:nvSpPr>
        <p:spPr>
          <a:xfrm>
            <a:off x="731520" y="5303520"/>
            <a:ext cx="10515600" cy="640080"/>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/Applications/KnockKnock.app/Contents/MacOS/KnockKnock -whosthere -verbose -pretty</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Output: JSON — persistence items across 20+ categories</a:t>
            </a:r>
          </a:p>
        </p:txBody>
      </p:sp>
      <p:sp>
        <p:nvSpPr>
          <p:cNvPr id="9" name="TextBox 8"/>
          <p:cNvSpPr txBox="1"/>
          <p:nvPr/>
        </p:nvSpPr>
        <p:spPr>
          <a:xfrm>
            <a:off x="731520" y="603504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OSX.Dummy — found unsigned persistence; Zoom — detected proxy dylib</a:t>
            </a:r>
          </a:p>
          <a:p>
            <a:pPr algn="l">
              <a:spcAft>
                <a:spcPts val="500"/>
              </a:spcAft>
              <a:defRPr sz="1300" b="1">
                <a:solidFill>
                  <a:srgbClr val="FFA500"/>
                </a:solidFill>
                <a:latin typeface="Courier New"/>
              </a:defRPr>
            </a:pPr>
            <a:r>
              <a:rPr lang="en-GB" altLang="en-GB"/>
              <a:t>objective-see.org/blog/blog_0x32.html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RANSOMWHERE?</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1188720"/>
            <a:ext cx="6382512" cy="2157984"/>
          </a:xfrm>
          <a:prstGeom prst="rect">
            <a:avLst/>
          </a:prstGeom>
          <a:noFill/>
        </p:spPr>
        <p:txBody>
          <a:bodyPr wrap="square">
            <a:spAutoFit/>
          </a:bodyPr>
          <a:lstStyle/>
          <a:p>
            <a:pPr algn="l">
              <a:spcAft>
                <a:spcPts val="200"/>
              </a:spcAft>
              <a:defRPr sz="2200" b="1">
                <a:solidFill>
                  <a:srgbClr val="FFFFFF"/>
                </a:solidFill>
                <a:latin typeface="Courier New"/>
              </a:defRPr>
            </a:pPr>
            <a:r>
              <a:rPr lang="en-GB" altLang="en-GB"/>
              <a:t>Ransomware detection via file-system</a:t>
            </a:r>
          </a:p>
          <a:p>
            <a:pPr algn="l">
              <a:spcAft>
                <a:spcPts val="200"/>
              </a:spcAft>
              <a:defRPr sz="400" b="0">
                <a:solidFill>
                  <a:srgbClr val="888888"/>
                </a:solidFill>
                <a:latin typeface="Courier New"/>
              </a:defRPr>
            </a:pPr>
            <a:endParaRPr lang="en-GB" altLang="en-GB"/>
          </a:p>
          <a:p>
            <a:pPr algn="l">
              <a:spcAft>
                <a:spcPts val="200"/>
              </a:spcAft>
              <a:defRPr sz="1500" b="0">
                <a:solidFill>
                  <a:srgbClr val="CCCCCC"/>
                </a:solidFill>
                <a:latin typeface="Courier New"/>
              </a:defRPr>
            </a:pPr>
            <a:r>
              <a:rPr lang="en-GB" altLang="en-GB"/>
              <a:t>  •  Monitors for encrypted file creation</a:t>
            </a:r>
          </a:p>
          <a:p>
            <a:pPr algn="l">
              <a:spcAft>
                <a:spcPts val="200"/>
              </a:spcAft>
              <a:defRPr sz="1500" b="0">
                <a:solidFill>
                  <a:srgbClr val="CCCCCC"/>
                </a:solidFill>
                <a:latin typeface="Courier New"/>
              </a:defRPr>
            </a:pPr>
            <a:r>
              <a:rPr lang="en-GB" altLang="en-GB"/>
              <a:t>  •  Detects suspicious encryption patterns</a:t>
            </a:r>
          </a:p>
          <a:p>
            <a:pPr algn="l">
              <a:spcAft>
                <a:spcPts val="200"/>
              </a:spcAft>
              <a:defRPr sz="1500" b="0">
                <a:solidFill>
                  <a:srgbClr val="CCCCCC"/>
                </a:solidFill>
                <a:latin typeface="Courier New"/>
              </a:defRPr>
            </a:pPr>
            <a:r>
              <a:rPr lang="en-GB" altLang="en-GB"/>
              <a:t>  •  Suspends offending processes</a:t>
            </a:r>
          </a:p>
          <a:p>
            <a:pPr algn="l">
              <a:spcAft>
                <a:spcPts val="200"/>
              </a:spcAft>
              <a:defRPr sz="1500" b="0">
                <a:solidFill>
                  <a:srgbClr val="CCCCCC"/>
                </a:solidFill>
                <a:latin typeface="Courier New"/>
              </a:defRPr>
            </a:pPr>
            <a:r>
              <a:rPr lang="en-GB" altLang="en-GB"/>
              <a:t>  •  User allow/terminate decision</a:t>
            </a:r>
          </a:p>
          <a:p>
            <a:pPr algn="l">
              <a:spcAft>
                <a:spcPts val="200"/>
              </a:spcAft>
              <a:defRPr sz="1500" b="0">
                <a:solidFill>
                  <a:srgbClr val="CCCCCC"/>
                </a:solidFill>
                <a:latin typeface="Courier New"/>
              </a:defRPr>
            </a:pPr>
            <a:r>
              <a:rPr lang="en-GB" altLang="en-GB"/>
              <a:t>  •  v2.0+ Apple Endpoint Security API</a:t>
            </a:r>
          </a:p>
          <a:p>
            <a:pPr algn="l">
              <a:spcAft>
                <a:spcPts val="200"/>
              </a:spcAft>
              <a:defRPr sz="400" b="0">
                <a:solidFill>
                  <a:srgbClr val="888888"/>
                </a:solidFill>
                <a:latin typeface="Courier New"/>
              </a:defRPr>
            </a:pPr>
            <a:endParaRPr lang="en-GB" altLang="en-GB"/>
          </a:p>
          <a:p>
            <a:pPr algn="l">
              <a:spcAft>
                <a:spcPts val="200"/>
              </a:spcAft>
              <a:defRPr sz="1600" b="1">
                <a:solidFill>
                  <a:srgbClr val="FFA500"/>
                </a:solidFill>
                <a:latin typeface="Courier New"/>
              </a:defRPr>
            </a:pPr>
            <a:r>
              <a:rPr lang="en-GB" altLang="en-GB"/>
              <a:t>objective-see.org/products/ransomwhere.html</a:t>
            </a:r>
          </a:p>
        </p:txBody>
      </p:sp>
      <p:pic>
        <p:nvPicPr>
          <p:cNvPr id="5" name="Picture 4" descr="alert_ransomwhere.png"/>
          <p:cNvPicPr>
            <a:picLocks noChangeAspect="1"/>
          </p:cNvPicPr>
          <p:nvPr/>
        </p:nvPicPr>
        <p:blipFill>
          <a:blip r:embed="rId3"/>
          <a:stretch>
            <a:fillRect/>
          </a:stretch>
        </p:blipFill>
        <p:spPr>
          <a:xfrm>
            <a:off x="6547104" y="1188720"/>
            <a:ext cx="5486400" cy="3200400"/>
          </a:xfrm>
          <a:prstGeom prst="rect">
            <a:avLst/>
          </a:prstGeom>
        </p:spPr>
      </p:pic>
      <p:sp>
        <p:nvSpPr>
          <p:cNvPr id="6" name="TextBox 5"/>
          <p:cNvSpPr txBox="1"/>
          <p:nvPr/>
        </p:nvSpPr>
        <p:spPr>
          <a:xfrm>
            <a:off x="731520" y="484632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UNIFIED LOG:</a:t>
            </a:r>
          </a:p>
        </p:txBody>
      </p:sp>
      <p:sp>
        <p:nvSpPr>
          <p:cNvPr id="7" name="TextBox 6"/>
          <p:cNvSpPr txBox="1"/>
          <p:nvPr/>
        </p:nvSpPr>
        <p:spPr>
          <a:xfrm>
            <a:off x="731520" y="5303520"/>
            <a:ext cx="10515600" cy="640080"/>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log stream --level debug --predicate "subsystem='com.objective-see.ransomwhere'"</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Events: file is encrypted, suspended: &lt;process&gt;, user says 'allow'</a:t>
            </a:r>
          </a:p>
        </p:txBody>
      </p:sp>
      <p:sp>
        <p:nvSpPr>
          <p:cNvPr id="8" name="TextBox 7"/>
          <p:cNvSpPr txBox="1"/>
          <p:nvPr/>
        </p:nvSpPr>
        <p:spPr>
          <a:xfrm>
            <a:off x="731520" y="603504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Turtle ransomware (2023) — generically thwarted with zero prior knowledge</a:t>
            </a:r>
          </a:p>
          <a:p>
            <a:pPr algn="l">
              <a:spcAft>
                <a:spcPts val="500"/>
              </a:spcAft>
              <a:defRPr sz="1300" b="1">
                <a:solidFill>
                  <a:srgbClr val="FFA500"/>
                </a:solidFill>
                <a:latin typeface="Courier New"/>
              </a:defRPr>
            </a:pPr>
            <a:r>
              <a:rPr lang="en-GB" altLang="en-GB"/>
              <a:t>objective-see.org/blog/blog_0x76.html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OVERSIGHT</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367528" cy="1389888"/>
          </a:xfrm>
          <a:prstGeom prst="rect">
            <a:avLst/>
          </a:prstGeom>
          <a:noFill/>
        </p:spPr>
        <p:txBody>
          <a:bodyPr wrap="square">
            <a:spAutoFit/>
          </a:bodyPr>
          <a:lstStyle/>
          <a:p>
            <a:pPr algn="l">
              <a:spcAft>
                <a:spcPts val="200"/>
              </a:spcAft>
              <a:defRPr sz="2200" b="1">
                <a:solidFill>
                  <a:srgbClr val="FFFFFF"/>
                </a:solidFill>
                <a:latin typeface="Courier New"/>
              </a:defRPr>
            </a:pPr>
            <a:r>
              <a:rPr lang="en-GB" altLang="en-GB"/>
              <a:t>Camera &amp; microphone monitor</a:t>
            </a:r>
          </a:p>
          <a:p>
            <a:pPr algn="l">
              <a:spcAft>
                <a:spcPts val="200"/>
              </a:spcAft>
              <a:defRPr sz="400" b="0">
                <a:solidFill>
                  <a:srgbClr val="888888"/>
                </a:solidFill>
                <a:latin typeface="Courier New"/>
              </a:defRPr>
            </a:pPr>
            <a:endParaRPr lang="en-GB" altLang="en-GB"/>
          </a:p>
          <a:p>
            <a:pPr algn="l">
              <a:spcAft>
                <a:spcPts val="200"/>
              </a:spcAft>
              <a:defRPr sz="1500" b="0">
                <a:solidFill>
                  <a:srgbClr val="CCCCCC"/>
                </a:solidFill>
                <a:latin typeface="Courier New"/>
              </a:defRPr>
            </a:pPr>
            <a:r>
              <a:rPr lang="en-GB" altLang="en-GB"/>
              <a:t>  •  Monitors internal mic activation</a:t>
            </a:r>
          </a:p>
          <a:p>
            <a:pPr algn="l">
              <a:spcAft>
                <a:spcPts val="200"/>
              </a:spcAft>
              <a:defRPr sz="1500" b="0">
                <a:solidFill>
                  <a:srgbClr val="CCCCCC"/>
                </a:solidFill>
                <a:latin typeface="Courier New"/>
              </a:defRPr>
            </a:pPr>
            <a:r>
              <a:rPr lang="en-GB" altLang="en-GB"/>
              <a:t>  •  Detects webcam access by processes</a:t>
            </a:r>
          </a:p>
          <a:p>
            <a:pPr algn="l">
              <a:spcAft>
                <a:spcPts val="200"/>
              </a:spcAft>
              <a:defRPr sz="400" b="0">
                <a:solidFill>
                  <a:srgbClr val="888888"/>
                </a:solidFill>
                <a:latin typeface="Courier New"/>
              </a:defRPr>
            </a:pPr>
            <a:endParaRPr lang="en-GB" altLang="en-GB"/>
          </a:p>
          <a:p>
            <a:pPr algn="l">
              <a:spcAft>
                <a:spcPts val="200"/>
              </a:spcAft>
              <a:defRPr sz="1600" b="1">
                <a:solidFill>
                  <a:srgbClr val="FFA500"/>
                </a:solidFill>
                <a:latin typeface="Courier New"/>
              </a:defRPr>
            </a:pPr>
            <a:r>
              <a:rPr lang="en-GB" altLang="en-GB"/>
              <a:t>objective-see.org/products/oversight.html</a:t>
            </a:r>
          </a:p>
        </p:txBody>
      </p:sp>
      <p:pic>
        <p:nvPicPr>
          <p:cNvPr id="5" name="Picture 4" descr="alert_oversight.png"/>
          <p:cNvPicPr>
            <a:picLocks noChangeAspect="1"/>
          </p:cNvPicPr>
          <p:nvPr/>
        </p:nvPicPr>
        <p:blipFill>
          <a:blip r:embed="rId3"/>
          <a:stretch>
            <a:fillRect/>
          </a:stretch>
        </p:blipFill>
        <p:spPr>
          <a:xfrm>
            <a:off x="6400800" y="1188720"/>
            <a:ext cx="5029200" cy="1426464"/>
          </a:xfrm>
          <a:prstGeom prst="rect">
            <a:avLst/>
          </a:prstGeom>
        </p:spPr>
      </p:pic>
      <p:sp>
        <p:nvSpPr>
          <p:cNvPr id="6" name="TextBox 5"/>
          <p:cNvSpPr txBox="1"/>
          <p:nvPr/>
        </p:nvSpPr>
        <p:spPr>
          <a:xfrm>
            <a:off x="731520" y="4544568"/>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UNIFIED LOG:</a:t>
            </a:r>
          </a:p>
        </p:txBody>
      </p:sp>
      <p:sp>
        <p:nvSpPr>
          <p:cNvPr id="7" name="TextBox 6"/>
          <p:cNvSpPr txBox="1"/>
          <p:nvPr/>
        </p:nvSpPr>
        <p:spPr>
          <a:xfrm>
            <a:off x="731520" y="5029200"/>
            <a:ext cx="10515600" cy="640080"/>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log stream --level debug --predicate "subsystem='com.objective-see.oversight'"</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Events: camera access detected, microphone access detected</a:t>
            </a:r>
          </a:p>
        </p:txBody>
      </p:sp>
      <p:sp>
        <p:nvSpPr>
          <p:cNvPr id="8" name="TextBox 7"/>
          <p:cNvSpPr txBox="1"/>
          <p:nvPr/>
        </p:nvSpPr>
        <p:spPr>
          <a:xfrm>
            <a:off x="731520" y="585216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Zoom (2020) — OverSight caught invisible background mic &amp; camera hijacking</a:t>
            </a:r>
          </a:p>
          <a:p>
            <a:pPr algn="l">
              <a:spcAft>
                <a:spcPts val="500"/>
              </a:spcAft>
              <a:defRPr sz="1300" b="1">
                <a:solidFill>
                  <a:srgbClr val="FFA500"/>
                </a:solidFill>
                <a:latin typeface="Courier New"/>
              </a:defRPr>
            </a:pPr>
            <a:r>
              <a:rPr lang="en-GB" altLang="en-GB"/>
              <a:t>objective-see.org/blog/blog_0x56.html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REIKEY</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029200" cy="3200400"/>
          </a:xfrm>
          <a:prstGeom prst="rect">
            <a:avLst/>
          </a:prstGeom>
          <a:noFill/>
        </p:spPr>
        <p:txBody>
          <a:bodyPr wrap="square">
            <a:spAutoFit/>
          </a:bodyPr>
          <a:lstStyle/>
          <a:p>
            <a:pPr algn="l">
              <a:spcAft>
                <a:spcPts val="200"/>
              </a:spcAft>
              <a:defRPr sz="2200" b="1">
                <a:solidFill>
                  <a:srgbClr val="FFFFFF"/>
                </a:solidFill>
                <a:latin typeface="Courier New"/>
              </a:defRPr>
            </a:pPr>
            <a:r>
              <a:rPr lang="en-GB" altLang="en-GB"/>
              <a:t>Keyboard event tap monitor</a:t>
            </a:r>
          </a:p>
          <a:p>
            <a:pPr algn="l">
              <a:spcAft>
                <a:spcPts val="200"/>
              </a:spcAft>
              <a:defRPr sz="400" b="0">
                <a:solidFill>
                  <a:srgbClr val="888888"/>
                </a:solidFill>
                <a:latin typeface="Courier New"/>
              </a:defRPr>
            </a:pPr>
            <a:endParaRPr lang="en-GB" altLang="en-GB"/>
          </a:p>
          <a:p>
            <a:pPr algn="l">
              <a:spcAft>
                <a:spcPts val="200"/>
              </a:spcAft>
              <a:defRPr sz="1500" b="0">
                <a:solidFill>
                  <a:srgbClr val="CCCCCC"/>
                </a:solidFill>
                <a:latin typeface="Courier New"/>
              </a:defRPr>
            </a:pPr>
            <a:r>
              <a:rPr lang="en-GB" altLang="en-GB"/>
              <a:t>  •  Detects CoreGraphics event taps</a:t>
            </a:r>
          </a:p>
          <a:p>
            <a:pPr algn="l">
              <a:spcAft>
                <a:spcPts val="200"/>
              </a:spcAft>
              <a:defRPr sz="1500" b="0">
                <a:solidFill>
                  <a:srgbClr val="CCCCCC"/>
                </a:solidFill>
                <a:latin typeface="Courier New"/>
              </a:defRPr>
            </a:pPr>
            <a:r>
              <a:rPr lang="en-GB" altLang="en-GB"/>
              <a:t>  •  Scans for existing keyboard taps</a:t>
            </a:r>
          </a:p>
          <a:p>
            <a:pPr algn="l">
              <a:spcAft>
                <a:spcPts val="200"/>
              </a:spcAft>
              <a:defRPr sz="1500" b="0">
                <a:solidFill>
                  <a:srgbClr val="CCCCCC"/>
                </a:solidFill>
                <a:latin typeface="Courier New"/>
              </a:defRPr>
            </a:pPr>
            <a:r>
              <a:rPr lang="en-GB" altLang="en-GB"/>
              <a:t>  •  Alerts on new tap installation</a:t>
            </a:r>
          </a:p>
          <a:p>
            <a:pPr algn="l">
              <a:spcAft>
                <a:spcPts val="200"/>
              </a:spcAft>
              <a:defRPr sz="1500" b="0">
                <a:solidFill>
                  <a:srgbClr val="CCCCCC"/>
                </a:solidFill>
                <a:latin typeface="Courier New"/>
              </a:defRPr>
            </a:pPr>
            <a:r>
              <a:rPr lang="en-GB" altLang="en-GB"/>
              <a:t>  •  Passive listener vs active filter</a:t>
            </a:r>
          </a:p>
          <a:p>
            <a:pPr algn="l">
              <a:spcAft>
                <a:spcPts val="200"/>
              </a:spcAft>
              <a:defRPr sz="400" b="0">
                <a:solidFill>
                  <a:srgbClr val="888888"/>
                </a:solidFill>
                <a:latin typeface="Courier New"/>
              </a:defRPr>
            </a:pPr>
            <a:endParaRPr lang="en-GB" altLang="en-GB"/>
          </a:p>
          <a:p>
            <a:pPr algn="l">
              <a:spcAft>
                <a:spcPts val="200"/>
              </a:spcAft>
              <a:defRPr sz="1600" b="1">
                <a:solidFill>
                  <a:srgbClr val="FFA500"/>
                </a:solidFill>
                <a:latin typeface="Courier New"/>
              </a:defRPr>
            </a:pPr>
            <a:r>
              <a:rPr lang="en-GB" altLang="en-GB"/>
              <a:t>objective-see.org/products/reikey.html</a:t>
            </a:r>
          </a:p>
        </p:txBody>
      </p:sp>
      <p:pic>
        <p:nvPicPr>
          <p:cNvPr id="5" name="Picture 4" descr="alert_reikey.png"/>
          <p:cNvPicPr>
            <a:picLocks noChangeAspect="1"/>
          </p:cNvPicPr>
          <p:nvPr/>
        </p:nvPicPr>
        <p:blipFill>
          <a:blip r:embed="rId3"/>
          <a:stretch>
            <a:fillRect/>
          </a:stretch>
        </p:blipFill>
        <p:spPr>
          <a:xfrm>
            <a:off x="6217920" y="1188720"/>
            <a:ext cx="5486400" cy="3200400"/>
          </a:xfrm>
          <a:prstGeom prst="rect">
            <a:avLst/>
          </a:prstGeom>
        </p:spPr>
      </p:pic>
      <p:sp>
        <p:nvSpPr>
          <p:cNvPr id="6" name="TextBox 5"/>
          <p:cNvSpPr txBox="1"/>
          <p:nvPr/>
        </p:nvSpPr>
        <p:spPr>
          <a:xfrm>
            <a:off x="731520" y="470916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COMMAND LINE:</a:t>
            </a:r>
          </a:p>
        </p:txBody>
      </p:sp>
      <p:sp>
        <p:nvSpPr>
          <p:cNvPr id="7" name="TextBox 6"/>
          <p:cNvSpPr txBox="1"/>
          <p:nvPr/>
        </p:nvSpPr>
        <p:spPr>
          <a:xfrm>
            <a:off x="731520" y="5074920"/>
            <a:ext cx="10515600" cy="640080"/>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/Applications/ReiKey.app/Contents/MacOS/ReiKey -scan -pretty -skipApple</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Output: JSON — active keyboard event taps with process &amp; target info</a:t>
            </a:r>
          </a:p>
        </p:txBody>
      </p:sp>
      <p:sp>
        <p:nvSpPr>
          <p:cNvPr id="8" name="TextBox 7"/>
          <p:cNvSpPr txBox="1"/>
          <p:nvPr/>
        </p:nvSpPr>
        <p:spPr>
          <a:xfrm>
            <a:off x="731520" y="585216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OSX.FruitFly — keylogger with event taps undetected for 13+ years</a:t>
            </a:r>
          </a:p>
          <a:p>
            <a:pPr algn="l">
              <a:spcAft>
                <a:spcPts val="500"/>
              </a:spcAft>
              <a:defRPr sz="1300" b="1">
                <a:solidFill>
                  <a:srgbClr val="FFA500"/>
                </a:solidFill>
                <a:latin typeface="Courier New"/>
              </a:defRPr>
            </a:pPr>
            <a:r>
              <a:rPr lang="en-GB" altLang="en-GB"/>
              <a:t>objective-see.org/blog/blog_0x36.html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DHS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029200" cy="3200400"/>
          </a:xfrm>
          <a:prstGeom prst="rect">
            <a:avLst/>
          </a:prstGeom>
          <a:noFill/>
        </p:spPr>
        <p:txBody>
          <a:bodyPr wrap="square">
            <a:spAutoFit/>
          </a:bodyPr>
          <a:lstStyle/>
          <a:p>
            <a:pPr algn="l">
              <a:spcAft>
                <a:spcPts val="200"/>
              </a:spcAft>
              <a:defRPr sz="2200" b="1">
                <a:solidFill>
                  <a:srgbClr val="FFFFFF"/>
                </a:solidFill>
                <a:latin typeface="Courier New"/>
              </a:defRPr>
            </a:pPr>
            <a:r>
              <a:rPr lang="en-GB" altLang="en-GB"/>
              <a:t>Dynamic library hijack detector</a:t>
            </a:r>
          </a:p>
          <a:p>
            <a:pPr algn="l">
              <a:spcAft>
                <a:spcPts val="200"/>
              </a:spcAft>
              <a:defRPr sz="400" b="0">
                <a:solidFill>
                  <a:srgbClr val="888888"/>
                </a:solidFill>
                <a:latin typeface="Courier New"/>
              </a:defRPr>
            </a:pPr>
            <a:endParaRPr lang="en-GB" altLang="en-GB"/>
          </a:p>
          <a:p>
            <a:pPr algn="l">
              <a:spcAft>
                <a:spcPts val="200"/>
              </a:spcAft>
              <a:defRPr sz="1500" b="0">
                <a:solidFill>
                  <a:srgbClr val="CCCCCC"/>
                </a:solidFill>
                <a:latin typeface="Courier New"/>
              </a:defRPr>
            </a:pPr>
            <a:r>
              <a:rPr lang="en-GB" altLang="en-GB"/>
              <a:t>  •  Scans for vulnerable applications</a:t>
            </a:r>
          </a:p>
          <a:p>
            <a:pPr algn="l">
              <a:spcAft>
                <a:spcPts val="200"/>
              </a:spcAft>
              <a:defRPr sz="1500" b="0">
                <a:solidFill>
                  <a:srgbClr val="CCCCCC"/>
                </a:solidFill>
                <a:latin typeface="Courier New"/>
              </a:defRPr>
            </a:pPr>
            <a:r>
              <a:rPr lang="en-GB" altLang="en-GB"/>
              <a:t>  •  Detects hijacked dylibs</a:t>
            </a:r>
          </a:p>
          <a:p>
            <a:pPr algn="l">
              <a:spcAft>
                <a:spcPts val="200"/>
              </a:spcAft>
              <a:defRPr sz="1500" b="0">
                <a:solidFill>
                  <a:srgbClr val="CCCCCC"/>
                </a:solidFill>
                <a:latin typeface="Courier New"/>
              </a:defRPr>
            </a:pPr>
            <a:r>
              <a:rPr lang="en-GB" altLang="en-GB"/>
              <a:t>  •  Weak import hijack detection</a:t>
            </a:r>
          </a:p>
          <a:p>
            <a:pPr algn="l">
              <a:spcAft>
                <a:spcPts val="200"/>
              </a:spcAft>
              <a:defRPr sz="1500" b="0">
                <a:solidFill>
                  <a:srgbClr val="CCCCCC"/>
                </a:solidFill>
                <a:latin typeface="Courier New"/>
              </a:defRPr>
            </a:pPr>
            <a:r>
              <a:rPr lang="en-GB" altLang="en-GB"/>
              <a:t>  •  Full filesystem scan option</a:t>
            </a:r>
          </a:p>
          <a:p>
            <a:pPr algn="l">
              <a:spcAft>
                <a:spcPts val="200"/>
              </a:spcAft>
              <a:defRPr sz="400" b="0">
                <a:solidFill>
                  <a:srgbClr val="888888"/>
                </a:solidFill>
                <a:latin typeface="Courier New"/>
              </a:defRPr>
            </a:pPr>
            <a:endParaRPr lang="en-GB" altLang="en-GB"/>
          </a:p>
          <a:p>
            <a:pPr algn="l">
              <a:spcAft>
                <a:spcPts val="200"/>
              </a:spcAft>
              <a:defRPr sz="1600" b="1">
                <a:solidFill>
                  <a:srgbClr val="FFA500"/>
                </a:solidFill>
                <a:latin typeface="Courier New"/>
              </a:defRPr>
            </a:pPr>
            <a:r>
              <a:rPr lang="en-GB" altLang="en-GB"/>
              <a:t>objective-see.org/products/dhs.html</a:t>
            </a:r>
          </a:p>
        </p:txBody>
      </p:sp>
      <p:pic>
        <p:nvPicPr>
          <p:cNvPr id="5" name="Picture 4" descr="alert_dhs.png"/>
          <p:cNvPicPr>
            <a:picLocks noChangeAspect="1"/>
          </p:cNvPicPr>
          <p:nvPr/>
        </p:nvPicPr>
        <p:blipFill>
          <a:blip r:embed="rId3"/>
          <a:stretch>
            <a:fillRect/>
          </a:stretch>
        </p:blipFill>
        <p:spPr>
          <a:xfrm>
            <a:off x="6217920" y="1188720"/>
            <a:ext cx="5486400" cy="3200400"/>
          </a:xfrm>
          <a:prstGeom prst="rect">
            <a:avLst/>
          </a:prstGeom>
        </p:spPr>
      </p:pic>
      <p:sp>
        <p:nvSpPr>
          <p:cNvPr id="6" name="TextBox 5"/>
          <p:cNvSpPr txBox="1"/>
          <p:nvPr/>
        </p:nvSpPr>
        <p:spPr>
          <a:xfrm>
            <a:off x="731520" y="470916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WHAT WE CHECK:</a:t>
            </a:r>
          </a:p>
        </p:txBody>
      </p:sp>
      <p:sp>
        <p:nvSpPr>
          <p:cNvPr id="7" name="TextBox 6"/>
          <p:cNvSpPr txBox="1"/>
          <p:nvPr/>
        </p:nvSpPr>
        <p:spPr>
          <a:xfrm>
            <a:off x="731520" y="5074920"/>
            <a:ext cx="10515600" cy="640080"/>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Post-install scan → does the title introduce any hijackable or hijacked dylibs?</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Findings saved as JSON via 'save results' preference</a:t>
            </a:r>
          </a:p>
        </p:txBody>
      </p:sp>
      <p:sp>
        <p:nvSpPr>
          <p:cNvPr id="8" name="TextBox 7"/>
          <p:cNvSpPr txBox="1"/>
          <p:nvPr/>
        </p:nvSpPr>
        <p:spPr>
          <a:xfrm>
            <a:off x="731520" y="585216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Zoom (2020) — dylib proxy hijack gave mic &amp; camera access without prompts</a:t>
            </a:r>
          </a:p>
          <a:p>
            <a:pPr algn="l">
              <a:spcAft>
                <a:spcPts val="500"/>
              </a:spcAft>
              <a:defRPr sz="1300" b="1">
                <a:solidFill>
                  <a:srgbClr val="FFA500"/>
                </a:solidFill>
                <a:latin typeface="Courier New"/>
              </a:defRPr>
            </a:pPr>
            <a:r>
              <a:rPr lang="en-GB" altLang="en-GB"/>
              <a:t>objective-see.org/blog/blog_0x56.html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XPROTECT</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3566160"/>
          </a:xfrm>
          <a:prstGeom prst="rect">
            <a:avLst/>
          </a:prstGeom>
          <a:noFill/>
        </p:spPr>
        <p:txBody>
          <a:bodyPr wrap="square">
            <a:spAutoFit/>
          </a:bodyPr>
          <a:lstStyle/>
          <a:p>
            <a:pPr algn="l">
              <a:spcAft>
                <a:spcPts val="700"/>
              </a:spcAft>
              <a:defRPr sz="2400" b="1">
                <a:solidFill>
                  <a:srgbClr val="FFFFFF"/>
                </a:solidFill>
                <a:latin typeface="Courier New"/>
              </a:defRPr>
            </a:pPr>
            <a:r>
              <a:rPr lang="en-GB" altLang="en-GB"/>
              <a:t>Apple's built-in antivirus technology</a:t>
            </a:r>
          </a:p>
          <a:p>
            <a:pPr algn="l">
              <a:spcAft>
                <a:spcPts val="700"/>
              </a:spcAft>
              <a:defRPr sz="600" b="0">
                <a:solidFill>
                  <a:srgbClr val="888888"/>
                </a:solidFill>
                <a:latin typeface="Courier New"/>
              </a:defRPr>
            </a:pPr>
            <a:endParaRPr lang="en-GB" altLang="en-GB"/>
          </a:p>
          <a:p>
            <a:pPr algn="l">
              <a:spcAft>
                <a:spcPts val="700"/>
              </a:spcAft>
              <a:defRPr sz="2000" b="0">
                <a:solidFill>
                  <a:srgbClr val="CCCCCC"/>
                </a:solidFill>
                <a:latin typeface="Courier New"/>
              </a:defRPr>
            </a:pPr>
            <a:r>
              <a:rPr lang="en-GB" altLang="en-GB"/>
              <a:t>  •  YARA signature-based detection</a:t>
            </a:r>
          </a:p>
          <a:p>
            <a:pPr algn="l">
              <a:spcAft>
                <a:spcPts val="700"/>
              </a:spcAft>
              <a:defRPr sz="2000" b="0">
                <a:solidFill>
                  <a:srgbClr val="CCCCCC"/>
                </a:solidFill>
                <a:latin typeface="Courier New"/>
              </a:defRPr>
            </a:pPr>
            <a:r>
              <a:rPr lang="en-GB" altLang="en-GB"/>
              <a:t>  •  Blocks execution of known malware</a:t>
            </a:r>
          </a:p>
          <a:p>
            <a:pPr algn="l">
              <a:spcAft>
                <a:spcPts val="700"/>
              </a:spcAft>
              <a:defRPr sz="2000" b="0">
                <a:solidFill>
                  <a:srgbClr val="CCCCCC"/>
                </a:solidFill>
                <a:latin typeface="Courier New"/>
              </a:defRPr>
            </a:pPr>
            <a:r>
              <a:rPr lang="en-GB" altLang="en-GB"/>
              <a:t>  •  Remediates infections automatically</a:t>
            </a:r>
          </a:p>
          <a:p>
            <a:pPr algn="l">
              <a:spcAft>
                <a:spcPts val="700"/>
              </a:spcAft>
              <a:defRPr sz="2000" b="0">
                <a:solidFill>
                  <a:srgbClr val="CCCCCC"/>
                </a:solidFill>
                <a:latin typeface="Courier New"/>
              </a:defRPr>
            </a:pPr>
            <a:r>
              <a:rPr lang="en-GB" altLang="en-GB"/>
              <a:t>  •  Scans on first launch &amp; file changes</a:t>
            </a:r>
          </a:p>
          <a:p>
            <a:pPr algn="l">
              <a:spcAft>
                <a:spcPts val="700"/>
              </a:spcAft>
              <a:defRPr sz="2000" b="0">
                <a:solidFill>
                  <a:srgbClr val="CCCCCC"/>
                </a:solidFill>
                <a:latin typeface="Courier New"/>
              </a:defRPr>
            </a:pPr>
            <a:r>
              <a:rPr lang="en-GB" altLang="en-GB"/>
              <a:t>  •  Signatures updated independently of OS</a:t>
            </a:r>
          </a:p>
          <a:p>
            <a:pPr algn="l">
              <a:spcAft>
                <a:spcPts val="700"/>
              </a:spcAft>
              <a:defRPr sz="600" b="0">
                <a:solidFill>
                  <a:srgbClr val="888888"/>
                </a:solidFill>
                <a:latin typeface="Courier New"/>
              </a:defRPr>
            </a:pPr>
            <a:endParaRPr lang="en-GB" altLang="en-GB"/>
          </a:p>
          <a:p>
            <a:pPr algn="l">
              <a:spcAft>
                <a:spcPts val="700"/>
              </a:spcAft>
              <a:defRPr sz="1400" b="0">
                <a:solidFill>
                  <a:srgbClr val="888888"/>
                </a:solidFill>
                <a:latin typeface="Courier New"/>
              </a:defRPr>
            </a:pPr>
            <a:r>
              <a:rPr lang="en-GB" altLang="en-GB"/>
              <a:t>  🔗 support.apple.com/en-gb/guide/security/sec469d47bd8/web</a:t>
            </a:r>
          </a:p>
        </p:txBody>
      </p:sp>
      <p:sp>
        <p:nvSpPr>
          <p:cNvPr id="5" name="TextBox 4"/>
          <p:cNvSpPr txBox="1"/>
          <p:nvPr/>
        </p:nvSpPr>
        <p:spPr>
          <a:xfrm>
            <a:off x="731520" y="470916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UNIFIED LOG:</a:t>
            </a:r>
          </a:p>
        </p:txBody>
      </p:sp>
      <p:sp>
        <p:nvSpPr>
          <p:cNvPr id="6" name="TextBox 5"/>
          <p:cNvSpPr txBox="1"/>
          <p:nvPr/>
        </p:nvSpPr>
        <p:spPr>
          <a:xfrm>
            <a:off x="731520" y="5074920"/>
            <a:ext cx="10515600" cy="713232"/>
          </a:xfrm>
          <a:prstGeom prst="rect">
            <a:avLst/>
          </a:prstGeom>
          <a:noFill/>
        </p:spPr>
        <p:txBody>
          <a:bodyPr wrap="square">
            <a:spAutoFit/>
          </a:bodyPr>
          <a:lstStyle/>
          <a:p>
            <a:pPr algn="l">
              <a:spcAft>
                <a:spcPts val="500"/>
              </a:spcAft>
              <a:defRPr sz="1400" b="0">
                <a:solidFill>
                  <a:srgbClr val="00C853"/>
                </a:solidFill>
                <a:latin typeface="Courier New"/>
              </a:defRPr>
            </a:pPr>
            <a:r>
              <a:rPr lang="en-GB" altLang="en-GB"/>
              <a:t>log stream --predicate "subsystem == 'com.apple.xprotect'"</a:t>
            </a:r>
          </a:p>
          <a:p>
            <a:pPr algn="l">
              <a:spcAft>
                <a:spcPts val="500"/>
              </a:spcAft>
              <a:defRPr sz="400" b="0">
                <a:solidFill>
                  <a:srgbClr val="888888"/>
                </a:solidFill>
                <a:latin typeface="Courier New"/>
              </a:defRPr>
            </a:pPr>
            <a:endParaRPr lang="en-GB" altLang="en-GB"/>
          </a:p>
          <a:p>
            <a:pPr algn="l">
              <a:spcAft>
                <a:spcPts val="500"/>
              </a:spcAft>
              <a:defRPr sz="1400" b="0">
                <a:solidFill>
                  <a:srgbClr val="888888"/>
                </a:solidFill>
                <a:latin typeface="Courier New"/>
              </a:defRPr>
            </a:pPr>
            <a:r>
              <a:rPr lang="en-GB" altLang="en-GB"/>
              <a:t>Events: malware detection, quarantine actions, signature updates</a:t>
            </a:r>
          </a:p>
        </p:txBody>
      </p:sp>
      <p:sp>
        <p:nvSpPr>
          <p:cNvPr id="7" name="TextBox 6"/>
          <p:cNvSpPr txBox="1"/>
          <p:nvPr/>
        </p:nvSpPr>
        <p:spPr>
          <a:xfrm>
            <a:off x="731520" y="5852160"/>
            <a:ext cx="10515600" cy="822960"/>
          </a:xfrm>
          <a:prstGeom prst="rect">
            <a:avLst/>
          </a:prstGeom>
          <a:noFill/>
        </p:spPr>
        <p:txBody>
          <a:bodyPr wrap="square">
            <a:spAutoFit/>
          </a:bodyPr>
          <a:lstStyle/>
          <a:p>
            <a:pPr algn="l">
              <a:spcAft>
                <a:spcPts val="500"/>
              </a:spcAft>
              <a:defRPr sz="1400" b="1">
                <a:solidFill>
                  <a:srgbClr val="CC2424"/>
                </a:solidFill>
                <a:latin typeface="Courier New"/>
              </a:defRPr>
            </a:pPr>
            <a:r>
              <a:rPr lang="en-GB" altLang="en-GB"/>
              <a:t>REAL WORLD:</a:t>
            </a:r>
          </a:p>
          <a:p>
            <a:pPr algn="l">
              <a:spcAft>
                <a:spcPts val="500"/>
              </a:spcAft>
              <a:defRPr sz="1300" b="1">
                <a:solidFill>
                  <a:srgbClr val="FFA500"/>
                </a:solidFill>
                <a:latin typeface="Courier New"/>
              </a:defRPr>
            </a:pPr>
            <a:r>
              <a:rPr lang="en-GB" altLang="en-GB"/>
              <a:t>Bonzai (2025) — DPRK stealer detected via XProtect v5304 YARA rules</a:t>
            </a:r>
          </a:p>
          <a:p>
            <a:pPr algn="l">
              <a:spcAft>
                <a:spcPts val="500"/>
              </a:spcAft>
              <a:defRPr sz="1300" b="1">
                <a:solidFill>
                  <a:srgbClr val="FFA500"/>
                </a:solidFill>
                <a:latin typeface="Courier New"/>
              </a:defRPr>
            </a:pPr>
            <a:r>
              <a:rPr lang="en-GB" altLang="en-GB"/>
              <a:t>eclecticlight.co/2025/07/11/what-happened-to-xprotect-this-week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CONFIG PROFILES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029200" cy="2743200"/>
          </a:xfrm>
          <a:prstGeom prst="rect">
            <a:avLst/>
          </a:prstGeom>
          <a:noFill/>
        </p:spPr>
        <p:txBody>
          <a:bodyPr wrap="square">
            <a:spAutoFit/>
          </a:bodyPr>
          <a:lstStyle/>
          <a:p>
            <a:pPr algn="l">
              <a:spcAft>
                <a:spcPts val="200"/>
              </a:spcAft>
              <a:defRPr sz="2000" b="1">
                <a:solidFill>
                  <a:srgbClr val="FFFFFF"/>
                </a:solidFill>
                <a:latin typeface="Courier New"/>
              </a:defRPr>
            </a:pPr>
            <a:r>
              <a:rPr lang="en-GB" altLang="en-GB"/>
              <a:t>Auto-generated MDM profiles</a:t>
            </a:r>
          </a:p>
          <a:p>
            <a:pPr algn="l">
              <a:spcAft>
                <a:spcPts val="200"/>
              </a:spcAft>
              <a:defRPr sz="2000" b="1">
                <a:solidFill>
                  <a:srgbClr val="FFFFFF"/>
                </a:solidFill>
                <a:latin typeface="Courier New"/>
              </a:defRPr>
            </a:pPr>
            <a:r>
              <a:rPr lang="en-GB" altLang="en-GB"/>
              <a:t>based on observed behaviour</a:t>
            </a:r>
          </a:p>
          <a:p>
            <a:pPr algn="l">
              <a:spcAft>
                <a:spcPts val="200"/>
              </a:spcAft>
              <a:defRPr sz="400" b="0">
                <a:solidFill>
                  <a:srgbClr val="888888"/>
                </a:solidFill>
                <a:latin typeface="Courier New"/>
              </a:defRPr>
            </a:pPr>
            <a:endParaRPr lang="en-GB" altLang="en-GB"/>
          </a:p>
          <a:p>
            <a:pPr algn="l">
              <a:spcAft>
                <a:spcPts val="200"/>
              </a:spcAft>
              <a:defRPr sz="1500" b="0">
                <a:solidFill>
                  <a:srgbClr val="00C853"/>
                </a:solidFill>
                <a:latin typeface="Courier New"/>
              </a:defRPr>
            </a:pPr>
            <a:r>
              <a:rPr lang="en-GB" altLang="en-GB"/>
              <a:t>  ✓  PPPC (Privacy Preferences)</a:t>
            </a:r>
          </a:p>
          <a:p>
            <a:pPr algn="l">
              <a:spcAft>
                <a:spcPts val="200"/>
              </a:spcAft>
              <a:defRPr sz="1500" b="0">
                <a:solidFill>
                  <a:srgbClr val="00C853"/>
                </a:solidFill>
                <a:latin typeface="Courier New"/>
              </a:defRPr>
            </a:pPr>
            <a:r>
              <a:rPr lang="en-GB" altLang="en-GB"/>
              <a:t>  ✓  Notifications allowlisting</a:t>
            </a:r>
          </a:p>
          <a:p>
            <a:pPr algn="l">
              <a:spcAft>
                <a:spcPts val="200"/>
              </a:spcAft>
              <a:defRPr sz="1500" b="0">
                <a:solidFill>
                  <a:srgbClr val="00C853"/>
                </a:solidFill>
                <a:latin typeface="Courier New"/>
              </a:defRPr>
            </a:pPr>
            <a:r>
              <a:rPr lang="en-GB" altLang="en-GB"/>
              <a:t>  ✓  System Extensions</a:t>
            </a:r>
          </a:p>
          <a:p>
            <a:pPr algn="l">
              <a:spcAft>
                <a:spcPts val="200"/>
              </a:spcAft>
              <a:defRPr sz="1500" b="0">
                <a:solidFill>
                  <a:srgbClr val="00C853"/>
                </a:solidFill>
                <a:latin typeface="Courier New"/>
              </a:defRPr>
            </a:pPr>
            <a:r>
              <a:rPr lang="en-GB" altLang="en-GB"/>
              <a:t>  ✓  Managed Login Items</a:t>
            </a:r>
          </a:p>
          <a:p>
            <a:pPr algn="l">
              <a:spcAft>
                <a:spcPts val="200"/>
              </a:spcAft>
              <a:defRPr sz="1500" b="0">
                <a:solidFill>
                  <a:srgbClr val="00C853"/>
                </a:solidFill>
                <a:latin typeface="Courier New"/>
              </a:defRPr>
            </a:pPr>
            <a:r>
              <a:rPr lang="en-GB" altLang="en-GB"/>
              <a:t>  ✓  Screen Recording permissions</a:t>
            </a:r>
          </a:p>
          <a:p>
            <a:pPr algn="l">
              <a:spcAft>
                <a:spcPts val="200"/>
              </a:spcAft>
              <a:defRPr sz="1500" b="0">
                <a:solidFill>
                  <a:srgbClr val="00C853"/>
                </a:solidFill>
                <a:latin typeface="Courier New"/>
              </a:defRPr>
            </a:pPr>
            <a:r>
              <a:rPr lang="en-GB" altLang="en-GB"/>
              <a:t>  ✓  Content Filters</a:t>
            </a:r>
          </a:p>
          <a:p>
            <a:pPr algn="l">
              <a:spcAft>
                <a:spcPts val="200"/>
              </a:spcAft>
              <a:defRPr sz="1500" b="0">
                <a:solidFill>
                  <a:srgbClr val="00C853"/>
                </a:solidFill>
                <a:latin typeface="Courier New"/>
              </a:defRPr>
            </a:pPr>
            <a:r>
              <a:rPr lang="en-GB" altLang="en-GB"/>
              <a:t>  ✓  Kernel Extensions (legacy)</a:t>
            </a:r>
          </a:p>
        </p:txBody>
      </p:sp>
      <p:sp>
        <p:nvSpPr>
          <p:cNvPr id="5" name="TextBox 4"/>
          <p:cNvSpPr txBox="1"/>
          <p:nvPr/>
        </p:nvSpPr>
        <p:spPr>
          <a:xfrm>
            <a:off x="6217920" y="1188720"/>
            <a:ext cx="5486400" cy="2743200"/>
          </a:xfrm>
          <a:prstGeom prst="rect">
            <a:avLst/>
          </a:prstGeom>
          <a:noFill/>
        </p:spPr>
        <p:txBody>
          <a:bodyPr wrap="square">
            <a:spAutoFit/>
          </a:bodyPr>
          <a:lstStyle/>
          <a:p>
            <a:pPr algn="l">
              <a:spcAft>
                <a:spcPts val="200"/>
              </a:spcAft>
              <a:defRPr sz="1800" b="1">
                <a:solidFill>
                  <a:srgbClr val="FFA500"/>
                </a:solidFill>
                <a:latin typeface="Courier New"/>
              </a:defRPr>
            </a:pPr>
            <a:r>
              <a:rPr lang="en-GB" altLang="en-GB"/>
              <a:t>WHY DOES THIS APP NEED THAT?</a:t>
            </a:r>
          </a:p>
          <a:p>
            <a:pPr algn="l">
              <a:spcAft>
                <a:spcPts val="200"/>
              </a:spcAft>
              <a:defRPr sz="400" b="0">
                <a:solidFill>
                  <a:srgbClr val="888888"/>
                </a:solidFill>
                <a:latin typeface="Courier New"/>
              </a:defRPr>
            </a:pPr>
            <a:endParaRPr lang="en-GB" altLang="en-GB"/>
          </a:p>
          <a:p>
            <a:pPr algn="l">
              <a:spcAft>
                <a:spcPts val="200"/>
              </a:spcAft>
              <a:defRPr sz="1500" b="0">
                <a:solidFill>
                  <a:srgbClr val="00C853"/>
                </a:solidFill>
                <a:latin typeface="Courier New"/>
              </a:defRPr>
            </a:pPr>
            <a:r>
              <a:rPr lang="en-GB" altLang="en-GB"/>
              <a:t>✓  Zoom → Camera, Mic</a:t>
            </a:r>
          </a:p>
          <a:p>
            <a:pPr algn="l">
              <a:spcAft>
                <a:spcPts val="200"/>
              </a:spcAft>
              <a:defRPr sz="1300" b="0">
                <a:solidFill>
                  <a:srgbClr val="888888"/>
                </a:solidFill>
                <a:latin typeface="Courier New"/>
              </a:defRPr>
            </a:pPr>
            <a:r>
              <a:rPr lang="en-GB" altLang="en-GB"/>
              <a:t>     Makes sense for video calls</a:t>
            </a:r>
          </a:p>
          <a:p>
            <a:pPr algn="l">
              <a:spcAft>
                <a:spcPts val="200"/>
              </a:spcAft>
              <a:defRPr sz="200" b="0">
                <a:solidFill>
                  <a:srgbClr val="888888"/>
                </a:solidFill>
                <a:latin typeface="Courier New"/>
              </a:defRPr>
            </a:pPr>
            <a:endParaRPr lang="en-GB" altLang="en-GB"/>
          </a:p>
          <a:p>
            <a:pPr algn="l">
              <a:spcAft>
                <a:spcPts val="200"/>
              </a:spcAft>
              <a:defRPr sz="1500" b="0">
                <a:solidFill>
                  <a:srgbClr val="FFA500"/>
                </a:solidFill>
                <a:latin typeface="Courier New"/>
              </a:defRPr>
            </a:pPr>
            <a:r>
              <a:rPr lang="en-GB" altLang="en-GB"/>
              <a:t>⚠  Text editor → Camera</a:t>
            </a:r>
          </a:p>
          <a:p>
            <a:pPr algn="l">
              <a:spcAft>
                <a:spcPts val="200"/>
              </a:spcAft>
              <a:defRPr sz="1300" b="0">
                <a:solidFill>
                  <a:srgbClr val="888888"/>
                </a:solidFill>
                <a:latin typeface="Courier New"/>
              </a:defRPr>
            </a:pPr>
            <a:r>
              <a:rPr lang="en-GB" altLang="en-GB"/>
              <a:t>     Why does Notepad need a camera?</a:t>
            </a:r>
          </a:p>
          <a:p>
            <a:pPr algn="l">
              <a:spcAft>
                <a:spcPts val="200"/>
              </a:spcAft>
              <a:defRPr sz="200" b="0">
                <a:solidFill>
                  <a:srgbClr val="888888"/>
                </a:solidFill>
                <a:latin typeface="Courier New"/>
              </a:defRPr>
            </a:pPr>
            <a:endParaRPr lang="en-GB" altLang="en-GB"/>
          </a:p>
          <a:p>
            <a:pPr algn="l">
              <a:spcAft>
                <a:spcPts val="200"/>
              </a:spcAft>
              <a:defRPr sz="1500" b="0">
                <a:solidFill>
                  <a:srgbClr val="FFA500"/>
                </a:solidFill>
                <a:latin typeface="Courier New"/>
              </a:defRPr>
            </a:pPr>
            <a:r>
              <a:rPr lang="en-GB" altLang="en-GB"/>
              <a:t>⚠  Calculator → Full Disk Access</a:t>
            </a:r>
          </a:p>
          <a:p>
            <a:pPr algn="l">
              <a:spcAft>
                <a:spcPts val="200"/>
              </a:spcAft>
              <a:defRPr sz="1300" b="0">
                <a:solidFill>
                  <a:srgbClr val="888888"/>
                </a:solidFill>
                <a:latin typeface="Courier New"/>
              </a:defRPr>
            </a:pPr>
            <a:r>
              <a:rPr lang="en-GB" altLang="en-GB"/>
              <a:t>     Highly suspicious</a:t>
            </a:r>
          </a:p>
          <a:p>
            <a:pPr algn="l">
              <a:spcAft>
                <a:spcPts val="200"/>
              </a:spcAft>
              <a:defRPr sz="200" b="0">
                <a:solidFill>
                  <a:srgbClr val="888888"/>
                </a:solidFill>
                <a:latin typeface="Courier New"/>
              </a:defRPr>
            </a:pPr>
            <a:endParaRPr lang="en-GB" altLang="en-GB"/>
          </a:p>
          <a:p>
            <a:pPr algn="l">
              <a:spcAft>
                <a:spcPts val="200"/>
              </a:spcAft>
              <a:defRPr sz="1500" b="0">
                <a:solidFill>
                  <a:srgbClr val="FFA500"/>
                </a:solidFill>
                <a:latin typeface="Courier New"/>
              </a:defRPr>
            </a:pPr>
            <a:r>
              <a:rPr lang="en-GB" altLang="en-GB"/>
              <a:t>⚠  PDF viewer → Accessibility</a:t>
            </a:r>
          </a:p>
          <a:p>
            <a:pPr algn="l">
              <a:spcAft>
                <a:spcPts val="200"/>
              </a:spcAft>
              <a:defRPr sz="1300" b="0">
                <a:solidFill>
                  <a:srgbClr val="888888"/>
                </a:solidFill>
                <a:latin typeface="Courier New"/>
              </a:defRPr>
            </a:pPr>
            <a:r>
              <a:rPr lang="en-GB" altLang="en-GB"/>
              <a:t>     Unusual unless it has automation</a:t>
            </a:r>
          </a:p>
        </p:txBody>
      </p:sp>
      <p:sp>
        <p:nvSpPr>
          <p:cNvPr id="6" name="TextBox 5"/>
          <p:cNvSpPr txBox="1"/>
          <p:nvPr/>
        </p:nvSpPr>
        <p:spPr>
          <a:xfrm>
            <a:off x="731520" y="406908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NS USAGE DESCRIPTIONS WE CHECK (Info.plist):</a:t>
            </a:r>
          </a:p>
        </p:txBody>
      </p:sp>
      <p:sp>
        <p:nvSpPr>
          <p:cNvPr id="7" name="TextBox 6"/>
          <p:cNvSpPr txBox="1"/>
          <p:nvPr/>
        </p:nvSpPr>
        <p:spPr>
          <a:xfrm>
            <a:off x="731520" y="4434840"/>
            <a:ext cx="10515600" cy="2194560"/>
          </a:xfrm>
          <a:prstGeom prst="rect">
            <a:avLst/>
          </a:prstGeom>
          <a:noFill/>
        </p:spPr>
        <p:txBody>
          <a:bodyPr wrap="square">
            <a:spAutoFit/>
          </a:bodyPr>
          <a:lstStyle/>
          <a:p>
            <a:pPr algn="l">
              <a:spcAft>
                <a:spcPts val="500"/>
              </a:spcAft>
              <a:defRPr sz="1200" b="0">
                <a:solidFill>
                  <a:srgbClr val="00C853"/>
                </a:solidFill>
                <a:latin typeface="Courier New"/>
              </a:defRPr>
            </a:pPr>
            <a:r>
              <a:rPr lang="en-GB" altLang="en-GB"/>
              <a:t>NSCameraUsageDescription             NSMicrophoneUsageDescription</a:t>
            </a:r>
          </a:p>
          <a:p>
            <a:pPr algn="l">
              <a:spcAft>
                <a:spcPts val="500"/>
              </a:spcAft>
              <a:defRPr sz="1200" b="0">
                <a:solidFill>
                  <a:srgbClr val="00C853"/>
                </a:solidFill>
                <a:latin typeface="Courier New"/>
              </a:defRPr>
            </a:pPr>
            <a:r>
              <a:rPr lang="en-GB" altLang="en-GB"/>
              <a:t>NSAppleEventsUsageDescription        NSScreenCaptureUsageDescription</a:t>
            </a:r>
          </a:p>
          <a:p>
            <a:pPr algn="l">
              <a:spcAft>
                <a:spcPts val="500"/>
              </a:spcAft>
              <a:defRPr sz="1200" b="0">
                <a:solidFill>
                  <a:srgbClr val="00C853"/>
                </a:solidFill>
                <a:latin typeface="Courier New"/>
              </a:defRPr>
            </a:pPr>
            <a:r>
              <a:rPr lang="en-GB" altLang="en-GB"/>
              <a:t>NSAccessibilityUsageDescription      NSLocationUsageDescription</a:t>
            </a:r>
          </a:p>
          <a:p>
            <a:pPr algn="l">
              <a:spcAft>
                <a:spcPts val="500"/>
              </a:spcAft>
              <a:defRPr sz="1200" b="0">
                <a:solidFill>
                  <a:srgbClr val="00C853"/>
                </a:solidFill>
                <a:latin typeface="Courier New"/>
              </a:defRPr>
            </a:pPr>
            <a:r>
              <a:rPr lang="en-GB" altLang="en-GB"/>
              <a:t>NSContactsUsageDescription           NSCalendarsUsageDescription</a:t>
            </a:r>
          </a:p>
          <a:p>
            <a:pPr algn="l">
              <a:spcAft>
                <a:spcPts val="500"/>
              </a:spcAft>
              <a:defRPr sz="1200" b="0">
                <a:solidFill>
                  <a:srgbClr val="00C853"/>
                </a:solidFill>
                <a:latin typeface="Courier New"/>
              </a:defRPr>
            </a:pPr>
            <a:r>
              <a:rPr lang="en-GB" altLang="en-GB"/>
              <a:t>NSPhotoLibraryUsageDescription       NSRemindersUsageDescription</a:t>
            </a:r>
          </a:p>
          <a:p>
            <a:pPr algn="l">
              <a:spcAft>
                <a:spcPts val="500"/>
              </a:spcAft>
              <a:defRPr sz="400" b="0">
                <a:solidFill>
                  <a:srgbClr val="888888"/>
                </a:solidFill>
                <a:latin typeface="Courier New"/>
              </a:defRPr>
            </a:pPr>
            <a:endParaRPr lang="en-GB" altLang="en-GB"/>
          </a:p>
          <a:p>
            <a:pPr algn="l">
              <a:spcAft>
                <a:spcPts val="500"/>
              </a:spcAft>
              <a:defRPr sz="1200" b="0">
                <a:solidFill>
                  <a:srgbClr val="888888"/>
                </a:solidFill>
                <a:latin typeface="Courier New"/>
              </a:defRPr>
            </a:pPr>
            <a:r>
              <a:rPr lang="en-GB" altLang="en-GB"/>
              <a:t>These declare what the app says it needs — we verify against actual entitlements.</a:t>
            </a:r>
          </a:p>
          <a:p>
            <a:pPr algn="l">
              <a:spcAft>
                <a:spcPts val="500"/>
              </a:spcAft>
              <a:defRPr sz="400" b="0">
                <a:solidFill>
                  <a:srgbClr val="888888"/>
                </a:solidFill>
                <a:latin typeface="Courier New"/>
              </a:defRPr>
            </a:pPr>
            <a:endParaRPr lang="en-GB" altLang="en-GB"/>
          </a:p>
          <a:p>
            <a:pPr algn="l">
              <a:spcAft>
                <a:spcPts val="500"/>
              </a:spcAft>
              <a:defRPr sz="1200" b="1">
                <a:solidFill>
                  <a:srgbClr val="FFA500"/>
                </a:solidFill>
                <a:latin typeface="Courier New"/>
              </a:defRPr>
            </a:pPr>
            <a:r>
              <a:rPr lang="en-GB" altLang="en-GB"/>
              <a:t>macOS uses just-in-time enablement — apps may not request access until they actually need it.</a:t>
            </a:r>
          </a:p>
          <a:p>
            <a:pPr algn="l">
              <a:spcAft>
                <a:spcPts val="500"/>
              </a:spcAft>
              <a:defRPr sz="1200" b="0">
                <a:solidFill>
                  <a:srgbClr val="FFA500"/>
                </a:solidFill>
                <a:latin typeface="Courier New"/>
              </a:defRPr>
            </a:pPr>
            <a:r>
              <a:rPr lang="en-GB" altLang="en-GB"/>
              <a:t>Check entitlements up front to see what an app is capable of asking for.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ON-DISK DISCOVERY</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029200" cy="1828800"/>
          </a:xfrm>
          <a:prstGeom prst="rect">
            <a:avLst/>
          </a:prstGeom>
          <a:noFill/>
        </p:spPr>
        <p:txBody>
          <a:bodyPr wrap="square">
            <a:spAutoFit/>
          </a:bodyPr>
          <a:lstStyle/>
          <a:p>
            <a:pPr algn="l">
              <a:spcAft>
                <a:spcPts val="300"/>
              </a:spcAft>
              <a:defRPr sz="2200" b="1">
                <a:solidFill>
                  <a:srgbClr val="FFFFFF"/>
                </a:solidFill>
                <a:latin typeface="Courier New"/>
              </a:defRPr>
            </a:pPr>
            <a:r>
              <a:rPr lang="en-GB" altLang="en-GB"/>
              <a:t>Why entitlements aren't enough</a:t>
            </a:r>
          </a:p>
          <a:p>
            <a:pPr algn="l">
              <a:spcAft>
                <a:spcPts val="300"/>
              </a:spcAft>
              <a:defRPr sz="400" b="0">
                <a:solidFill>
                  <a:srgbClr val="888888"/>
                </a:solidFill>
                <a:latin typeface="Courier New"/>
              </a:defRPr>
            </a:pPr>
            <a:endParaRPr lang="en-GB" altLang="en-GB"/>
          </a:p>
          <a:p>
            <a:pPr algn="l">
              <a:spcAft>
                <a:spcPts val="300"/>
              </a:spcAft>
              <a:defRPr sz="1500" b="0">
                <a:solidFill>
                  <a:srgbClr val="CCCCCC"/>
                </a:solidFill>
                <a:latin typeface="Courier New"/>
              </a:defRPr>
            </a:pPr>
            <a:r>
              <a:rPr lang="en-GB" altLang="en-GB"/>
              <a:t>  •  Not all developers declare them</a:t>
            </a:r>
          </a:p>
          <a:p>
            <a:pPr algn="l">
              <a:spcAft>
                <a:spcPts val="300"/>
              </a:spcAft>
              <a:defRPr sz="1500" b="0">
                <a:solidFill>
                  <a:srgbClr val="CCCCCC"/>
                </a:solidFill>
                <a:latin typeface="Courier New"/>
              </a:defRPr>
            </a:pPr>
            <a:r>
              <a:rPr lang="en-GB" altLang="en-GB"/>
              <a:t>  •  NS Usage keys often missing</a:t>
            </a:r>
          </a:p>
          <a:p>
            <a:pPr algn="l">
              <a:spcAft>
                <a:spcPts val="300"/>
              </a:spcAft>
              <a:defRPr sz="1500" b="0">
                <a:solidFill>
                  <a:srgbClr val="CCCCCC"/>
                </a:solidFill>
                <a:latin typeface="Courier New"/>
              </a:defRPr>
            </a:pPr>
            <a:r>
              <a:rPr lang="en-GB" altLang="en-GB"/>
              <a:t>  •  Some apps install helpers/agents</a:t>
            </a:r>
          </a:p>
          <a:p>
            <a:pPr algn="l">
              <a:spcAft>
                <a:spcPts val="300"/>
              </a:spcAft>
              <a:defRPr sz="1500" b="0">
                <a:solidFill>
                  <a:srgbClr val="CCCCCC"/>
                </a:solidFill>
                <a:latin typeface="Courier New"/>
              </a:defRPr>
            </a:pPr>
            <a:r>
              <a:rPr lang="en-GB" altLang="en-GB"/>
              <a:t>  •  Need to see what's actually on disk</a:t>
            </a:r>
          </a:p>
        </p:txBody>
      </p:sp>
      <p:sp>
        <p:nvSpPr>
          <p:cNvPr id="5" name="TextBox 4"/>
          <p:cNvSpPr txBox="1"/>
          <p:nvPr/>
        </p:nvSpPr>
        <p:spPr>
          <a:xfrm>
            <a:off x="6217920" y="1188720"/>
            <a:ext cx="5486400" cy="1828800"/>
          </a:xfrm>
          <a:prstGeom prst="rect">
            <a:avLst/>
          </a:prstGeom>
          <a:noFill/>
        </p:spPr>
        <p:txBody>
          <a:bodyPr wrap="square">
            <a:spAutoFit/>
          </a:bodyPr>
          <a:lstStyle/>
          <a:p>
            <a:pPr algn="l">
              <a:spcAft>
                <a:spcPts val="300"/>
              </a:spcAft>
              <a:defRPr sz="2200" b="1">
                <a:solidFill>
                  <a:srgbClr val="FFFFFF"/>
                </a:solidFill>
                <a:latin typeface="Courier New"/>
              </a:defRPr>
            </a:pPr>
            <a:r>
              <a:rPr lang="en-GB" altLang="en-GB"/>
              <a:t>What we inspect post-install</a:t>
            </a:r>
          </a:p>
          <a:p>
            <a:pPr algn="l">
              <a:spcAft>
                <a:spcPts val="300"/>
              </a:spcAft>
              <a:defRPr sz="400" b="0">
                <a:solidFill>
                  <a:srgbClr val="888888"/>
                </a:solidFill>
                <a:latin typeface="Courier New"/>
              </a:defRPr>
            </a:pPr>
            <a:endParaRPr lang="en-GB" altLang="en-GB"/>
          </a:p>
          <a:p>
            <a:pPr algn="l">
              <a:spcAft>
                <a:spcPts val="300"/>
              </a:spcAft>
              <a:defRPr sz="1500" b="0">
                <a:solidFill>
                  <a:srgbClr val="CCCCCC"/>
                </a:solidFill>
                <a:latin typeface="Courier New"/>
              </a:defRPr>
            </a:pPr>
            <a:r>
              <a:rPr lang="en-GB" altLang="en-GB"/>
              <a:t>  •  Background Task Management (BTM)</a:t>
            </a:r>
          </a:p>
          <a:p>
            <a:pPr algn="l">
              <a:spcAft>
                <a:spcPts val="300"/>
              </a:spcAft>
              <a:defRPr sz="1500" b="0">
                <a:solidFill>
                  <a:srgbClr val="CCCCCC"/>
                </a:solidFill>
                <a:latin typeface="Courier New"/>
              </a:defRPr>
            </a:pPr>
            <a:r>
              <a:rPr lang="en-GB" altLang="en-GB"/>
              <a:t>  •  LaunchAgents &amp; LaunchDaemons</a:t>
            </a:r>
          </a:p>
          <a:p>
            <a:pPr algn="l">
              <a:spcAft>
                <a:spcPts val="300"/>
              </a:spcAft>
              <a:defRPr sz="1500" b="0">
                <a:solidFill>
                  <a:srgbClr val="CCCCCC"/>
                </a:solidFill>
                <a:latin typeface="Courier New"/>
              </a:defRPr>
            </a:pPr>
            <a:r>
              <a:rPr lang="en-GB" altLang="en-GB"/>
              <a:t>  •  Login items &amp; helper tools</a:t>
            </a:r>
          </a:p>
          <a:p>
            <a:pPr algn="l">
              <a:spcAft>
                <a:spcPts val="300"/>
              </a:spcAft>
              <a:defRPr sz="1500" b="0">
                <a:solidFill>
                  <a:srgbClr val="CCCCCC"/>
                </a:solidFill>
                <a:latin typeface="Courier New"/>
              </a:defRPr>
            </a:pPr>
            <a:r>
              <a:rPr lang="en-GB" altLang="en-GB"/>
              <a:t>  •  System &amp; network extensions</a:t>
            </a:r>
          </a:p>
        </p:txBody>
      </p:sp>
      <p:sp>
        <p:nvSpPr>
          <p:cNvPr id="6" name="TextBox 5"/>
          <p:cNvSpPr txBox="1"/>
          <p:nvPr/>
        </p:nvSpPr>
        <p:spPr>
          <a:xfrm>
            <a:off x="731520" y="3291840"/>
            <a:ext cx="10515600" cy="365760"/>
          </a:xfrm>
          <a:prstGeom prst="rect">
            <a:avLst/>
          </a:prstGeom>
          <a:noFill/>
        </p:spPr>
        <p:txBody>
          <a:bodyPr wrap="square"/>
          <a:lstStyle/>
          <a:p>
            <a:pPr algn="l">
              <a:spcBef>
                <a:spcPts val="0"/>
              </a:spcBef>
              <a:spcAft>
                <a:spcPts val="0"/>
              </a:spcAft>
              <a:defRPr sz="1800" b="1">
                <a:solidFill>
                  <a:srgbClr val="CC2424"/>
                </a:solidFill>
                <a:latin typeface="Courier New"/>
              </a:defRPr>
            </a:pPr>
            <a:r>
              <a:rPr lang="en-GB" altLang="en-GB"/>
              <a:t>KEY COMMANDS:</a:t>
            </a:r>
          </a:p>
        </p:txBody>
      </p:sp>
      <p:sp>
        <p:nvSpPr>
          <p:cNvPr id="7" name="TextBox 6"/>
          <p:cNvSpPr txBox="1"/>
          <p:nvPr/>
        </p:nvSpPr>
        <p:spPr>
          <a:xfrm>
            <a:off x="731520" y="3749039"/>
            <a:ext cx="10515600" cy="2926080"/>
          </a:xfrm>
          <a:prstGeom prst="rect">
            <a:avLst/>
          </a:prstGeom>
          <a:noFill/>
        </p:spPr>
        <p:txBody>
          <a:bodyPr wrap="square">
            <a:spAutoFit/>
          </a:bodyPr>
          <a:lstStyle/>
          <a:p>
            <a:pPr algn="l">
              <a:spcAft>
                <a:spcPts val="0"/>
              </a:spcAft>
              <a:defRPr sz="1500" b="1">
                <a:solidFill>
                  <a:srgbClr val="00C853"/>
                </a:solidFill>
                <a:latin typeface="Courier New"/>
              </a:defRPr>
            </a:pPr>
            <a:r>
              <a:rPr lang="en-GB" altLang="en-GB"/>
              <a:t>sfltool dumpbtm</a:t>
            </a:r>
          </a:p>
          <a:p>
            <a:pPr algn="l">
              <a:spcAft>
                <a:spcPts val="0"/>
              </a:spcAft>
              <a:defRPr sz="1300" b="0">
                <a:solidFill>
                  <a:srgbClr val="888888"/>
                </a:solidFill>
                <a:latin typeface="Courier New"/>
              </a:defRPr>
            </a:pPr>
            <a:r>
              <a:rPr lang="en-GB" altLang="en-GB"/>
              <a:t>  → Dumps Background Task Management database — login items, agents, daemons</a:t>
            </a:r>
          </a:p>
          <a:p>
            <a:pPr algn="l">
              <a:spcAft>
                <a:spcPts val="0"/>
              </a:spcAft>
              <a:defRPr sz="400" b="0">
                <a:solidFill>
                  <a:srgbClr val="888888"/>
                </a:solidFill>
                <a:latin typeface="Courier New"/>
              </a:defRPr>
            </a:pPr>
            <a:endParaRPr lang="en-GB" altLang="en-GB"/>
          </a:p>
          <a:p>
            <a:pPr algn="l">
              <a:spcAft>
                <a:spcPts val="0"/>
              </a:spcAft>
              <a:defRPr sz="1500" b="1">
                <a:solidFill>
                  <a:srgbClr val="00C853"/>
                </a:solidFill>
                <a:latin typeface="Courier New"/>
              </a:defRPr>
            </a:pPr>
            <a:r>
              <a:rPr lang="en-GB" altLang="en-GB"/>
              <a:t>systemextensionsctl list</a:t>
            </a:r>
          </a:p>
          <a:p>
            <a:pPr algn="l">
              <a:spcAft>
                <a:spcPts val="0"/>
              </a:spcAft>
              <a:defRPr sz="1300" b="0">
                <a:solidFill>
                  <a:srgbClr val="888888"/>
                </a:solidFill>
                <a:latin typeface="Courier New"/>
              </a:defRPr>
            </a:pPr>
            <a:r>
              <a:rPr lang="en-GB" altLang="en-GB"/>
              <a:t>  → Lists all installed system extensions (network filters, endpoint security)</a:t>
            </a:r>
          </a:p>
          <a:p>
            <a:pPr algn="l">
              <a:spcAft>
                <a:spcPts val="0"/>
              </a:spcAft>
              <a:defRPr sz="600" b="0">
                <a:solidFill>
                  <a:srgbClr val="888888"/>
                </a:solidFill>
                <a:latin typeface="Courier New"/>
              </a:defRPr>
            </a:pPr>
            <a:endParaRPr lang="en-GB" altLang="en-GB"/>
          </a:p>
          <a:p>
            <a:pPr algn="l">
              <a:spcAft>
                <a:spcPts val="0"/>
              </a:spcAft>
              <a:defRPr sz="1300" b="1">
                <a:solidFill>
                  <a:srgbClr val="FFA500"/>
                </a:solidFill>
                <a:latin typeface="Courier New"/>
              </a:defRPr>
            </a:pPr>
            <a:r>
              <a:rPr lang="en-GB" altLang="en-GB"/>
              <a:t>We combine these with entitlement and persistence data to auto-generate PPPC, login item, and extension profiles.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PHASE 6: THE DOSSIER</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06424"/>
            <a:ext cx="10515600" cy="914400"/>
          </a:xfrm>
          <a:prstGeom prst="rect">
            <a:avLst/>
          </a:prstGeom>
          <a:noFill/>
        </p:spPr>
        <p:txBody>
          <a:bodyPr wrap="square">
            <a:spAutoFit/>
          </a:bodyPr>
          <a:lstStyle/>
          <a:p>
            <a:pPr algn="l">
              <a:spcAft>
                <a:spcPts val="300"/>
              </a:spcAft>
              <a:defRPr sz="1800" b="1">
                <a:solidFill>
                  <a:srgbClr val="00C853"/>
                </a:solidFill>
                <a:latin typeface="Courier New"/>
              </a:defRPr>
            </a:pPr>
            <a:r>
              <a:rPr lang="en-GB" altLang="en-GB"/>
              <a:t># Jamf Auto Update Software Title Installation Test Report</a:t>
            </a:r>
          </a:p>
          <a:p>
            <a:pPr algn="l">
              <a:spcAft>
                <a:spcPts val="300"/>
              </a:spcAft>
              <a:defRPr sz="1500" b="0">
                <a:solidFill>
                  <a:srgbClr val="888888"/>
                </a:solidFill>
                <a:latin typeface="Courier New"/>
              </a:defRPr>
            </a:pPr>
            <a:r>
              <a:rPr lang="en-GB" altLang="en-GB"/>
              <a:t>Generated: 2026-04-18 12:34:03</a:t>
            </a:r>
          </a:p>
          <a:p>
            <a:pPr algn="l">
              <a:spcAft>
                <a:spcPts val="300"/>
              </a:spcAft>
              <a:defRPr sz="1500" b="0">
                <a:solidFill>
                  <a:srgbClr val="CCCCCC"/>
                </a:solidFill>
                <a:latin typeface="Courier New"/>
              </a:defRPr>
            </a:pPr>
            <a:r>
              <a:rPr lang="en-GB" altLang="en-GB"/>
              <a:t>Application: EpidemicSound (x86_64) (version: 1.18.10)</a:t>
            </a:r>
          </a:p>
        </p:txBody>
      </p:sp>
      <p:sp>
        <p:nvSpPr>
          <p:cNvPr id="5" name="TextBox 4"/>
          <p:cNvSpPr txBox="1"/>
          <p:nvPr/>
        </p:nvSpPr>
        <p:spPr>
          <a:xfrm>
            <a:off x="685800" y="2075688"/>
            <a:ext cx="5303520" cy="4621743"/>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sz="1200" dirty="0"/>
              <a:t>## System Information</a:t>
            </a:r>
          </a:p>
          <a:p>
            <a:pPr algn="l">
              <a:spcAft>
                <a:spcPts val="100"/>
              </a:spcAft>
              <a:defRPr sz="500" b="0">
                <a:solidFill>
                  <a:srgbClr val="888888"/>
                </a:solidFill>
                <a:latin typeface="Courier New"/>
              </a:defRPr>
            </a:pPr>
            <a:endParaRPr lang="en-GB" altLang="en-GB" sz="1200" dirty="0"/>
          </a:p>
          <a:p>
            <a:pPr algn="l">
              <a:spcAft>
                <a:spcPts val="100"/>
              </a:spcAft>
              <a:defRPr sz="1400" b="0">
                <a:solidFill>
                  <a:srgbClr val="CCCCCC"/>
                </a:solidFill>
                <a:latin typeface="Courier New"/>
              </a:defRPr>
            </a:pPr>
            <a:r>
              <a:rPr lang="en-GB" altLang="en-GB" sz="1200" dirty="0"/>
              <a:t>Detected macOS version: 26.4.1 (macOS Tahoe)</a:t>
            </a:r>
          </a:p>
          <a:p>
            <a:pPr algn="l">
              <a:spcAft>
                <a:spcPts val="100"/>
              </a:spcAft>
              <a:defRPr sz="1400" b="0">
                <a:solidFill>
                  <a:srgbClr val="CCCCCC"/>
                </a:solidFill>
                <a:latin typeface="Courier New"/>
              </a:defRPr>
            </a:pPr>
            <a:r>
              <a:rPr lang="en-GB" altLang="en-GB" sz="1200" dirty="0"/>
              <a:t>Detected architecture: x86_64</a:t>
            </a:r>
          </a:p>
          <a:p>
            <a:pPr algn="l">
              <a:spcAft>
                <a:spcPts val="100"/>
              </a:spcAft>
              <a:defRPr sz="1400" b="0">
                <a:solidFill>
                  <a:srgbClr val="CCCCCC"/>
                </a:solidFill>
                <a:latin typeface="Courier New"/>
              </a:defRPr>
            </a:pPr>
            <a:r>
              <a:rPr lang="en-GB" altLang="en-GB" sz="1200" dirty="0"/>
              <a:t>Detected Munki version: 6.6.5.4711</a:t>
            </a:r>
          </a:p>
          <a:p>
            <a:pPr algn="l">
              <a:spcAft>
                <a:spcPts val="100"/>
              </a:spcAft>
              <a:defRPr sz="1400" b="0">
                <a:solidFill>
                  <a:srgbClr val="CCCCCC"/>
                </a:solidFill>
                <a:latin typeface="Courier New"/>
              </a:defRPr>
            </a:pPr>
            <a:r>
              <a:rPr lang="en-GB" altLang="en-GB" sz="1200" dirty="0"/>
              <a:t>Console user: test</a:t>
            </a:r>
          </a:p>
          <a:p>
            <a:pPr algn="l">
              <a:spcAft>
                <a:spcPts val="100"/>
              </a:spcAft>
              <a:defRPr sz="1400" b="0">
                <a:solidFill>
                  <a:srgbClr val="CCCCCC"/>
                </a:solidFill>
                <a:latin typeface="Courier New"/>
              </a:defRPr>
            </a:pPr>
            <a:r>
              <a:rPr lang="en-GB" altLang="en-GB" sz="1200" dirty="0"/>
              <a:t>User admin status: Administrator</a:t>
            </a:r>
          </a:p>
          <a:p>
            <a:pPr algn="l">
              <a:spcAft>
                <a:spcPts val="100"/>
              </a:spcAft>
              <a:defRPr sz="1400" b="0">
                <a:solidFill>
                  <a:srgbClr val="CCCCCC"/>
                </a:solidFill>
                <a:latin typeface="Courier New"/>
              </a:defRPr>
            </a:pPr>
            <a:r>
              <a:rPr lang="en-GB" altLang="en-GB" sz="1200" dirty="0"/>
              <a:t>Model Identifier: MacBookPro16,1</a:t>
            </a:r>
          </a:p>
          <a:p>
            <a:pPr algn="l">
              <a:spcAft>
                <a:spcPts val="100"/>
              </a:spcAft>
              <a:defRPr sz="1400" b="0">
                <a:solidFill>
                  <a:srgbClr val="CCCCCC"/>
                </a:solidFill>
                <a:latin typeface="Courier New"/>
              </a:defRPr>
            </a:pPr>
            <a:r>
              <a:rPr lang="en-GB" altLang="en-GB" sz="1200" dirty="0"/>
              <a:t>System type: Physical Hardware — MacBook Pro</a:t>
            </a:r>
          </a:p>
          <a:p>
            <a:pPr algn="l">
              <a:spcAft>
                <a:spcPts val="100"/>
              </a:spcAft>
              <a:defRPr sz="1400" b="0">
                <a:solidFill>
                  <a:srgbClr val="CCCCCC"/>
                </a:solidFill>
                <a:latin typeface="Courier New"/>
              </a:defRPr>
            </a:pPr>
            <a:r>
              <a:rPr lang="en-GB" altLang="en-GB" sz="1200" dirty="0"/>
              <a:t>Serial number: C02FV960MD6R</a:t>
            </a:r>
          </a:p>
          <a:p>
            <a:pPr algn="l">
              <a:spcAft>
                <a:spcPts val="100"/>
              </a:spcAft>
              <a:defRPr sz="500" b="0">
                <a:solidFill>
                  <a:srgbClr val="888888"/>
                </a:solidFill>
                <a:latin typeface="Courier New"/>
              </a:defRPr>
            </a:pPr>
            <a:endParaRPr lang="en-GB" altLang="en-GB" sz="1200" dirty="0"/>
          </a:p>
          <a:p>
            <a:pPr algn="l">
              <a:spcAft>
                <a:spcPts val="100"/>
              </a:spcAft>
              <a:defRPr sz="1500" b="1">
                <a:solidFill>
                  <a:srgbClr val="FFA500"/>
                </a:solidFill>
                <a:latin typeface="Courier New"/>
              </a:defRPr>
            </a:pPr>
            <a:r>
              <a:rPr lang="en-GB" altLang="en-GB" sz="1200" dirty="0"/>
              <a:t>Security tools detected: 7 tools</a:t>
            </a:r>
          </a:p>
          <a:p>
            <a:pPr algn="l">
              <a:spcAft>
                <a:spcPts val="100"/>
              </a:spcAft>
              <a:defRPr sz="1400" b="0">
                <a:solidFill>
                  <a:srgbClr val="888888"/>
                </a:solidFill>
                <a:latin typeface="Courier New"/>
              </a:defRPr>
            </a:pPr>
            <a:r>
              <a:rPr lang="en-GB" altLang="en-GB" sz="1200" dirty="0"/>
              <a:t>  BlockBlock: 2.4.2</a:t>
            </a:r>
          </a:p>
          <a:p>
            <a:pPr algn="l">
              <a:spcAft>
                <a:spcPts val="100"/>
              </a:spcAft>
              <a:defRPr sz="1400" b="0">
                <a:solidFill>
                  <a:srgbClr val="888888"/>
                </a:solidFill>
                <a:latin typeface="Courier New"/>
              </a:defRPr>
            </a:pPr>
            <a:r>
              <a:rPr lang="en-GB" altLang="en-GB" sz="1200" dirty="0"/>
              <a:t>  </a:t>
            </a:r>
            <a:r>
              <a:rPr lang="en-GB" altLang="en-GB" sz="1200" dirty="0" err="1"/>
              <a:t>LuLu</a:t>
            </a:r>
            <a:r>
              <a:rPr lang="en-GB" altLang="en-GB" sz="1200" dirty="0"/>
              <a:t>: 4.3.1</a:t>
            </a:r>
          </a:p>
          <a:p>
            <a:pPr algn="l">
              <a:spcAft>
                <a:spcPts val="100"/>
              </a:spcAft>
              <a:defRPr sz="1400" b="0">
                <a:solidFill>
                  <a:srgbClr val="888888"/>
                </a:solidFill>
                <a:latin typeface="Courier New"/>
              </a:defRPr>
            </a:pPr>
            <a:r>
              <a:rPr lang="en-GB" altLang="en-GB" sz="1200" dirty="0"/>
              <a:t>  </a:t>
            </a:r>
            <a:r>
              <a:rPr lang="en-GB" altLang="en-GB" sz="1200" dirty="0" err="1"/>
              <a:t>ReiKey</a:t>
            </a:r>
            <a:r>
              <a:rPr lang="en-GB" altLang="en-GB" sz="1200" dirty="0"/>
              <a:t>: 1.4.2</a:t>
            </a:r>
          </a:p>
          <a:p>
            <a:pPr algn="l">
              <a:spcAft>
                <a:spcPts val="100"/>
              </a:spcAft>
              <a:defRPr sz="1400" b="0">
                <a:solidFill>
                  <a:srgbClr val="888888"/>
                </a:solidFill>
                <a:latin typeface="Courier New"/>
              </a:defRPr>
            </a:pPr>
            <a:r>
              <a:rPr lang="en-GB" altLang="en-GB" sz="1200" dirty="0"/>
              <a:t>  </a:t>
            </a:r>
            <a:r>
              <a:rPr lang="en-GB" altLang="en-GB" sz="1200" dirty="0" err="1"/>
              <a:t>RansomWhere</a:t>
            </a:r>
            <a:r>
              <a:rPr lang="en-GB" altLang="en-GB" sz="1200" dirty="0"/>
              <a:t>: 2.1.2</a:t>
            </a:r>
          </a:p>
          <a:p>
            <a:pPr algn="l">
              <a:spcAft>
                <a:spcPts val="100"/>
              </a:spcAft>
              <a:defRPr sz="1400" b="0">
                <a:solidFill>
                  <a:srgbClr val="888888"/>
                </a:solidFill>
                <a:latin typeface="Courier New"/>
              </a:defRPr>
            </a:pPr>
            <a:r>
              <a:rPr lang="en-GB" altLang="en-GB" sz="1200" dirty="0"/>
              <a:t>  </a:t>
            </a:r>
            <a:r>
              <a:rPr lang="en-GB" altLang="en-GB" sz="1200" dirty="0" err="1"/>
              <a:t>OverSight</a:t>
            </a:r>
            <a:r>
              <a:rPr lang="en-GB" altLang="en-GB" sz="1200" dirty="0"/>
              <a:t>: 2.4.0</a:t>
            </a:r>
          </a:p>
          <a:p>
            <a:pPr algn="l">
              <a:spcAft>
                <a:spcPts val="100"/>
              </a:spcAft>
              <a:defRPr sz="1400" b="0">
                <a:solidFill>
                  <a:srgbClr val="888888"/>
                </a:solidFill>
                <a:latin typeface="Courier New"/>
              </a:defRPr>
            </a:pPr>
            <a:r>
              <a:rPr lang="en-GB" altLang="en-GB" sz="1200" dirty="0"/>
              <a:t>  XProtect: 5338 (Installed: 2026-04-13 07:33:53)</a:t>
            </a:r>
          </a:p>
          <a:p>
            <a:pPr algn="l">
              <a:spcAft>
                <a:spcPts val="100"/>
              </a:spcAft>
              <a:defRPr sz="1400" b="0">
                <a:solidFill>
                  <a:srgbClr val="888888"/>
                </a:solidFill>
                <a:latin typeface="Courier New"/>
              </a:defRPr>
            </a:pPr>
            <a:r>
              <a:rPr lang="en-GB" altLang="en-GB" sz="1200" dirty="0"/>
              <a:t>  </a:t>
            </a:r>
            <a:r>
              <a:rPr lang="en-GB" altLang="en-GB" sz="1200" dirty="0" err="1"/>
              <a:t>KnockKnock</a:t>
            </a:r>
            <a:r>
              <a:rPr lang="en-GB" altLang="en-GB" sz="1200" dirty="0"/>
              <a:t>: 4.0.3</a:t>
            </a:r>
          </a:p>
          <a:p>
            <a:pPr algn="l">
              <a:spcAft>
                <a:spcPts val="100"/>
              </a:spcAft>
              <a:defRPr sz="500" b="0">
                <a:solidFill>
                  <a:srgbClr val="888888"/>
                </a:solidFill>
                <a:latin typeface="Courier New"/>
              </a:defRPr>
            </a:pPr>
            <a:endParaRPr lang="en-GB" altLang="en-GB" sz="1200" dirty="0"/>
          </a:p>
          <a:p>
            <a:pPr algn="l">
              <a:spcAft>
                <a:spcPts val="100"/>
              </a:spcAft>
              <a:defRPr sz="1400" b="0">
                <a:solidFill>
                  <a:srgbClr val="CCCCCC"/>
                </a:solidFill>
                <a:latin typeface="Courier New"/>
              </a:defRPr>
            </a:pPr>
            <a:r>
              <a:rPr lang="en-GB" altLang="en-GB" sz="1200" dirty="0"/>
              <a:t>XProtect Configuration:</a:t>
            </a:r>
          </a:p>
          <a:p>
            <a:pPr algn="l">
              <a:spcAft>
                <a:spcPts val="100"/>
              </a:spcAft>
              <a:defRPr sz="1400" b="0">
                <a:solidFill>
                  <a:srgbClr val="888888"/>
                </a:solidFill>
                <a:latin typeface="Courier New"/>
              </a:defRPr>
            </a:pPr>
            <a:r>
              <a:rPr lang="en-GB" altLang="en-GB" sz="1200" dirty="0"/>
              <a:t>  Launch scans: enabled</a:t>
            </a:r>
          </a:p>
          <a:p>
            <a:pPr algn="l">
              <a:spcAft>
                <a:spcPts val="100"/>
              </a:spcAft>
              <a:defRPr sz="1400" b="0">
                <a:solidFill>
                  <a:srgbClr val="888888"/>
                </a:solidFill>
                <a:latin typeface="Courier New"/>
              </a:defRPr>
            </a:pPr>
            <a:r>
              <a:rPr lang="en-GB" altLang="en-GB" sz="1200" dirty="0"/>
              <a:t>  Background scans: enabled</a:t>
            </a:r>
          </a:p>
        </p:txBody>
      </p:sp>
      <p:sp>
        <p:nvSpPr>
          <p:cNvPr id="6" name="TextBox 5"/>
          <p:cNvSpPr txBox="1"/>
          <p:nvPr/>
        </p:nvSpPr>
        <p:spPr>
          <a:xfrm>
            <a:off x="6400800" y="2075688"/>
            <a:ext cx="5029200" cy="164592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Rosetta Compatibility</a:t>
            </a:r>
          </a:p>
          <a:p>
            <a:pPr algn="l">
              <a:spcAft>
                <a:spcPts val="100"/>
              </a:spcAft>
              <a:defRPr sz="500" b="0">
                <a:solidFill>
                  <a:srgbClr val="888888"/>
                </a:solidFill>
                <a:latin typeface="Courier New"/>
              </a:defRPr>
            </a:pPr>
            <a:endParaRPr lang="en-GB" altLang="en-GB"/>
          </a:p>
          <a:p>
            <a:pPr algn="l">
              <a:spcAft>
                <a:spcPts val="100"/>
              </a:spcAft>
              <a:defRPr sz="1500" b="0">
                <a:solidFill>
                  <a:srgbClr val="CCCCCC"/>
                </a:solidFill>
                <a:latin typeface="Courier New"/>
              </a:defRPr>
            </a:pPr>
            <a:r>
              <a:rPr lang="en-GB" altLang="en-GB"/>
              <a:t>Epidemic Sound.app:</a:t>
            </a:r>
          </a:p>
          <a:p>
            <a:pPr algn="l">
              <a:spcAft>
                <a:spcPts val="100"/>
              </a:spcAft>
              <a:defRPr sz="1400" b="0">
                <a:solidFill>
                  <a:srgbClr val="00C853"/>
                </a:solidFill>
                <a:latin typeface="Courier New"/>
              </a:defRPr>
            </a:pPr>
            <a:r>
              <a:rPr lang="en-GB" altLang="en-GB"/>
              <a:t>  Runs natively on Apple Silicon</a:t>
            </a:r>
          </a:p>
          <a:p>
            <a:pPr algn="l">
              <a:spcAft>
                <a:spcPts val="100"/>
              </a:spcAft>
              <a:defRPr sz="1400" b="0">
                <a:solidFill>
                  <a:srgbClr val="888888"/>
                </a:solidFill>
                <a:latin typeface="Courier New"/>
              </a:defRPr>
            </a:pPr>
            <a:r>
              <a:rPr lang="en-GB" altLang="en-GB"/>
              <a:t>  Intel binary (x86_64)</a:t>
            </a:r>
          </a:p>
          <a:p>
            <a:pPr algn="l">
              <a:spcAft>
                <a:spcPts val="100"/>
              </a:spcAft>
              <a:defRPr sz="1400" b="0">
                <a:solidFill>
                  <a:srgbClr val="888888"/>
                </a:solidFill>
                <a:latin typeface="Courier New"/>
              </a:defRPr>
            </a:pPr>
            <a:r>
              <a:rPr lang="en-GB" altLang="en-GB"/>
              <a:t>  runs natively on Intel, requires Rosetta 2 on Apple Silicon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303520" cy="3227832"/>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Catalog Validation</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Uninstall Method: remove_copied_items</a:t>
            </a:r>
          </a:p>
          <a:p>
            <a:pPr algn="l">
              <a:spcAft>
                <a:spcPts val="100"/>
              </a:spcAft>
              <a:defRPr sz="1400" b="0">
                <a:solidFill>
                  <a:srgbClr val="CCCCCC"/>
                </a:solidFill>
                <a:latin typeface="Courier New"/>
              </a:defRPr>
            </a:pPr>
            <a:r>
              <a:rPr lang="en-GB" altLang="en-GB"/>
              <a:t>Found 1 item(s) in installs array</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Validating installs array item 1:</a:t>
            </a:r>
          </a:p>
          <a:p>
            <a:pPr algn="l">
              <a:spcAft>
                <a:spcPts val="100"/>
              </a:spcAft>
              <a:defRPr sz="1400" b="0">
                <a:solidFill>
                  <a:srgbClr val="888888"/>
                </a:solidFill>
                <a:latin typeface="Courier New"/>
              </a:defRPr>
            </a:pPr>
            <a:r>
              <a:rPr lang="en-GB" altLang="en-GB"/>
              <a:t>  Found minosversion: 12.0</a:t>
            </a:r>
          </a:p>
          <a:p>
            <a:pPr algn="l">
              <a:spcAft>
                <a:spcPts val="100"/>
              </a:spcAft>
              <a:defRPr sz="1400" b="0">
                <a:solidFill>
                  <a:srgbClr val="888888"/>
                </a:solidFill>
                <a:latin typeface="Courier New"/>
              </a:defRPr>
            </a:pPr>
            <a:r>
              <a:rPr lang="en-GB" altLang="en-GB"/>
              <a:t>✅ CFBundleShortVersionString matches (1.18.10)</a:t>
            </a:r>
          </a:p>
          <a:p>
            <a:pPr algn="l">
              <a:spcAft>
                <a:spcPts val="100"/>
              </a:spcAft>
              <a:defRPr sz="1400" b="0">
                <a:solidFill>
                  <a:srgbClr val="888888"/>
                </a:solidFill>
                <a:latin typeface="Courier New"/>
              </a:defRPr>
            </a:pPr>
            <a:r>
              <a:rPr lang="en-GB" altLang="en-GB"/>
              <a:t>  Path: /Applications/Epidemic Sound.app</a:t>
            </a:r>
          </a:p>
          <a:p>
            <a:pPr algn="l">
              <a:spcAft>
                <a:spcPts val="100"/>
              </a:spcAft>
              <a:defRPr sz="1400" b="0">
                <a:solidFill>
                  <a:srgbClr val="888888"/>
                </a:solidFill>
                <a:latin typeface="Courier New"/>
              </a:defRPr>
            </a:pPr>
            <a:r>
              <a:rPr lang="en-GB" altLang="en-GB"/>
              <a:t>  Type: application</a:t>
            </a:r>
          </a:p>
          <a:p>
            <a:pPr algn="l">
              <a:spcAft>
                <a:spcPts val="100"/>
              </a:spcAft>
              <a:defRPr sz="1400" b="0">
                <a:solidFill>
                  <a:srgbClr val="888888"/>
                </a:solidFill>
                <a:latin typeface="Courier New"/>
              </a:defRPr>
            </a:pPr>
            <a:r>
              <a:rPr lang="en-GB" altLang="en-GB"/>
              <a:t>  Bundle ID: com.electron.epidemic-sound</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OS Version Validation:</a:t>
            </a:r>
          </a:p>
          <a:p>
            <a:pPr algn="l">
              <a:spcAft>
                <a:spcPts val="100"/>
              </a:spcAft>
              <a:defRPr sz="1400" b="0">
                <a:solidFill>
                  <a:srgbClr val="888888"/>
                </a:solidFill>
                <a:latin typeface="Courier New"/>
              </a:defRPr>
            </a:pPr>
            <a:r>
              <a:rPr lang="en-GB" altLang="en-GB"/>
              <a:t>  Found 1 minosversion(s): 12.0</a:t>
            </a:r>
          </a:p>
          <a:p>
            <a:pPr algn="l">
              <a:spcAft>
                <a:spcPts val="100"/>
              </a:spcAft>
              <a:defRPr sz="1400" b="0">
                <a:solidFill>
                  <a:srgbClr val="888888"/>
                </a:solidFill>
                <a:latin typeface="Courier New"/>
              </a:defRPr>
            </a:pPr>
            <a:r>
              <a:rPr lang="en-GB" altLang="en-GB"/>
              <a:t>✅ Highest minosversion matches minimum_os_version (12.0)</a:t>
            </a:r>
          </a:p>
        </p:txBody>
      </p:sp>
      <p:sp>
        <p:nvSpPr>
          <p:cNvPr id="5" name="TextBox 4"/>
          <p:cNvSpPr txBox="1"/>
          <p:nvPr/>
        </p:nvSpPr>
        <p:spPr>
          <a:xfrm>
            <a:off x="6400800" y="1188720"/>
            <a:ext cx="5029200" cy="1856231"/>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Installation Details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Selected application: EpidemicSound</a:t>
            </a:r>
          </a:p>
          <a:p>
            <a:pPr algn="l">
              <a:spcAft>
                <a:spcPts val="100"/>
              </a:spcAft>
              <a:defRPr sz="1400" b="0">
                <a:solidFill>
                  <a:srgbClr val="CCCCCC"/>
                </a:solidFill>
                <a:latin typeface="Courier New"/>
              </a:defRPr>
            </a:pPr>
            <a:r>
              <a:rPr lang="en-GB" altLang="en-GB"/>
              <a:t>Version: 1.18.10</a:t>
            </a:r>
          </a:p>
          <a:p>
            <a:pPr algn="l">
              <a:spcAft>
                <a:spcPts val="100"/>
              </a:spcAft>
              <a:defRPr sz="1400" b="0">
                <a:solidFill>
                  <a:srgbClr val="CCCCCC"/>
                </a:solidFill>
                <a:latin typeface="Courier New"/>
              </a:defRPr>
            </a:pPr>
            <a:r>
              <a:rPr lang="en-GB" altLang="en-GB"/>
              <a:t>Architecture: (x86_64)</a:t>
            </a:r>
          </a:p>
          <a:p>
            <a:pPr algn="l">
              <a:spcAft>
                <a:spcPts val="100"/>
              </a:spcAft>
              <a:defRPr sz="1400" b="0">
                <a:solidFill>
                  <a:srgbClr val="CCCCCC"/>
                </a:solidFill>
                <a:latin typeface="Courier New"/>
              </a:defRPr>
            </a:pPr>
            <a:r>
              <a:rPr lang="en-GB" altLang="en-GB"/>
              <a:t>Installation started: 2026-04-18 12:34:11</a:t>
            </a:r>
          </a:p>
          <a:p>
            <a:pPr algn="l">
              <a:spcAft>
                <a:spcPts val="100"/>
              </a:spcAft>
              <a:defRPr sz="1400" b="0">
                <a:solidFill>
                  <a:srgbClr val="00C853"/>
                </a:solidFill>
                <a:latin typeface="Courier New"/>
              </a:defRPr>
            </a:pPr>
            <a:r>
              <a:rPr lang="en-GB" altLang="en-GB"/>
              <a:t>→ The software was successfully installed.</a:t>
            </a:r>
          </a:p>
          <a:p>
            <a:pPr algn="l">
              <a:spcAft>
                <a:spcPts val="100"/>
              </a:spcAft>
              <a:defRPr sz="1400" b="0">
                <a:solidFill>
                  <a:srgbClr val="CCCCCC"/>
                </a:solidFill>
                <a:latin typeface="Courier New"/>
              </a:defRPr>
            </a:pPr>
            <a:r>
              <a:rPr lang="en-GB" altLang="en-GB"/>
              <a:t>Installation completed: 2026-04-18 12:39:20</a:t>
            </a:r>
          </a:p>
          <a:p>
            <a:pPr algn="l">
              <a:spcAft>
                <a:spcPts val="100"/>
              </a:spcAft>
              <a:defRPr sz="1400" b="0">
                <a:solidFill>
                  <a:srgbClr val="CCCCCC"/>
                </a:solidFill>
                <a:latin typeface="Courier New"/>
              </a:defRPr>
            </a:pPr>
            <a:r>
              <a:rPr lang="en-GB" altLang="en-GB"/>
              <a:t>Installation duration: 5m 8s</a:t>
            </a:r>
          </a:p>
        </p:txBody>
      </p:sp>
      <p:sp>
        <p:nvSpPr>
          <p:cNvPr id="6" name="TextBox 5"/>
          <p:cNvSpPr txBox="1"/>
          <p:nvPr/>
        </p:nvSpPr>
        <p:spPr>
          <a:xfrm>
            <a:off x="731520" y="4425696"/>
            <a:ext cx="5303520" cy="2084831"/>
          </a:xfrm>
          <a:prstGeom prst="rect">
            <a:avLst/>
          </a:prstGeom>
          <a:noFill/>
        </p:spPr>
        <p:txBody>
          <a:bodyPr wrap="square">
            <a:spAutoFit/>
          </a:bodyPr>
          <a:lstStyle/>
          <a:p>
            <a:pPr algn="l">
              <a:spcAft>
                <a:spcPts val="100"/>
              </a:spcAft>
              <a:defRPr sz="1100" b="1">
                <a:solidFill>
                  <a:srgbClr val="00C853"/>
                </a:solidFill>
                <a:latin typeface="Courier New"/>
              </a:defRPr>
            </a:pPr>
            <a:r>
              <a:rPr lang="en-GB" altLang="en-GB"/>
              <a:t>## Test Results</a:t>
            </a:r>
          </a:p>
          <a:p>
            <a:pPr algn="l">
              <a:spcAft>
                <a:spcPts val="100"/>
              </a:spcAft>
              <a:defRPr sz="500" b="0">
                <a:solidFill>
                  <a:srgbClr val="888888"/>
                </a:solidFill>
                <a:latin typeface="Courier New"/>
              </a:defRPr>
            </a:pPr>
            <a:endParaRPr lang="en-GB" altLang="en-GB"/>
          </a:p>
          <a:p>
            <a:pPr algn="l">
              <a:spcAft>
                <a:spcPts val="100"/>
              </a:spcAft>
              <a:defRPr sz="1100" b="0">
                <a:solidFill>
                  <a:srgbClr val="CCCCCC"/>
                </a:solidFill>
                <a:latin typeface="Courier New"/>
              </a:defRPr>
            </a:pPr>
            <a:r>
              <a:rPr lang="en-GB" altLang="en-GB"/>
              <a:t>✅ Successfully installed and tested EpidemicSound (version: 1.18.10)</a:t>
            </a:r>
          </a:p>
          <a:p>
            <a:pPr algn="l">
              <a:spcAft>
                <a:spcPts val="100"/>
              </a:spcAft>
              <a:defRPr sz="500" b="0">
                <a:solidFill>
                  <a:srgbClr val="888888"/>
                </a:solidFill>
                <a:latin typeface="Courier New"/>
              </a:defRPr>
            </a:pPr>
            <a:endParaRPr lang="en-GB" altLang="en-GB"/>
          </a:p>
          <a:p>
            <a:pPr algn="l">
              <a:spcAft>
                <a:spcPts val="100"/>
              </a:spcAft>
              <a:defRPr sz="1100" b="1">
                <a:solidFill>
                  <a:srgbClr val="00C853"/>
                </a:solidFill>
                <a:latin typeface="Courier New"/>
              </a:defRPr>
            </a:pPr>
            <a:r>
              <a:rPr lang="en-GB" altLang="en-GB"/>
              <a:t>Loop Install Test: PASSED</a:t>
            </a:r>
          </a:p>
          <a:p>
            <a:pPr algn="l">
              <a:spcAft>
                <a:spcPts val="100"/>
              </a:spcAft>
              <a:defRPr sz="1100" b="0">
                <a:solidFill>
                  <a:srgbClr val="888888"/>
                </a:solidFill>
                <a:latin typeface="Courier New"/>
              </a:defRPr>
            </a:pPr>
            <a:r>
              <a:rPr lang="en-GB" altLang="en-GB"/>
              <a:t>  ✅ Performed post-install looping installation check</a:t>
            </a:r>
          </a:p>
          <a:p>
            <a:pPr algn="l">
              <a:spcAft>
                <a:spcPts val="100"/>
              </a:spcAft>
              <a:defRPr sz="1100" b="0">
                <a:solidFill>
                  <a:srgbClr val="888888"/>
                </a:solidFill>
                <a:latin typeface="Courier New"/>
              </a:defRPr>
            </a:pPr>
            <a:r>
              <a:rPr lang="en-GB" altLang="en-GB"/>
              <a:t>  ✅ No reinstallation required</a:t>
            </a:r>
          </a:p>
          <a:p>
            <a:pPr algn="l">
              <a:spcAft>
                <a:spcPts val="100"/>
              </a:spcAft>
              <a:defRPr sz="500" b="0">
                <a:solidFill>
                  <a:srgbClr val="888888"/>
                </a:solidFill>
                <a:latin typeface="Courier New"/>
              </a:defRPr>
            </a:pPr>
            <a:endParaRPr lang="en-GB" altLang="en-GB"/>
          </a:p>
          <a:p>
            <a:pPr algn="l">
              <a:spcAft>
                <a:spcPts val="100"/>
              </a:spcAft>
              <a:defRPr sz="1100" b="1">
                <a:solidFill>
                  <a:srgbClr val="00C853"/>
                </a:solidFill>
                <a:latin typeface="Courier New"/>
              </a:defRPr>
            </a:pPr>
            <a:r>
              <a:rPr lang="en-GB" altLang="en-GB"/>
              <a:t>Loop Uninstall Test: PASSED</a:t>
            </a:r>
          </a:p>
          <a:p>
            <a:pPr algn="l">
              <a:spcAft>
                <a:spcPts val="100"/>
              </a:spcAft>
              <a:defRPr sz="1100" b="0">
                <a:solidFill>
                  <a:srgbClr val="888888"/>
                </a:solidFill>
                <a:latin typeface="Courier New"/>
              </a:defRPr>
            </a:pPr>
            <a:r>
              <a:rPr lang="en-GB" altLang="en-GB"/>
              <a:t>  ✅ Performed post-uninstall looping uninstallation check</a:t>
            </a:r>
          </a:p>
          <a:p>
            <a:pPr algn="l">
              <a:spcAft>
                <a:spcPts val="100"/>
              </a:spcAft>
              <a:defRPr sz="1100" b="0">
                <a:solidFill>
                  <a:srgbClr val="888888"/>
                </a:solidFill>
                <a:latin typeface="Courier New"/>
              </a:defRPr>
            </a:pPr>
            <a:r>
              <a:rPr lang="en-GB" altLang="en-GB"/>
              <a:t>  ✅ No re-uninstallation required</a:t>
            </a:r>
          </a:p>
        </p:txBody>
      </p:sp>
      <p:sp>
        <p:nvSpPr>
          <p:cNvPr id="7" name="TextBox 6"/>
          <p:cNvSpPr txBox="1"/>
          <p:nvPr/>
        </p:nvSpPr>
        <p:spPr>
          <a:xfrm>
            <a:off x="6400800" y="4114800"/>
            <a:ext cx="5029200" cy="1353312"/>
          </a:xfrm>
          <a:prstGeom prst="rect">
            <a:avLst/>
          </a:prstGeom>
          <a:noFill/>
        </p:spPr>
        <p:txBody>
          <a:bodyPr wrap="square">
            <a:spAutoFit/>
          </a:bodyPr>
          <a:lstStyle/>
          <a:p>
            <a:pPr algn="l">
              <a:spcAft>
                <a:spcPts val="100"/>
              </a:spcAft>
              <a:defRPr sz="1100" b="1">
                <a:solidFill>
                  <a:srgbClr val="00C853"/>
                </a:solidFill>
                <a:latin typeface="Courier New"/>
              </a:defRPr>
            </a:pPr>
            <a:r>
              <a:rPr lang="en-GB" altLang="en-GB"/>
              <a:t>## Package Analysis</a:t>
            </a:r>
          </a:p>
          <a:p>
            <a:pPr algn="l">
              <a:spcAft>
                <a:spcPts val="100"/>
              </a:spcAft>
              <a:defRPr sz="500" b="0">
                <a:solidFill>
                  <a:srgbClr val="888888"/>
                </a:solidFill>
                <a:latin typeface="Courier New"/>
              </a:defRPr>
            </a:pPr>
            <a:endParaRPr lang="en-GB" altLang="en-GB"/>
          </a:p>
          <a:p>
            <a:pPr algn="l">
              <a:spcAft>
                <a:spcPts val="100"/>
              </a:spcAft>
              <a:defRPr sz="1100" b="0">
                <a:solidFill>
                  <a:srgbClr val="CCCCCC"/>
                </a:solidFill>
                <a:latin typeface="Courier New"/>
              </a:defRPr>
            </a:pPr>
            <a:r>
              <a:rPr lang="en-GB" altLang="en-GB"/>
              <a:t>Packages analysed: 1</a:t>
            </a:r>
          </a:p>
          <a:p>
            <a:pPr algn="l">
              <a:spcAft>
                <a:spcPts val="100"/>
              </a:spcAft>
              <a:defRPr sz="1100" b="0">
                <a:solidFill>
                  <a:srgbClr val="CCCCCC"/>
                </a:solidFill>
                <a:latin typeface="Courier New"/>
              </a:defRPr>
            </a:pPr>
            <a:r>
              <a:rPr lang="en-GB" altLang="en-GB"/>
              <a:t>Total deprecated dependency issues: 0</a:t>
            </a:r>
          </a:p>
          <a:p>
            <a:pPr algn="l">
              <a:spcAft>
                <a:spcPts val="100"/>
              </a:spcAft>
              <a:defRPr sz="1100" b="0">
                <a:solidFill>
                  <a:srgbClr val="CCCCCC"/>
                </a:solidFill>
                <a:latin typeface="Courier New"/>
              </a:defRPr>
            </a:pPr>
            <a:r>
              <a:rPr lang="en-GB" altLang="en-GB"/>
              <a:t>Critical issues (Python 2): 0</a:t>
            </a:r>
          </a:p>
          <a:p>
            <a:pPr algn="l">
              <a:spcAft>
                <a:spcPts val="100"/>
              </a:spcAft>
              <a:defRPr sz="500" b="0">
                <a:solidFill>
                  <a:srgbClr val="888888"/>
                </a:solidFill>
                <a:latin typeface="Courier New"/>
              </a:defRPr>
            </a:pPr>
            <a:endParaRPr lang="en-GB" altLang="en-GB"/>
          </a:p>
          <a:p>
            <a:pPr algn="l">
              <a:spcAft>
                <a:spcPts val="100"/>
              </a:spcAft>
              <a:defRPr sz="1100" b="0">
                <a:solidFill>
                  <a:srgbClr val="00C853"/>
                </a:solidFill>
                <a:latin typeface="Courier New"/>
              </a:defRPr>
            </a:pPr>
            <a:r>
              <a:rPr lang="en-GB" altLang="en-GB"/>
              <a:t>✅ No deprecated dependencies found.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SECURITY EVENTS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548640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VirusTotal Malware Analysis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Files analyzed: 1</a:t>
            </a:r>
          </a:p>
          <a:p>
            <a:pPr algn="l">
              <a:spcAft>
                <a:spcPts val="100"/>
              </a:spcAft>
              <a:defRPr sz="1400" b="0">
                <a:solidFill>
                  <a:srgbClr val="CCCCCC"/>
                </a:solidFill>
                <a:latin typeface="Courier New"/>
              </a:defRPr>
            </a:pPr>
            <a:r>
              <a:rPr lang="en-GB" altLang="en-GB"/>
              <a:t>Clean files: 1</a:t>
            </a:r>
          </a:p>
          <a:p>
            <a:pPr algn="l">
              <a:spcAft>
                <a:spcPts val="100"/>
              </a:spcAft>
              <a:defRPr sz="1400" b="0">
                <a:solidFill>
                  <a:srgbClr val="CCCCCC"/>
                </a:solidFill>
                <a:latin typeface="Courier New"/>
              </a:defRPr>
            </a:pPr>
            <a:r>
              <a:rPr lang="en-GB" altLang="en-GB"/>
              <a:t>Malicious files: 0</a:t>
            </a:r>
          </a:p>
          <a:p>
            <a:pPr algn="l">
              <a:spcAft>
                <a:spcPts val="100"/>
              </a:spcAft>
              <a:defRPr sz="1400" b="0">
                <a:solidFill>
                  <a:srgbClr val="CCCCCC"/>
                </a:solidFill>
                <a:latin typeface="Courier New"/>
              </a:defRPr>
            </a:pPr>
            <a:r>
              <a:rPr lang="en-GB" altLang="en-GB"/>
              <a:t>Suspicious files: 0</a:t>
            </a:r>
          </a:p>
          <a:p>
            <a:pPr algn="l">
              <a:spcAft>
                <a:spcPts val="100"/>
              </a:spcAft>
              <a:defRPr sz="1400" b="0">
                <a:solidFill>
                  <a:srgbClr val="CCCCCC"/>
                </a:solidFill>
                <a:latin typeface="Courier New"/>
              </a:defRPr>
            </a:pPr>
            <a:r>
              <a:rPr lang="en-GB" altLang="en-GB"/>
              <a:t>Manual check required: 0</a:t>
            </a:r>
          </a:p>
          <a:p>
            <a:pPr algn="l">
              <a:spcAft>
                <a:spcPts val="100"/>
              </a:spcAft>
              <a:defRPr sz="1400" b="0">
                <a:solidFill>
                  <a:srgbClr val="CCCCCC"/>
                </a:solidFill>
                <a:latin typeface="Courier New"/>
              </a:defRPr>
            </a:pPr>
            <a:r>
              <a:rPr lang="en-GB" altLang="en-GB"/>
              <a:t>Analysis errors: 0</a:t>
            </a:r>
          </a:p>
          <a:p>
            <a:pPr algn="l">
              <a:spcAft>
                <a:spcPts val="100"/>
              </a:spcAft>
              <a:defRPr sz="500" b="0">
                <a:solidFill>
                  <a:srgbClr val="888888"/>
                </a:solidFill>
                <a:latin typeface="Courier New"/>
              </a:defRPr>
            </a:pPr>
            <a:endParaRPr lang="en-GB" altLang="en-GB"/>
          </a:p>
          <a:p>
            <a:pPr algn="l">
              <a:spcAft>
                <a:spcPts val="100"/>
              </a:spcAft>
              <a:defRPr sz="1500" b="1">
                <a:solidFill>
                  <a:srgbClr val="CCCCCC"/>
                </a:solidFill>
                <a:latin typeface="Courier New"/>
              </a:defRPr>
            </a:pPr>
            <a:r>
              <a:rPr lang="en-GB" altLang="en-GB"/>
              <a:t>Detailed analysis results:</a:t>
            </a:r>
          </a:p>
          <a:p>
            <a:pPr algn="l">
              <a:spcAft>
                <a:spcPts val="100"/>
              </a:spcAft>
              <a:defRPr sz="500" b="0">
                <a:solidFill>
                  <a:srgbClr val="888888"/>
                </a:solidFill>
                <a:latin typeface="Courier New"/>
              </a:defRPr>
            </a:pPr>
            <a:endParaRPr lang="en-GB" altLang="en-GB"/>
          </a:p>
          <a:p>
            <a:pPr algn="l">
              <a:spcAft>
                <a:spcPts val="100"/>
              </a:spcAft>
              <a:defRPr sz="1500" b="0">
                <a:solidFill>
                  <a:srgbClr val="CCCCCC"/>
                </a:solidFill>
                <a:latin typeface="Courier New"/>
              </a:defRPr>
            </a:pPr>
            <a:r>
              <a:rPr lang="en-GB" altLang="en-GB"/>
              <a:t>File: EpidemicSound-1.18.10.dmg (127.28 MB)</a:t>
            </a:r>
          </a:p>
          <a:p>
            <a:pPr algn="l">
              <a:spcAft>
                <a:spcPts val="100"/>
              </a:spcAft>
              <a:defRPr sz="1400" b="0">
                <a:solidFill>
                  <a:srgbClr val="00C853"/>
                </a:solidFill>
                <a:latin typeface="Courier New"/>
              </a:defRPr>
            </a:pPr>
            <a:r>
              <a:rPr lang="en-GB" altLang="en-GB"/>
              <a:t>  Status: ✅ CLEAN (0/62 detections)</a:t>
            </a:r>
          </a:p>
          <a:p>
            <a:pPr algn="l">
              <a:spcAft>
                <a:spcPts val="100"/>
              </a:spcAft>
              <a:defRPr sz="1200" b="0">
                <a:solidFill>
                  <a:srgbClr val="888888"/>
                </a:solidFill>
                <a:latin typeface="Courier New"/>
              </a:defRPr>
            </a:pPr>
            <a:r>
              <a:rPr lang="en-GB" altLang="en-GB"/>
              <a:t>  Report URL: https://www.virustotal.com/gui/file/b8b6e8494797d73ee2c0e8c4739d95b07ad0f3fc8f598dd50aa934fde3b10fcf</a:t>
            </a:r>
          </a:p>
          <a:p>
            <a:pPr algn="l">
              <a:spcAft>
                <a:spcPts val="100"/>
              </a:spcAft>
              <a:defRPr sz="1400" b="0">
                <a:solidFill>
                  <a:srgbClr val="888888"/>
                </a:solidFill>
                <a:latin typeface="Courier New"/>
              </a:defRPr>
            </a:pPr>
            <a:r>
              <a:rPr lang="en-GB" altLang="en-GB"/>
              <a:t>  Analysis type: file</a:t>
            </a:r>
          </a:p>
          <a:p>
            <a:pPr algn="l">
              <a:spcAft>
                <a:spcPts val="100"/>
              </a:spcAft>
              <a:defRPr sz="1200" b="0">
                <a:solidFill>
                  <a:srgbClr val="888888"/>
                </a:solidFill>
                <a:latin typeface="Courier New"/>
              </a:defRPr>
            </a:pPr>
            <a:r>
              <a:rPr lang="en-GB" altLang="en-GB"/>
              <a:t>  SHA-256: b8b6e8494797d73ee2c0e8c4739d95b07ad0f3fc8f598dd50aa934fde3b10fcf</a:t>
            </a:r>
          </a:p>
          <a:p>
            <a:pPr algn="l">
              <a:spcAft>
                <a:spcPts val="100"/>
              </a:spcAft>
              <a:defRPr sz="500" b="0">
                <a:solidFill>
                  <a:srgbClr val="888888"/>
                </a:solidFill>
                <a:latin typeface="Courier New"/>
              </a:defRPr>
            </a:pPr>
            <a:endParaRPr lang="en-GB" altLang="en-GB"/>
          </a:p>
          <a:p>
            <a:pPr algn="l">
              <a:spcAft>
                <a:spcPts val="100"/>
              </a:spcAft>
              <a:defRPr sz="1400" b="1">
                <a:solidFill>
                  <a:srgbClr val="00C853"/>
                </a:solidFill>
                <a:latin typeface="Courier New"/>
              </a:defRPr>
            </a:pPr>
            <a:r>
              <a:rPr lang="en-GB" altLang="en-GB"/>
              <a:t>✅ All analyzed files passed malware screening.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SECURITY EVENTS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164592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Jamf ThreatLabs Binary Analysis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Total binaries extracted: 5</a:t>
            </a:r>
          </a:p>
          <a:p>
            <a:pPr algn="l">
              <a:spcAft>
                <a:spcPts val="100"/>
              </a:spcAft>
              <a:defRPr sz="1400" b="0">
                <a:solidFill>
                  <a:srgbClr val="CCCCCC"/>
                </a:solidFill>
                <a:latin typeface="Courier New"/>
              </a:defRPr>
            </a:pPr>
            <a:r>
              <a:rPr lang="en-GB" altLang="en-GB"/>
              <a:t>Binaries submitted: 5   Skipped: 0</a:t>
            </a:r>
          </a:p>
          <a:p>
            <a:pPr algn="l">
              <a:spcAft>
                <a:spcPts val="100"/>
              </a:spcAft>
              <a:defRPr sz="500" b="0">
                <a:solidFill>
                  <a:srgbClr val="888888"/>
                </a:solidFill>
                <a:latin typeface="Courier New"/>
              </a:defRPr>
            </a:pPr>
            <a:endParaRPr lang="en-GB" altLang="en-GB"/>
          </a:p>
          <a:p>
            <a:pPr algn="l">
              <a:spcAft>
                <a:spcPts val="100"/>
              </a:spcAft>
              <a:defRPr sz="1400" b="0">
                <a:solidFill>
                  <a:srgbClr val="00C853"/>
                </a:solidFill>
                <a:latin typeface="Courier New"/>
              </a:defRPr>
            </a:pPr>
            <a:r>
              <a:rPr lang="en-GB" altLang="en-GB"/>
              <a:t>Results:  Clean: 5  Suspicious: 0  Malicious: 0  Pending: 0</a:t>
            </a:r>
          </a:p>
        </p:txBody>
      </p:sp>
      <p:sp>
        <p:nvSpPr>
          <p:cNvPr id="5" name="TextBox 4"/>
          <p:cNvSpPr txBox="1"/>
          <p:nvPr/>
        </p:nvSpPr>
        <p:spPr>
          <a:xfrm>
            <a:off x="237744" y="3017520"/>
            <a:ext cx="6163056" cy="2523744"/>
          </a:xfrm>
          <a:prstGeom prst="rect">
            <a:avLst/>
          </a:prstGeom>
          <a:noFill/>
        </p:spPr>
        <p:txBody>
          <a:bodyPr wrap="square">
            <a:spAutoFit/>
          </a:bodyPr>
          <a:lstStyle/>
          <a:p>
            <a:pPr algn="l">
              <a:spcAft>
                <a:spcPts val="100"/>
              </a:spcAft>
              <a:defRPr sz="1500" b="1">
                <a:solidFill>
                  <a:srgbClr val="CCCCCC"/>
                </a:solidFill>
                <a:latin typeface="Courier New"/>
              </a:defRPr>
            </a:pPr>
            <a:r>
              <a:rPr lang="en-GB" altLang="en-GB"/>
              <a:t>Detailed Binary Analysis:</a:t>
            </a:r>
          </a:p>
          <a:p>
            <a:pPr algn="l">
              <a:spcAft>
                <a:spcPts val="100"/>
              </a:spcAft>
              <a:defRPr sz="500" b="0">
                <a:solidFill>
                  <a:srgbClr val="888888"/>
                </a:solidFill>
                <a:latin typeface="Courier New"/>
              </a:defRPr>
            </a:pPr>
            <a:endParaRPr lang="en-GB" altLang="en-GB"/>
          </a:p>
          <a:p>
            <a:pPr algn="l">
              <a:spcAft>
                <a:spcPts val="100"/>
              </a:spcAft>
              <a:defRPr sz="1400" b="1">
                <a:solidFill>
                  <a:srgbClr val="CCCCCC"/>
                </a:solidFill>
                <a:latin typeface="Courier New"/>
              </a:defRPr>
            </a:pPr>
            <a:r>
              <a:rPr lang="en-GB" altLang="en-GB"/>
              <a:t>Binary: Epidemic Sound</a:t>
            </a:r>
          </a:p>
          <a:p>
            <a:pPr algn="l">
              <a:spcAft>
                <a:spcPts val="100"/>
              </a:spcAft>
              <a:defRPr sz="1300" b="0">
                <a:solidFill>
                  <a:srgbClr val="888888"/>
                </a:solidFill>
                <a:latin typeface="Courier New"/>
              </a:defRPr>
            </a:pPr>
            <a:r>
              <a:rPr lang="en-GB" altLang="en-GB"/>
              <a:t>  Source: EpidemicSound-1.18.10.dmg</a:t>
            </a:r>
          </a:p>
          <a:p>
            <a:pPr algn="l">
              <a:spcAft>
                <a:spcPts val="100"/>
              </a:spcAft>
              <a:defRPr sz="1300" b="0">
                <a:solidFill>
                  <a:srgbClr val="888888"/>
                </a:solidFill>
                <a:latin typeface="Courier New"/>
              </a:defRPr>
            </a:pPr>
            <a:r>
              <a:rPr lang="en-GB" altLang="en-GB"/>
              <a:t>  App Bundle: Epidemic Sound.app</a:t>
            </a:r>
          </a:p>
          <a:p>
            <a:pPr algn="l">
              <a:spcAft>
                <a:spcPts val="100"/>
              </a:spcAft>
              <a:defRPr sz="1300" b="0">
                <a:solidFill>
                  <a:srgbClr val="888888"/>
                </a:solidFill>
                <a:latin typeface="Courier New"/>
              </a:defRPr>
            </a:pPr>
            <a:r>
              <a:rPr lang="en-GB" altLang="en-GB"/>
              <a:t>  Path: Epidemic Sound</a:t>
            </a:r>
          </a:p>
          <a:p>
            <a:pPr algn="l">
              <a:spcAft>
                <a:spcPts val="100"/>
              </a:spcAft>
              <a:defRPr sz="500" b="0">
                <a:solidFill>
                  <a:srgbClr val="888888"/>
                </a:solidFill>
                <a:latin typeface="Courier New"/>
              </a:defRPr>
            </a:pPr>
            <a:endParaRPr lang="en-GB" altLang="en-GB"/>
          </a:p>
          <a:p>
            <a:pPr algn="l">
              <a:spcAft>
                <a:spcPts val="100"/>
              </a:spcAft>
              <a:defRPr sz="500" b="0">
                <a:solidFill>
                  <a:srgbClr val="888888"/>
                </a:solidFill>
                <a:latin typeface="Courier New"/>
              </a:defRPr>
            </a:pPr>
            <a:endParaRPr lang="en-GB" altLang="en-GB"/>
          </a:p>
          <a:p>
            <a:pPr algn="l">
              <a:spcAft>
                <a:spcPts val="100"/>
              </a:spcAft>
              <a:defRPr sz="1200" b="0">
                <a:solidFill>
                  <a:srgbClr val="888888"/>
                </a:solidFill>
                <a:latin typeface="Courier New"/>
              </a:defRPr>
            </a:pPr>
            <a:r>
              <a:rPr lang="en-GB" altLang="en-GB"/>
              <a:t>  SHA-256: 9b4431c359fbbc6c763917e227a7f0c4</a:t>
            </a:r>
          </a:p>
          <a:p>
            <a:pPr algn="l">
              <a:spcAft>
                <a:spcPts val="100"/>
              </a:spcAft>
              <a:defRPr sz="1200" b="0">
                <a:solidFill>
                  <a:srgbClr val="888888"/>
                </a:solidFill>
                <a:latin typeface="Courier New"/>
              </a:defRPr>
            </a:pPr>
            <a:r>
              <a:rPr lang="en-GB" altLang="en-GB"/>
              <a:t>    3635320136d9cad7f98c8d2b0caf6715</a:t>
            </a:r>
          </a:p>
          <a:p>
            <a:pPr algn="l">
              <a:spcAft>
                <a:spcPts val="100"/>
              </a:spcAft>
              <a:defRPr sz="1200" b="0">
                <a:solidFill>
                  <a:srgbClr val="888888"/>
                </a:solidFill>
                <a:latin typeface="Courier New"/>
              </a:defRPr>
            </a:pPr>
            <a:r>
              <a:rPr lang="en-GB" altLang="en-GB"/>
              <a:t>  Submission ID: 09a64670-c97b-4d3f-95c2-3bd089925a39</a:t>
            </a:r>
          </a:p>
          <a:p>
            <a:pPr algn="l">
              <a:spcAft>
                <a:spcPts val="100"/>
              </a:spcAft>
              <a:defRPr sz="1400" b="0">
                <a:solidFill>
                  <a:srgbClr val="00C853"/>
                </a:solidFill>
                <a:latin typeface="Courier New"/>
              </a:defRPr>
            </a:pPr>
            <a:r>
              <a:rPr lang="en-GB" altLang="en-GB"/>
              <a:t>  Threat Level: ✅ CLEAN</a:t>
            </a:r>
          </a:p>
        </p:txBody>
      </p:sp>
      <p:sp>
        <p:nvSpPr>
          <p:cNvPr id="6" name="TextBox 5"/>
          <p:cNvSpPr txBox="1"/>
          <p:nvPr/>
        </p:nvSpPr>
        <p:spPr>
          <a:xfrm>
            <a:off x="6400800" y="3017520"/>
            <a:ext cx="5550408" cy="2276856"/>
          </a:xfrm>
          <a:prstGeom prst="rect">
            <a:avLst/>
          </a:prstGeom>
          <a:noFill/>
        </p:spPr>
        <p:txBody>
          <a:bodyPr wrap="square">
            <a:spAutoFit/>
          </a:bodyPr>
          <a:lstStyle/>
          <a:p>
            <a:pPr algn="l">
              <a:spcAft>
                <a:spcPts val="100"/>
              </a:spcAft>
              <a:defRPr sz="1500" b="0">
                <a:solidFill>
                  <a:srgbClr val="888888"/>
                </a:solidFill>
                <a:latin typeface="Courier New"/>
              </a:defRPr>
            </a:pPr>
            <a:endParaRPr/>
          </a:p>
          <a:p>
            <a:pPr algn="l">
              <a:spcAft>
                <a:spcPts val="100"/>
              </a:spcAft>
              <a:defRPr sz="500" b="0">
                <a:solidFill>
                  <a:srgbClr val="888888"/>
                </a:solidFill>
                <a:latin typeface="Courier New"/>
              </a:defRPr>
            </a:pPr>
            <a:endParaRPr/>
          </a:p>
          <a:p>
            <a:pPr algn="l">
              <a:spcAft>
                <a:spcPts val="100"/>
              </a:spcAft>
              <a:defRPr sz="1400" b="1">
                <a:solidFill>
                  <a:srgbClr val="CCCCCC"/>
                </a:solidFill>
                <a:latin typeface="Courier New"/>
              </a:defRPr>
            </a:pPr>
            <a:r>
              <a:rPr lang="en-GB" altLang="en-GB"/>
              <a:t>Binary: Epidemic Sound Helper</a:t>
            </a:r>
          </a:p>
          <a:p>
            <a:pPr algn="l">
              <a:spcAft>
                <a:spcPts val="100"/>
              </a:spcAft>
              <a:defRPr sz="1300" b="0">
                <a:solidFill>
                  <a:srgbClr val="888888"/>
                </a:solidFill>
                <a:latin typeface="Courier New"/>
              </a:defRPr>
            </a:pPr>
            <a:r>
              <a:rPr lang="en-GB" altLang="en-GB"/>
              <a:t>  Source: EpidemicSound-1.18.10.dmg</a:t>
            </a:r>
          </a:p>
          <a:p>
            <a:pPr algn="l">
              <a:spcAft>
                <a:spcPts val="100"/>
              </a:spcAft>
              <a:defRPr sz="1300" b="0">
                <a:solidFill>
                  <a:srgbClr val="888888"/>
                </a:solidFill>
                <a:latin typeface="Courier New"/>
              </a:defRPr>
            </a:pPr>
            <a:r>
              <a:rPr lang="en-GB" altLang="en-GB"/>
              <a:t>  App Bundle: Epidemic Sound.app</a:t>
            </a:r>
          </a:p>
          <a:p>
            <a:pPr algn="l">
              <a:spcAft>
                <a:spcPts val="100"/>
              </a:spcAft>
              <a:defRPr sz="1300" b="0">
                <a:solidFill>
                  <a:srgbClr val="888888"/>
                </a:solidFill>
                <a:latin typeface="Courier New"/>
              </a:defRPr>
            </a:pPr>
            <a:r>
              <a:rPr lang="en-GB" altLang="en-GB"/>
              <a:t>  Path: Epidemic Sound Helper.app/Contents/</a:t>
            </a:r>
          </a:p>
          <a:p>
            <a:pPr algn="l">
              <a:spcAft>
                <a:spcPts val="100"/>
              </a:spcAft>
              <a:defRPr sz="1300" b="0">
                <a:solidFill>
                  <a:srgbClr val="888888"/>
                </a:solidFill>
                <a:latin typeface="Courier New"/>
              </a:defRPr>
            </a:pPr>
            <a:r>
              <a:rPr lang="en-GB" altLang="en-GB"/>
              <a:t>    MacOS/Epidemic Sound Helper</a:t>
            </a:r>
          </a:p>
          <a:p>
            <a:pPr algn="l">
              <a:spcAft>
                <a:spcPts val="100"/>
              </a:spcAft>
              <a:defRPr sz="500" b="0">
                <a:solidFill>
                  <a:srgbClr val="888888"/>
                </a:solidFill>
                <a:latin typeface="Courier New"/>
              </a:defRPr>
            </a:pPr>
            <a:endParaRPr lang="en-GB" altLang="en-GB"/>
          </a:p>
          <a:p>
            <a:pPr algn="l">
              <a:spcAft>
                <a:spcPts val="100"/>
              </a:spcAft>
              <a:defRPr sz="1200" b="0">
                <a:solidFill>
                  <a:srgbClr val="888888"/>
                </a:solidFill>
                <a:latin typeface="Courier New"/>
              </a:defRPr>
            </a:pPr>
            <a:r>
              <a:rPr lang="en-GB" altLang="en-GB"/>
              <a:t>  SHA-256: 32d1289e1bb71d2e84173fe4c3c7543f</a:t>
            </a:r>
          </a:p>
          <a:p>
            <a:pPr algn="l">
              <a:spcAft>
                <a:spcPts val="100"/>
              </a:spcAft>
              <a:defRPr sz="1200" b="0">
                <a:solidFill>
                  <a:srgbClr val="888888"/>
                </a:solidFill>
                <a:latin typeface="Courier New"/>
              </a:defRPr>
            </a:pPr>
            <a:r>
              <a:rPr lang="en-GB" altLang="en-GB"/>
              <a:t>    be43b60621ab1e7a7fd5392d851cd648</a:t>
            </a:r>
          </a:p>
          <a:p>
            <a:pPr algn="l">
              <a:spcAft>
                <a:spcPts val="100"/>
              </a:spcAft>
              <a:defRPr sz="1200" b="0">
                <a:solidFill>
                  <a:srgbClr val="888888"/>
                </a:solidFill>
                <a:latin typeface="Courier New"/>
              </a:defRPr>
            </a:pPr>
            <a:r>
              <a:rPr lang="en-GB" altLang="en-GB"/>
              <a:t>  Submission ID: b963e8a8-b820-4577-abe7-23cd03eecf86</a:t>
            </a:r>
          </a:p>
          <a:p>
            <a:pPr algn="l">
              <a:spcAft>
                <a:spcPts val="100"/>
              </a:spcAft>
              <a:defRPr sz="1400" b="0">
                <a:solidFill>
                  <a:srgbClr val="00C853"/>
                </a:solidFill>
                <a:latin typeface="Courier New"/>
              </a:defRPr>
            </a:pPr>
            <a:r>
              <a:rPr lang="en-GB" altLang="en-GB"/>
              <a:t>  Threat Level: ✅ CLEAN</a:t>
            </a:r>
          </a:p>
        </p:txBody>
      </p:sp>
      <p:sp>
        <p:nvSpPr>
          <p:cNvPr id="7" name="TextBox 6"/>
          <p:cNvSpPr txBox="1"/>
          <p:nvPr/>
        </p:nvSpPr>
        <p:spPr>
          <a:xfrm>
            <a:off x="731520" y="6400800"/>
            <a:ext cx="10515600" cy="457200"/>
          </a:xfrm>
          <a:prstGeom prst="rect">
            <a:avLst/>
          </a:prstGeom>
          <a:noFill/>
        </p:spPr>
        <p:txBody>
          <a:bodyPr wrap="square">
            <a:spAutoFit/>
          </a:bodyPr>
          <a:lstStyle/>
          <a:p>
            <a:pPr algn="l">
              <a:spcAft>
                <a:spcPts val="100"/>
              </a:spcAft>
              <a:defRPr sz="1400" b="1">
                <a:solidFill>
                  <a:srgbClr val="00C853"/>
                </a:solidFill>
                <a:latin typeface="Courier New"/>
              </a:defRPr>
            </a:pPr>
            <a:r>
              <a:rPr lang="en-GB" altLang="en-GB"/>
              <a:t>✅ All analyzed binaries passed security screening.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SECURITY EVENTS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303520" cy="2669956"/>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KnockKnock Persistence Analysis</a:t>
            </a:r>
          </a:p>
          <a:p>
            <a:pPr algn="l">
              <a:spcAft>
                <a:spcPts val="100"/>
              </a:spcAft>
              <a:defRPr sz="500" b="0">
                <a:solidFill>
                  <a:srgbClr val="888888"/>
                </a:solidFill>
                <a:latin typeface="Courier New"/>
              </a:defRPr>
            </a:pPr>
            <a:endParaRPr lang="en-GB" altLang="en-GB"/>
          </a:p>
          <a:p>
            <a:pPr algn="l">
              <a:spcAft>
                <a:spcPts val="100"/>
              </a:spcAft>
              <a:defRPr sz="1400" b="1">
                <a:solidFill>
                  <a:srgbClr val="CCCCCC"/>
                </a:solidFill>
                <a:latin typeface="Courier New"/>
              </a:defRPr>
            </a:pPr>
            <a:r>
              <a:rPr lang="en-GB" altLang="en-GB"/>
              <a:t>Scan Summary:</a:t>
            </a:r>
          </a:p>
          <a:p>
            <a:pPr algn="l">
              <a:spcAft>
                <a:spcPts val="100"/>
              </a:spcAft>
              <a:defRPr sz="1400" b="0">
                <a:solidFill>
                  <a:srgbClr val="CCCCCC"/>
                </a:solidFill>
                <a:latin typeface="Courier New"/>
              </a:defRPr>
            </a:pPr>
            <a:r>
              <a:rPr lang="en-GB" altLang="en-GB"/>
              <a:t>  Baseline items: 52</a:t>
            </a:r>
          </a:p>
          <a:p>
            <a:pPr algn="l">
              <a:spcAft>
                <a:spcPts val="100"/>
              </a:spcAft>
              <a:defRPr sz="1400" b="0">
                <a:solidFill>
                  <a:srgbClr val="CCCCCC"/>
                </a:solidFill>
                <a:latin typeface="Courier New"/>
              </a:defRPr>
            </a:pPr>
            <a:r>
              <a:rPr lang="en-GB" altLang="en-GB"/>
              <a:t>  Post-install items: 52</a:t>
            </a:r>
          </a:p>
          <a:p>
            <a:pPr algn="l">
              <a:spcAft>
                <a:spcPts val="100"/>
              </a:spcAft>
              <a:defRPr sz="500" b="0">
                <a:solidFill>
                  <a:srgbClr val="888888"/>
                </a:solidFill>
                <a:latin typeface="Courier New"/>
              </a:defRPr>
            </a:pPr>
            <a:endParaRPr lang="en-GB" altLang="en-GB"/>
          </a:p>
          <a:p>
            <a:pPr algn="l">
              <a:spcAft>
                <a:spcPts val="100"/>
              </a:spcAft>
              <a:defRPr sz="1400" b="1">
                <a:solidFill>
                  <a:srgbClr val="CCCCCC"/>
                </a:solidFill>
                <a:latin typeface="Courier New"/>
              </a:defRPr>
            </a:pPr>
            <a:r>
              <a:rPr lang="en-GB" altLang="en-GB"/>
              <a:t>Changes Detected:</a:t>
            </a:r>
          </a:p>
          <a:p>
            <a:pPr algn="l">
              <a:spcAft>
                <a:spcPts val="100"/>
              </a:spcAft>
              <a:defRPr sz="1400" b="0">
                <a:solidFill>
                  <a:srgbClr val="888888"/>
                </a:solidFill>
                <a:latin typeface="Courier New"/>
              </a:defRPr>
            </a:pPr>
            <a:r>
              <a:rPr lang="en-GB" altLang="en-GB"/>
              <a:t>  New persistence items: 0</a:t>
            </a:r>
          </a:p>
          <a:p>
            <a:pPr algn="l">
              <a:spcAft>
                <a:spcPts val="100"/>
              </a:spcAft>
              <a:defRPr sz="1400" b="0">
                <a:solidFill>
                  <a:srgbClr val="888888"/>
                </a:solidFill>
                <a:latin typeface="Courier New"/>
              </a:defRPr>
            </a:pPr>
            <a:r>
              <a:rPr lang="en-GB" altLang="en-GB"/>
              <a:t>  Modified items: 0</a:t>
            </a:r>
          </a:p>
          <a:p>
            <a:pPr algn="l">
              <a:spcAft>
                <a:spcPts val="100"/>
              </a:spcAft>
              <a:defRPr sz="1400" b="0">
                <a:solidFill>
                  <a:srgbClr val="888888"/>
                </a:solidFill>
                <a:latin typeface="Courier New"/>
              </a:defRPr>
            </a:pPr>
            <a:r>
              <a:rPr lang="en-GB" altLang="en-GB"/>
              <a:t>  Removed items: 0</a:t>
            </a:r>
          </a:p>
        </p:txBody>
      </p:sp>
      <p:sp>
        <p:nvSpPr>
          <p:cNvPr id="5" name="TextBox 4"/>
          <p:cNvSpPr txBox="1"/>
          <p:nvPr/>
        </p:nvSpPr>
        <p:spPr>
          <a:xfrm>
            <a:off x="6400800" y="1188720"/>
            <a:ext cx="5029200" cy="2398105"/>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BlockBlock</a:t>
            </a:r>
          </a:p>
          <a:p>
            <a:pPr algn="l">
              <a:spcAft>
                <a:spcPts val="100"/>
              </a:spcAft>
              <a:defRPr sz="500" b="0">
                <a:solidFill>
                  <a:srgbClr val="888888"/>
                </a:solidFill>
                <a:latin typeface="Courier New"/>
              </a:defRPr>
            </a:pPr>
            <a:endParaRPr lang="en-GB" altLang="en-GB"/>
          </a:p>
          <a:p>
            <a:pPr algn="l">
              <a:spcAft>
                <a:spcPts val="100"/>
              </a:spcAft>
              <a:defRPr sz="1400" b="1">
                <a:solidFill>
                  <a:srgbClr val="CCCCCC"/>
                </a:solidFill>
                <a:latin typeface="Courier New"/>
              </a:defRPr>
            </a:pPr>
            <a:r>
              <a:rPr lang="en-GB" altLang="en-GB"/>
              <a:t>Installation Phase Events:</a:t>
            </a:r>
          </a:p>
          <a:p>
            <a:pPr algn="l">
              <a:spcAft>
                <a:spcPts val="100"/>
              </a:spcAft>
              <a:defRPr sz="3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[2026-04-18 12:34:50] BlockBlock allowed:</a:t>
            </a:r>
          </a:p>
          <a:p>
            <a:pPr algn="l">
              <a:spcAft>
                <a:spcPts val="100"/>
              </a:spcAft>
              <a:defRPr sz="1400" b="0">
                <a:solidFill>
                  <a:srgbClr val="CCCCCC"/>
                </a:solidFill>
                <a:latin typeface="Courier New"/>
              </a:defRPr>
            </a:pPr>
            <a:r>
              <a:rPr lang="en-GB" altLang="en-GB"/>
              <a:t>  Unknown application</a:t>
            </a:r>
          </a:p>
          <a:p>
            <a:pPr algn="l">
              <a:spcAft>
                <a:spcPts val="100"/>
              </a:spcAft>
              <a:defRPr sz="1300" b="0">
                <a:solidFill>
                  <a:srgbClr val="888888"/>
                </a:solidFill>
                <a:latin typeface="Courier New"/>
              </a:defRPr>
            </a:pPr>
            <a:r>
              <a:rPr lang="en-GB" altLang="en-GB"/>
              <a:t>  Path: Unknown application</a:t>
            </a:r>
          </a:p>
          <a:p>
            <a:pPr algn="l">
              <a:spcAft>
                <a:spcPts val="100"/>
              </a:spcAft>
              <a:defRPr sz="1300" b="0">
                <a:solidFill>
                  <a:srgbClr val="888888"/>
                </a:solidFill>
                <a:latin typeface="Courier New"/>
              </a:defRPr>
            </a:pPr>
            <a:r>
              <a:rPr lang="en-GB" altLang="en-GB"/>
              <a:t>  Action: user_allowed</a:t>
            </a:r>
          </a:p>
        </p:txBody>
      </p:sp>
      <p:sp>
        <p:nvSpPr>
          <p:cNvPr id="6" name="TextBox 5"/>
          <p:cNvSpPr txBox="1"/>
          <p:nvPr/>
        </p:nvSpPr>
        <p:spPr>
          <a:xfrm>
            <a:off x="6400800" y="3657600"/>
            <a:ext cx="5029200" cy="316236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DHS</a:t>
            </a:r>
          </a:p>
          <a:p>
            <a:pPr algn="l">
              <a:spcAft>
                <a:spcPts val="100"/>
              </a:spcAft>
              <a:defRPr sz="500" b="0">
                <a:solidFill>
                  <a:srgbClr val="888888"/>
                </a:solidFill>
                <a:latin typeface="Courier New"/>
              </a:defRPr>
            </a:pPr>
            <a:endParaRPr lang="en-GB" altLang="en-GB"/>
          </a:p>
          <a:p>
            <a:pPr algn="l">
              <a:spcAft>
                <a:spcPts val="100"/>
              </a:spcAft>
              <a:defRPr sz="1400" b="1">
                <a:solidFill>
                  <a:srgbClr val="FFA500"/>
                </a:solidFill>
                <a:latin typeface="Courier New"/>
              </a:defRPr>
            </a:pPr>
            <a:r>
              <a:rPr lang="en-GB" altLang="en-GB"/>
              <a:t>Vulnerable Applications:</a:t>
            </a:r>
          </a:p>
          <a:p>
            <a:pPr algn="l">
              <a:spcAft>
                <a:spcPts val="100"/>
              </a:spcAft>
              <a:defRPr sz="300" b="0">
                <a:solidFill>
                  <a:srgbClr val="888888"/>
                </a:solidFill>
                <a:latin typeface="Courier New"/>
              </a:defRPr>
            </a:pPr>
            <a:endParaRPr lang="en-GB" altLang="en-GB"/>
          </a:p>
          <a:p>
            <a:pPr algn="l">
              <a:spcAft>
                <a:spcPts val="100"/>
              </a:spcAft>
              <a:defRPr sz="1300" b="0">
                <a:solidFill>
                  <a:srgbClr val="888888"/>
                </a:solidFill>
                <a:latin typeface="Courier New"/>
              </a:defRPr>
            </a:pPr>
            <a:r>
              <a:rPr lang="en-GB" altLang="en-GB"/>
              <a:t>Binary: /Applications/BBEdit.app/Contents/</a:t>
            </a:r>
          </a:p>
          <a:p>
            <a:pPr algn="l">
              <a:spcAft>
                <a:spcPts val="100"/>
              </a:spcAft>
              <a:defRPr sz="1300" b="0">
                <a:solidFill>
                  <a:srgbClr val="888888"/>
                </a:solidFill>
                <a:latin typeface="Courier New"/>
              </a:defRPr>
            </a:pPr>
            <a:r>
              <a:rPr lang="en-GB" altLang="en-GB"/>
              <a:t>  MacOS/BBEdit</a:t>
            </a:r>
          </a:p>
          <a:p>
            <a:pPr algn="l">
              <a:spcAft>
                <a:spcPts val="100"/>
              </a:spcAft>
              <a:defRPr sz="1300" b="0">
                <a:solidFill>
                  <a:srgbClr val="888888"/>
                </a:solidFill>
                <a:latin typeface="Courier New"/>
              </a:defRPr>
            </a:pPr>
            <a:r>
              <a:rPr lang="en-GB" altLang="en-GB"/>
              <a:t>  Issue: rpath</a:t>
            </a:r>
          </a:p>
          <a:p>
            <a:pPr algn="l">
              <a:spcAft>
                <a:spcPts val="100"/>
              </a:spcAft>
              <a:defRPr sz="1300" b="0">
                <a:solidFill>
                  <a:srgbClr val="888888"/>
                </a:solidFill>
                <a:latin typeface="Courier New"/>
              </a:defRPr>
            </a:pPr>
            <a:r>
              <a:rPr lang="en-GB" altLang="en-GB"/>
              <a:t>  Dylib: /Applications/BBEdit.app/Contents/</a:t>
            </a:r>
          </a:p>
          <a:p>
            <a:pPr algn="l">
              <a:spcAft>
                <a:spcPts val="100"/>
              </a:spcAft>
              <a:defRPr sz="1300" b="0">
                <a:solidFill>
                  <a:srgbClr val="888888"/>
                </a:solidFill>
                <a:latin typeface="Courier New"/>
              </a:defRPr>
            </a:pPr>
            <a:r>
              <a:rPr lang="en-GB" altLang="en-GB"/>
              <a:t>    Frameworks/CrashReporter.framework/</a:t>
            </a:r>
          </a:p>
          <a:p>
            <a:pPr algn="l">
              <a:spcAft>
                <a:spcPts val="100"/>
              </a:spcAft>
              <a:defRPr sz="1300" b="0">
                <a:solidFill>
                  <a:srgbClr val="888888"/>
                </a:solidFill>
                <a:latin typeface="Courier New"/>
              </a:defRPr>
            </a:pPr>
            <a:r>
              <a:rPr lang="en-GB" altLang="en-GB"/>
              <a:t>    Versions/A/CrashReporter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SECURITY EVENTS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303520" cy="274320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VirusTotal Network Analysis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[12:45:09] Network scan:</a:t>
            </a:r>
          </a:p>
          <a:p>
            <a:pPr algn="l">
              <a:spcAft>
                <a:spcPts val="100"/>
              </a:spcAft>
              <a:defRPr sz="1400" b="0">
                <a:solidFill>
                  <a:srgbClr val="CCCCCC"/>
                </a:solidFill>
                <a:latin typeface="Courier New"/>
              </a:defRPr>
            </a:pPr>
            <a:r>
              <a:rPr lang="en-GB" altLang="en-GB"/>
              <a:t>  142.250.140.95 - clean (0/98 vendors flagged)</a:t>
            </a:r>
          </a:p>
          <a:p>
            <a:pPr algn="l">
              <a:spcAft>
                <a:spcPts val="100"/>
              </a:spcAft>
              <a:defRPr sz="1400" b="0">
                <a:solidFill>
                  <a:srgbClr val="00C853"/>
                </a:solidFill>
                <a:latin typeface="Courier New"/>
              </a:defRPr>
            </a:pPr>
            <a:r>
              <a:rPr lang="en-GB" altLang="en-GB"/>
              <a:t>  ✅ Connection appears clean</a:t>
            </a:r>
          </a:p>
          <a:p>
            <a:pPr algn="l">
              <a:spcAft>
                <a:spcPts val="100"/>
              </a:spcAft>
              <a:defRPr sz="1400" b="0">
                <a:solidFill>
                  <a:srgbClr val="888888"/>
                </a:solidFill>
                <a:latin typeface="Courier New"/>
              </a:defRPr>
            </a:pPr>
            <a:r>
              <a:rPr lang="en-GB" altLang="en-GB"/>
              <a:t>  (not flagged by any vendors)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[12:45:09] Network scan:</a:t>
            </a:r>
          </a:p>
          <a:p>
            <a:pPr algn="l">
              <a:spcAft>
                <a:spcPts val="100"/>
              </a:spcAft>
              <a:defRPr sz="1400" b="0">
                <a:solidFill>
                  <a:srgbClr val="CCCCCC"/>
                </a:solidFill>
                <a:latin typeface="Courier New"/>
              </a:defRPr>
            </a:pPr>
            <a:r>
              <a:rPr lang="en-GB" altLang="en-GB"/>
              <a:t>  es-plugin-builds.storage.googleapis.com</a:t>
            </a:r>
          </a:p>
          <a:p>
            <a:pPr algn="l">
              <a:spcAft>
                <a:spcPts val="100"/>
              </a:spcAft>
              <a:defRPr sz="1400" b="0">
                <a:solidFill>
                  <a:srgbClr val="CCCCCC"/>
                </a:solidFill>
                <a:latin typeface="Courier New"/>
              </a:defRPr>
            </a:pPr>
            <a:r>
              <a:rPr lang="en-GB" altLang="en-GB"/>
              <a:t>  clean (0/91 vendors flagged)</a:t>
            </a:r>
          </a:p>
          <a:p>
            <a:pPr algn="l">
              <a:spcAft>
                <a:spcPts val="100"/>
              </a:spcAft>
              <a:defRPr sz="1400" b="0">
                <a:solidFill>
                  <a:srgbClr val="00C853"/>
                </a:solidFill>
                <a:latin typeface="Courier New"/>
              </a:defRPr>
            </a:pPr>
            <a:r>
              <a:rPr lang="en-GB" altLang="en-GB"/>
              <a:t>  ✅ Connection appears clean</a:t>
            </a:r>
          </a:p>
        </p:txBody>
      </p:sp>
      <p:sp>
        <p:nvSpPr>
          <p:cNvPr id="5" name="TextBox 4"/>
          <p:cNvSpPr txBox="1"/>
          <p:nvPr/>
        </p:nvSpPr>
        <p:spPr>
          <a:xfrm>
            <a:off x="6400800" y="1188720"/>
            <a:ext cx="5029200" cy="274320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LuLu</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[2026-04-18 12:44:19] LuLu allowed:</a:t>
            </a:r>
          </a:p>
          <a:p>
            <a:pPr algn="l">
              <a:spcAft>
                <a:spcPts val="100"/>
              </a:spcAft>
              <a:defRPr sz="1400" b="0">
                <a:solidFill>
                  <a:srgbClr val="CCCCCC"/>
                </a:solidFill>
                <a:latin typeface="Courier New"/>
              </a:defRPr>
            </a:pPr>
            <a:r>
              <a:rPr lang="en-GB" altLang="en-GB"/>
              <a:t>  Epidemic Sound Helper.app</a:t>
            </a:r>
          </a:p>
          <a:p>
            <a:pPr algn="l">
              <a:spcAft>
                <a:spcPts val="100"/>
              </a:spcAft>
              <a:defRPr sz="1300" b="0">
                <a:solidFill>
                  <a:srgbClr val="888888"/>
                </a:solidFill>
                <a:latin typeface="Courier New"/>
              </a:defRPr>
            </a:pPr>
            <a:r>
              <a:rPr lang="en-GB" altLang="en-GB"/>
              <a:t>  Application Path: /Applications/Epidemic Sound.app/</a:t>
            </a:r>
          </a:p>
          <a:p>
            <a:pPr algn="l">
              <a:spcAft>
                <a:spcPts val="100"/>
              </a:spcAft>
              <a:defRPr sz="1300" b="0">
                <a:solidFill>
                  <a:srgbClr val="888888"/>
                </a:solidFill>
                <a:latin typeface="Courier New"/>
              </a:defRPr>
            </a:pPr>
            <a:r>
              <a:rPr lang="en-GB" altLang="en-GB"/>
              <a:t>    Contents/Frameworks/Epidemic Sound Helper.app</a:t>
            </a:r>
          </a:p>
          <a:p>
            <a:pPr algn="l">
              <a:spcAft>
                <a:spcPts val="100"/>
              </a:spcAft>
              <a:defRPr sz="1300" b="0">
                <a:solidFill>
                  <a:srgbClr val="888888"/>
                </a:solidFill>
                <a:latin typeface="Courier New"/>
              </a:defRPr>
            </a:pPr>
            <a:r>
              <a:rPr lang="en-GB" altLang="en-GB"/>
              <a:t>  Network Connection: 142.250.140.95:443</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[2026-04-18 12:44:21] LuLu allowed:</a:t>
            </a:r>
          </a:p>
          <a:p>
            <a:pPr algn="l">
              <a:spcAft>
                <a:spcPts val="100"/>
              </a:spcAft>
              <a:defRPr sz="1400" b="0">
                <a:solidFill>
                  <a:srgbClr val="CCCCCC"/>
                </a:solidFill>
                <a:latin typeface="Courier New"/>
              </a:defRPr>
            </a:pPr>
            <a:r>
              <a:rPr lang="en-GB" altLang="en-GB"/>
              <a:t>  Epidemic Sound.app</a:t>
            </a:r>
          </a:p>
          <a:p>
            <a:pPr algn="l">
              <a:spcAft>
                <a:spcPts val="100"/>
              </a:spcAft>
              <a:defRPr sz="1300" b="0">
                <a:solidFill>
                  <a:srgbClr val="888888"/>
                </a:solidFill>
                <a:latin typeface="Courier New"/>
              </a:defRPr>
            </a:pPr>
            <a:r>
              <a:rPr lang="en-GB" altLang="en-GB"/>
              <a:t>  Network Connection: es-plugin-builds.storage.</a:t>
            </a:r>
          </a:p>
          <a:p>
            <a:pPr algn="l">
              <a:spcAft>
                <a:spcPts val="100"/>
              </a:spcAft>
              <a:defRPr sz="1300" b="0">
                <a:solidFill>
                  <a:srgbClr val="888888"/>
                </a:solidFill>
                <a:latin typeface="Courier New"/>
              </a:defRPr>
            </a:pPr>
            <a:r>
              <a:rPr lang="en-GB" altLang="en-GB"/>
              <a:t>    googleapis.com:443</a:t>
            </a:r>
          </a:p>
        </p:txBody>
      </p:sp>
      <p:sp>
        <p:nvSpPr>
          <p:cNvPr id="6" name="TextBox 5"/>
          <p:cNvSpPr txBox="1"/>
          <p:nvPr/>
        </p:nvSpPr>
        <p:spPr>
          <a:xfrm>
            <a:off x="731520" y="4114800"/>
            <a:ext cx="5303520" cy="256032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XProtect</a:t>
            </a:r>
          </a:p>
          <a:p>
            <a:pPr algn="l">
              <a:spcAft>
                <a:spcPts val="100"/>
              </a:spcAft>
              <a:defRPr sz="1400" b="0">
                <a:solidFill>
                  <a:srgbClr val="888888"/>
                </a:solidFill>
                <a:latin typeface="Courier New"/>
              </a:defRPr>
            </a:pPr>
            <a:r>
              <a:rPr lang="en-GB" altLang="en-GB"/>
              <a:t>  No XProtect events detected</a:t>
            </a:r>
          </a:p>
          <a:p>
            <a:pPr algn="l">
              <a:spcAft>
                <a:spcPts val="100"/>
              </a:spcAft>
              <a:defRPr sz="500" b="0">
                <a:solidFill>
                  <a:srgbClr val="888888"/>
                </a:solidFill>
                <a:latin typeface="Courier New"/>
              </a:defRPr>
            </a:pPr>
            <a:endParaRPr lang="en-GB" altLang="en-GB"/>
          </a:p>
          <a:p>
            <a:pPr algn="l">
              <a:spcAft>
                <a:spcPts val="100"/>
              </a:spcAft>
              <a:defRPr sz="1700" b="1">
                <a:solidFill>
                  <a:srgbClr val="00C853"/>
                </a:solidFill>
                <a:latin typeface="Courier New"/>
              </a:defRPr>
            </a:pPr>
            <a:r>
              <a:rPr lang="en-GB" altLang="en-GB"/>
              <a:t>## RansomWhere</a:t>
            </a:r>
          </a:p>
          <a:p>
            <a:pPr algn="l">
              <a:spcAft>
                <a:spcPts val="100"/>
              </a:spcAft>
              <a:defRPr sz="300" b="0">
                <a:solidFill>
                  <a:srgbClr val="888888"/>
                </a:solidFill>
                <a:latin typeface="Courier New"/>
              </a:defRPr>
            </a:pPr>
            <a:endParaRPr lang="en-GB" altLang="en-GB"/>
          </a:p>
          <a:p>
            <a:pPr algn="l">
              <a:spcAft>
                <a:spcPts val="100"/>
              </a:spcAft>
              <a:defRPr sz="1400" b="1">
                <a:solidFill>
                  <a:srgbClr val="FFA500"/>
                </a:solidFill>
                <a:latin typeface="Courier New"/>
              </a:defRPr>
            </a:pPr>
            <a:r>
              <a:rPr lang="en-GB" altLang="en-GB"/>
              <a:t>RansomWhere Alert #1</a:t>
            </a:r>
          </a:p>
          <a:p>
            <a:pPr algn="l">
              <a:spcAft>
                <a:spcPts val="100"/>
              </a:spcAft>
              <a:defRPr sz="1300" b="0">
                <a:solidFill>
                  <a:srgbClr val="888888"/>
                </a:solidFill>
                <a:latin typeface="Courier New"/>
              </a:defRPr>
            </a:pPr>
            <a:r>
              <a:rPr lang="en-GB" altLang="en-GB"/>
              <a:t>  Timestamp: 2026-04-18 12:44:27</a:t>
            </a:r>
          </a:p>
          <a:p>
            <a:pPr algn="l">
              <a:spcAft>
                <a:spcPts val="100"/>
              </a:spcAft>
              <a:defRPr sz="1300" b="0">
                <a:solidFill>
                  <a:srgbClr val="00C853"/>
                </a:solidFill>
                <a:latin typeface="Courier New"/>
              </a:defRPr>
            </a:pPr>
            <a:r>
              <a:rPr lang="en-GB" altLang="en-GB"/>
              <a:t>  ✅ User allowed application</a:t>
            </a:r>
          </a:p>
          <a:p>
            <a:pPr algn="l">
              <a:spcAft>
                <a:spcPts val="100"/>
              </a:spcAft>
              <a:defRPr sz="1300" b="0">
                <a:solidFill>
                  <a:srgbClr val="888888"/>
                </a:solidFill>
                <a:latin typeface="Courier New"/>
              </a:defRPr>
            </a:pPr>
            <a:r>
              <a:rPr lang="en-GB" altLang="en-GB"/>
              <a:t>  Severity: high</a:t>
            </a:r>
          </a:p>
          <a:p>
            <a:pPr algn="l">
              <a:spcAft>
                <a:spcPts val="100"/>
              </a:spcAft>
              <a:defRPr sz="1300" b="0">
                <a:solidFill>
                  <a:srgbClr val="888888"/>
                </a:solidFill>
                <a:latin typeface="Courier New"/>
              </a:defRPr>
            </a:pPr>
            <a:r>
              <a:rPr lang="en-GB" altLang="en-GB"/>
              <a:t>  Path: /Applications/Epidemic Sound.app/</a:t>
            </a:r>
          </a:p>
          <a:p>
            <a:pPr algn="l">
              <a:spcAft>
                <a:spcPts val="100"/>
              </a:spcAft>
              <a:defRPr sz="1300" b="0">
                <a:solidFill>
                  <a:srgbClr val="888888"/>
                </a:solidFill>
                <a:latin typeface="Courier New"/>
              </a:defRPr>
            </a:pPr>
            <a:r>
              <a:rPr lang="en-GB" altLang="en-GB"/>
              <a:t>    Contents/Frameworks/Epidemic Sound</a:t>
            </a:r>
          </a:p>
          <a:p>
            <a:pPr algn="l">
              <a:spcAft>
                <a:spcPts val="100"/>
              </a:spcAft>
              <a:defRPr sz="1300" b="0">
                <a:solidFill>
                  <a:srgbClr val="888888"/>
                </a:solidFill>
                <a:latin typeface="Courier New"/>
              </a:defRPr>
            </a:pPr>
            <a:r>
              <a:rPr lang="en-GB" altLang="en-GB"/>
              <a:t>    Helper.app/.../Epidemic Sound Helper</a:t>
            </a:r>
          </a:p>
          <a:p>
            <a:pPr algn="l">
              <a:spcAft>
                <a:spcPts val="100"/>
              </a:spcAft>
              <a:defRPr sz="1300" b="0">
                <a:solidFill>
                  <a:srgbClr val="888888"/>
                </a:solidFill>
                <a:latin typeface="Courier New"/>
              </a:defRPr>
            </a:pPr>
            <a:r>
              <a:rPr lang="en-GB" altLang="en-GB"/>
              <a:t>  PID: 95396</a:t>
            </a:r>
          </a:p>
        </p:txBody>
      </p:sp>
      <p:sp>
        <p:nvSpPr>
          <p:cNvPr id="7" name="TextBox 6"/>
          <p:cNvSpPr txBox="1"/>
          <p:nvPr/>
        </p:nvSpPr>
        <p:spPr>
          <a:xfrm>
            <a:off x="6400800" y="4114800"/>
            <a:ext cx="5029200" cy="256032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OverSight</a:t>
            </a:r>
          </a:p>
          <a:p>
            <a:pPr algn="l">
              <a:spcAft>
                <a:spcPts val="100"/>
              </a:spcAft>
              <a:defRPr sz="1400" b="0">
                <a:solidFill>
                  <a:srgbClr val="888888"/>
                </a:solidFill>
                <a:latin typeface="Courier New"/>
              </a:defRPr>
            </a:pPr>
            <a:r>
              <a:rPr lang="en-GB" altLang="en-GB"/>
              <a:t>  No camera/microphone access events detected</a:t>
            </a:r>
          </a:p>
          <a:p>
            <a:pPr algn="l">
              <a:spcAft>
                <a:spcPts val="100"/>
              </a:spcAft>
              <a:defRPr sz="500" b="0">
                <a:solidFill>
                  <a:srgbClr val="888888"/>
                </a:solidFill>
                <a:latin typeface="Courier New"/>
              </a:defRPr>
            </a:pPr>
            <a:endParaRPr lang="en-GB" altLang="en-GB"/>
          </a:p>
          <a:p>
            <a:pPr algn="l">
              <a:spcAft>
                <a:spcPts val="100"/>
              </a:spcAft>
              <a:defRPr sz="1700" b="1">
                <a:solidFill>
                  <a:srgbClr val="00C853"/>
                </a:solidFill>
                <a:latin typeface="Courier New"/>
              </a:defRPr>
            </a:pPr>
            <a:r>
              <a:rPr lang="en-GB" altLang="en-GB"/>
              <a:t>## ReiKey</a:t>
            </a:r>
          </a:p>
          <a:p>
            <a:pPr algn="l">
              <a:spcAft>
                <a:spcPts val="100"/>
              </a:spcAft>
              <a:defRPr sz="1400" b="0">
                <a:solidFill>
                  <a:srgbClr val="888888"/>
                </a:solidFill>
                <a:latin typeface="Courier New"/>
              </a:defRPr>
            </a:pPr>
            <a:r>
              <a:rPr lang="en-GB" altLang="en-GB"/>
              <a:t>  No keylogger events detected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SYSTEM CHANGES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515600" cy="54864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System Extensions</a:t>
            </a:r>
          </a:p>
          <a:p>
            <a:pPr algn="l">
              <a:spcAft>
                <a:spcPts val="100"/>
              </a:spcAft>
              <a:defRPr sz="1400" b="0">
                <a:solidFill>
                  <a:srgbClr val="888888"/>
                </a:solidFill>
                <a:latin typeface="Courier New"/>
              </a:defRPr>
            </a:pPr>
            <a:r>
              <a:rPr lang="en-GB" altLang="en-GB"/>
              <a:t>  No System Extensions found</a:t>
            </a:r>
          </a:p>
        </p:txBody>
      </p:sp>
      <p:sp>
        <p:nvSpPr>
          <p:cNvPr id="5" name="TextBox 4"/>
          <p:cNvSpPr txBox="1"/>
          <p:nvPr/>
        </p:nvSpPr>
        <p:spPr>
          <a:xfrm>
            <a:off x="731520" y="1920240"/>
            <a:ext cx="5303520" cy="365760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Managed Login Items</a:t>
            </a:r>
          </a:p>
          <a:p>
            <a:pPr algn="l">
              <a:spcAft>
                <a:spcPts val="100"/>
              </a:spcAft>
              <a:defRPr sz="500" b="0">
                <a:solidFill>
                  <a:srgbClr val="888888"/>
                </a:solidFill>
                <a:latin typeface="Courier New"/>
              </a:defRPr>
            </a:pPr>
            <a:endParaRPr lang="en-GB" altLang="en-GB"/>
          </a:p>
          <a:p>
            <a:pPr algn="l">
              <a:spcAft>
                <a:spcPts val="100"/>
              </a:spcAft>
              <a:defRPr sz="1400" b="0">
                <a:solidFill>
                  <a:srgbClr val="888888"/>
                </a:solidFill>
                <a:latin typeface="Courier New"/>
              </a:defRPr>
            </a:pPr>
            <a:r>
              <a:rPr lang="en-GB" altLang="en-GB"/>
              <a:t>No login items changes detected</a:t>
            </a:r>
          </a:p>
        </p:txBody>
      </p:sp>
      <p:sp>
        <p:nvSpPr>
          <p:cNvPr id="6" name="TextBox 5"/>
          <p:cNvSpPr txBox="1"/>
          <p:nvPr/>
        </p:nvSpPr>
        <p:spPr>
          <a:xfrm>
            <a:off x="6400800" y="1920240"/>
            <a:ext cx="5029200" cy="137160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Notification Changes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Application: com.electron.epidemic-sound</a:t>
            </a:r>
          </a:p>
          <a:p>
            <a:pPr algn="l">
              <a:spcAft>
                <a:spcPts val="100"/>
              </a:spcAft>
              <a:defRPr sz="1400" b="0">
                <a:solidFill>
                  <a:srgbClr val="888888"/>
                </a:solidFill>
                <a:latin typeface="Courier New"/>
              </a:defRPr>
            </a:pPr>
            <a:r>
              <a:rPr lang="en-GB" altLang="en-GB"/>
              <a:t>  New notification permission: Inactive</a:t>
            </a:r>
          </a:p>
          <a:p>
            <a:pPr algn="l">
              <a:spcAft>
                <a:spcPts val="100"/>
              </a:spcAft>
              <a:defRPr sz="1400" b="0">
                <a:solidFill>
                  <a:srgbClr val="888888"/>
                </a:solidFill>
                <a:latin typeface="Courier New"/>
              </a:defRPr>
            </a:pPr>
            <a:r>
              <a:rPr lang="en-GB" altLang="en-GB"/>
              <a:t>  Path: /Applications/Epidemic Sound.app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RESULTS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303520" cy="2121133"/>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Uninstall Results</a:t>
            </a:r>
          </a:p>
          <a:p>
            <a:pPr algn="l">
              <a:spcAft>
                <a:spcPts val="100"/>
              </a:spcAft>
              <a:defRPr sz="500" b="0">
                <a:solidFill>
                  <a:srgbClr val="888888"/>
                </a:solidFill>
                <a:latin typeface="Courier New"/>
              </a:defRPr>
            </a:pPr>
            <a:endParaRPr lang="en-GB" altLang="en-GB"/>
          </a:p>
          <a:p>
            <a:pPr algn="l">
              <a:spcAft>
                <a:spcPts val="100"/>
              </a:spcAft>
              <a:defRPr sz="1500" b="1">
                <a:solidFill>
                  <a:srgbClr val="00C853"/>
                </a:solidFill>
                <a:latin typeface="Courier New"/>
              </a:defRPr>
            </a:pPr>
            <a:r>
              <a:rPr lang="en-GB" altLang="en-GB"/>
              <a:t>✅ Successfully uninstalled EpidemicSound</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Uninstalled at: 12:55:21</a:t>
            </a:r>
          </a:p>
          <a:p>
            <a:pPr algn="l">
              <a:spcAft>
                <a:spcPts val="100"/>
              </a:spcAft>
              <a:defRPr sz="1400" b="0">
                <a:solidFill>
                  <a:srgbClr val="CCCCCC"/>
                </a:solidFill>
                <a:latin typeface="Courier New"/>
              </a:defRPr>
            </a:pPr>
            <a:r>
              <a:rPr lang="en-GB" altLang="en-GB"/>
              <a:t>Uninstallation duration: 32s</a:t>
            </a:r>
          </a:p>
          <a:p>
            <a:pPr algn="l">
              <a:spcAft>
                <a:spcPts val="100"/>
              </a:spcAft>
              <a:defRPr sz="500" b="0">
                <a:solidFill>
                  <a:srgbClr val="888888"/>
                </a:solidFill>
                <a:latin typeface="Courier New"/>
              </a:defRPr>
            </a:pPr>
            <a:endParaRPr lang="en-GB" altLang="en-GB"/>
          </a:p>
          <a:p>
            <a:pPr algn="l">
              <a:spcAft>
                <a:spcPts val="100"/>
              </a:spcAft>
              <a:defRPr sz="1400" b="0">
                <a:solidFill>
                  <a:srgbClr val="00C853"/>
                </a:solidFill>
                <a:latin typeface="Courier New"/>
              </a:defRPr>
            </a:pPr>
            <a:r>
              <a:rPr lang="en-GB" altLang="en-GB"/>
              <a:t>✅ Successfully uninstalled EpidemicSound (version: 1.18.10)</a:t>
            </a:r>
          </a:p>
        </p:txBody>
      </p:sp>
      <p:sp>
        <p:nvSpPr>
          <p:cNvPr id="5" name="TextBox 4"/>
          <p:cNvSpPr txBox="1"/>
          <p:nvPr/>
        </p:nvSpPr>
        <p:spPr>
          <a:xfrm>
            <a:off x="6400800" y="1188720"/>
            <a:ext cx="5029200" cy="531687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Code Signing Results</a:t>
            </a:r>
          </a:p>
          <a:p>
            <a:pPr algn="l">
              <a:spcAft>
                <a:spcPts val="100"/>
              </a:spcAft>
              <a:defRPr sz="5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Application: /Applications/Epidemic Sound.app</a:t>
            </a:r>
          </a:p>
          <a:p>
            <a:pPr algn="l">
              <a:spcAft>
                <a:spcPts val="100"/>
              </a:spcAft>
              <a:defRPr sz="500" b="0">
                <a:solidFill>
                  <a:srgbClr val="888888"/>
                </a:solidFill>
                <a:latin typeface="Courier New"/>
              </a:defRPr>
            </a:pPr>
            <a:endParaRPr lang="en-GB" altLang="en-GB"/>
          </a:p>
          <a:p>
            <a:pPr algn="l">
              <a:spcAft>
                <a:spcPts val="100"/>
              </a:spcAft>
              <a:defRPr sz="1300" b="0">
                <a:solidFill>
                  <a:srgbClr val="888888"/>
                </a:solidFill>
                <a:latin typeface="Courier New"/>
              </a:defRPr>
            </a:pPr>
            <a:r>
              <a:rPr lang="en-GB" altLang="en-GB"/>
              <a:t>Executable=.../Epidemic Sound</a:t>
            </a:r>
          </a:p>
          <a:p>
            <a:pPr algn="l">
              <a:spcAft>
                <a:spcPts val="100"/>
              </a:spcAft>
              <a:defRPr sz="1300" b="0">
                <a:solidFill>
                  <a:srgbClr val="888888"/>
                </a:solidFill>
                <a:latin typeface="Courier New"/>
              </a:defRPr>
            </a:pPr>
            <a:r>
              <a:rPr lang="en-GB" altLang="en-GB"/>
              <a:t>Identifier=com.electron.epidemic-sound</a:t>
            </a:r>
          </a:p>
          <a:p>
            <a:pPr algn="l">
              <a:spcAft>
                <a:spcPts val="100"/>
              </a:spcAft>
              <a:defRPr sz="1300" b="0">
                <a:solidFill>
                  <a:srgbClr val="888888"/>
                </a:solidFill>
                <a:latin typeface="Courier New"/>
              </a:defRPr>
            </a:pPr>
            <a:r>
              <a:rPr lang="en-GB" altLang="en-GB"/>
              <a:t>Format=app bundle with Mach-O thin (x86_64)</a:t>
            </a:r>
          </a:p>
          <a:p>
            <a:pPr algn="l">
              <a:spcAft>
                <a:spcPts val="100"/>
              </a:spcAft>
              <a:defRPr sz="1300" b="0">
                <a:solidFill>
                  <a:srgbClr val="888888"/>
                </a:solidFill>
                <a:latin typeface="Courier New"/>
              </a:defRPr>
            </a:pPr>
            <a:r>
              <a:rPr lang="en-GB" altLang="en-GB"/>
              <a:t>CodeDirectory v=20500 flags=0x10000(runtime)</a:t>
            </a:r>
          </a:p>
          <a:p>
            <a:pPr algn="l">
              <a:spcAft>
                <a:spcPts val="100"/>
              </a:spcAft>
              <a:defRPr sz="1300" b="0">
                <a:solidFill>
                  <a:srgbClr val="888888"/>
                </a:solidFill>
                <a:latin typeface="Courier New"/>
              </a:defRPr>
            </a:pPr>
            <a:r>
              <a:rPr lang="en-GB" altLang="en-GB"/>
              <a:t>Signature size=9054</a:t>
            </a:r>
          </a:p>
          <a:p>
            <a:pPr algn="l">
              <a:spcAft>
                <a:spcPts val="100"/>
              </a:spcAft>
              <a:defRPr sz="300" b="0">
                <a:solidFill>
                  <a:srgbClr val="888888"/>
                </a:solidFill>
                <a:latin typeface="Courier New"/>
              </a:defRPr>
            </a:pPr>
            <a:endParaRPr lang="en-GB" altLang="en-GB"/>
          </a:p>
          <a:p>
            <a:pPr algn="l">
              <a:spcAft>
                <a:spcPts val="100"/>
              </a:spcAft>
              <a:defRPr sz="1300" b="0">
                <a:solidFill>
                  <a:srgbClr val="CCCCCC"/>
                </a:solidFill>
                <a:latin typeface="Courier New"/>
              </a:defRPr>
            </a:pPr>
            <a:r>
              <a:rPr lang="en-GB" altLang="en-GB"/>
              <a:t>Authority=Developer ID Application:</a:t>
            </a:r>
          </a:p>
          <a:p>
            <a:pPr algn="l">
              <a:spcAft>
                <a:spcPts val="100"/>
              </a:spcAft>
              <a:defRPr sz="1300" b="0">
                <a:solidFill>
                  <a:srgbClr val="CCCCCC"/>
                </a:solidFill>
                <a:latin typeface="Courier New"/>
              </a:defRPr>
            </a:pPr>
            <a:r>
              <a:rPr lang="en-GB" altLang="en-GB"/>
              <a:t>  Epidemic Sound AB (LE95XJ5KXM)</a:t>
            </a:r>
          </a:p>
          <a:p>
            <a:pPr algn="l">
              <a:spcAft>
                <a:spcPts val="100"/>
              </a:spcAft>
              <a:defRPr sz="1300" b="0">
                <a:solidFill>
                  <a:srgbClr val="888888"/>
                </a:solidFill>
                <a:latin typeface="Courier New"/>
              </a:defRPr>
            </a:pPr>
            <a:r>
              <a:rPr lang="en-GB" altLang="en-GB"/>
              <a:t>Authority=Developer ID Certification Authority</a:t>
            </a:r>
          </a:p>
          <a:p>
            <a:pPr algn="l">
              <a:spcAft>
                <a:spcPts val="100"/>
              </a:spcAft>
              <a:defRPr sz="1300" b="0">
                <a:solidFill>
                  <a:srgbClr val="888888"/>
                </a:solidFill>
                <a:latin typeface="Courier New"/>
              </a:defRPr>
            </a:pPr>
            <a:r>
              <a:rPr lang="en-GB" altLang="en-GB"/>
              <a:t>Authority=Apple Root CA</a:t>
            </a:r>
          </a:p>
          <a:p>
            <a:pPr algn="l">
              <a:spcAft>
                <a:spcPts val="100"/>
              </a:spcAft>
              <a:defRPr sz="300" b="0">
                <a:solidFill>
                  <a:srgbClr val="888888"/>
                </a:solidFill>
                <a:latin typeface="Courier New"/>
              </a:defRPr>
            </a:pPr>
            <a:endParaRPr lang="en-GB" altLang="en-GB"/>
          </a:p>
          <a:p>
            <a:pPr algn="l">
              <a:spcAft>
                <a:spcPts val="100"/>
              </a:spcAft>
              <a:defRPr sz="1300" b="0">
                <a:solidFill>
                  <a:srgbClr val="888888"/>
                </a:solidFill>
                <a:latin typeface="Courier New"/>
              </a:defRPr>
            </a:pPr>
            <a:r>
              <a:rPr lang="en-GB" altLang="en-GB"/>
              <a:t>Timestamp=Mar 3, 2026 at 2:32:29 PM</a:t>
            </a:r>
          </a:p>
          <a:p>
            <a:pPr algn="l">
              <a:spcAft>
                <a:spcPts val="100"/>
              </a:spcAft>
              <a:defRPr sz="1300" b="0">
                <a:solidFill>
                  <a:srgbClr val="888888"/>
                </a:solidFill>
                <a:latin typeface="Courier New"/>
              </a:defRPr>
            </a:pPr>
            <a:r>
              <a:rPr lang="en-GB" altLang="en-GB"/>
              <a:t>Notarization Ticket=stapled</a:t>
            </a:r>
          </a:p>
          <a:p>
            <a:pPr algn="l">
              <a:spcAft>
                <a:spcPts val="100"/>
              </a:spcAft>
              <a:defRPr sz="1300" b="0">
                <a:solidFill>
                  <a:srgbClr val="888888"/>
                </a:solidFill>
                <a:latin typeface="Courier New"/>
              </a:defRPr>
            </a:pPr>
            <a:r>
              <a:rPr lang="en-GB" altLang="en-GB"/>
              <a:t>TeamIdentifier=LE95XJ5KXM</a:t>
            </a:r>
          </a:p>
          <a:p>
            <a:pPr algn="l">
              <a:spcAft>
                <a:spcPts val="100"/>
              </a:spcAft>
              <a:defRPr sz="1300" b="0">
                <a:solidFill>
                  <a:srgbClr val="888888"/>
                </a:solidFill>
                <a:latin typeface="Courier New"/>
              </a:defRPr>
            </a:pPr>
            <a:r>
              <a:rPr lang="en-GB" altLang="en-GB"/>
              <a:t>Runtime Version=26.0.0</a:t>
            </a:r>
          </a:p>
          <a:p>
            <a:pPr algn="l">
              <a:spcAft>
                <a:spcPts val="100"/>
              </a:spcAft>
              <a:defRPr sz="1300" b="0">
                <a:solidFill>
                  <a:srgbClr val="888888"/>
                </a:solidFill>
                <a:latin typeface="Courier New"/>
              </a:defRPr>
            </a:pPr>
            <a:r>
              <a:rPr lang="en-GB" altLang="en-GB"/>
              <a:t>Sealed Resources: rules=13 files=15</a:t>
            </a:r>
          </a:p>
          <a:p>
            <a:pPr algn="l">
              <a:spcAft>
                <a:spcPts val="100"/>
              </a:spcAft>
              <a:defRPr sz="300" b="0">
                <a:solidFill>
                  <a:srgbClr val="888888"/>
                </a:solidFill>
                <a:latin typeface="Courier New"/>
              </a:defRPr>
            </a:pPr>
            <a:endParaRPr lang="en-GB" altLang="en-GB"/>
          </a:p>
          <a:p>
            <a:pPr algn="l">
              <a:spcAft>
                <a:spcPts val="100"/>
              </a:spcAft>
              <a:defRPr sz="1400" b="0">
                <a:solidFill>
                  <a:srgbClr val="CCCCCC"/>
                </a:solidFill>
                <a:latin typeface="Courier New"/>
              </a:defRPr>
            </a:pPr>
            <a:r>
              <a:rPr lang="en-GB" altLang="en-GB"/>
              <a:t>BundleID: com.electron.epidemic-sound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THE DOSSIER: CONFIG PROFILES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5303520" cy="3421410"/>
          </a:xfrm>
          <a:prstGeom prst="rect">
            <a:avLst/>
          </a:prstGeom>
          <a:noFill/>
        </p:spPr>
        <p:txBody>
          <a:bodyPr wrap="square">
            <a:spAutoFit/>
          </a:bodyPr>
          <a:lstStyle/>
          <a:p>
            <a:pPr algn="l">
              <a:spcAft>
                <a:spcPts val="100"/>
              </a:spcAft>
              <a:defRPr sz="1700" b="1">
                <a:solidFill>
                  <a:srgbClr val="00C853"/>
                </a:solidFill>
                <a:latin typeface="Courier New"/>
              </a:defRPr>
            </a:pPr>
            <a:r>
              <a:rPr lang="en-GB" altLang="en-GB"/>
              <a:t>## Configuration Profiles Generated</a:t>
            </a:r>
          </a:p>
          <a:p>
            <a:pPr algn="l">
              <a:spcAft>
                <a:spcPts val="100"/>
              </a:spcAft>
              <a:defRPr sz="700" b="0">
                <a:solidFill>
                  <a:srgbClr val="888888"/>
                </a:solidFill>
                <a:latin typeface="Courier New"/>
              </a:defRPr>
            </a:pPr>
            <a:endParaRPr lang="en-GB" altLang="en-GB"/>
          </a:p>
          <a:p>
            <a:pPr algn="l">
              <a:spcAft>
                <a:spcPts val="100"/>
              </a:spcAft>
              <a:defRPr sz="1600" b="1">
                <a:solidFill>
                  <a:srgbClr val="CCCCCC"/>
                </a:solidFill>
                <a:latin typeface="Courier New"/>
              </a:defRPr>
            </a:pPr>
            <a:r>
              <a:rPr lang="en-GB" altLang="en-GB"/>
              <a:t>Profile: Screen Recording</a:t>
            </a:r>
          </a:p>
          <a:p>
            <a:pPr algn="l">
              <a:spcAft>
                <a:spcPts val="100"/>
              </a:spcAft>
              <a:defRPr sz="1400" b="0">
                <a:solidFill>
                  <a:srgbClr val="888888"/>
                </a:solidFill>
                <a:latin typeface="Courier New"/>
              </a:defRPr>
            </a:pPr>
            <a:r>
              <a:rPr lang="en-GB" altLang="en-GB"/>
              <a:t>Filename: Screen Recording - Allow EpidemicSound.mobileconfig</a:t>
            </a:r>
          </a:p>
          <a:p>
            <a:pPr algn="l">
              <a:spcAft>
                <a:spcPts val="100"/>
              </a:spcAft>
              <a:defRPr sz="1400" b="0">
                <a:solidFill>
                  <a:srgbClr val="888888"/>
                </a:solidFill>
                <a:latin typeface="Courier New"/>
              </a:defRPr>
            </a:pPr>
            <a:r>
              <a:rPr lang="en-GB" altLang="en-GB"/>
              <a:t>Applications: Epidemic Sound.app</a:t>
            </a:r>
          </a:p>
          <a:p>
            <a:pPr algn="l">
              <a:spcAft>
                <a:spcPts val="100"/>
              </a:spcAft>
              <a:defRPr sz="1400" b="0">
                <a:solidFill>
                  <a:srgbClr val="888888"/>
                </a:solidFill>
                <a:latin typeface="Courier New"/>
              </a:defRPr>
            </a:pPr>
            <a:r>
              <a:rPr lang="en-GB" altLang="en-GB"/>
              <a:t>Bundle ID: com.electron.epidemic-sound</a:t>
            </a:r>
          </a:p>
          <a:p>
            <a:pPr algn="l">
              <a:spcAft>
                <a:spcPts val="100"/>
              </a:spcAft>
              <a:defRPr sz="500" b="0">
                <a:solidFill>
                  <a:srgbClr val="888888"/>
                </a:solidFill>
                <a:latin typeface="Courier New"/>
              </a:defRPr>
            </a:pPr>
            <a:endParaRPr lang="en-GB" altLang="en-GB"/>
          </a:p>
          <a:p>
            <a:pPr algn="l">
              <a:spcAft>
                <a:spcPts val="100"/>
              </a:spcAft>
              <a:defRPr sz="1600" b="1">
                <a:solidFill>
                  <a:srgbClr val="CCCCCC"/>
                </a:solidFill>
                <a:latin typeface="Courier New"/>
              </a:defRPr>
            </a:pPr>
            <a:r>
              <a:rPr lang="en-GB" altLang="en-GB"/>
              <a:t>Profile: Notifications</a:t>
            </a:r>
          </a:p>
          <a:p>
            <a:pPr algn="l">
              <a:spcAft>
                <a:spcPts val="100"/>
              </a:spcAft>
              <a:defRPr sz="1400" b="0">
                <a:solidFill>
                  <a:srgbClr val="888888"/>
                </a:solidFill>
                <a:latin typeface="Courier New"/>
              </a:defRPr>
            </a:pPr>
            <a:r>
              <a:rPr lang="en-GB" altLang="en-GB"/>
              <a:t>Filename: Notifications - Allow EpidemicSound.mobileconfig</a:t>
            </a:r>
          </a:p>
          <a:p>
            <a:pPr algn="l">
              <a:spcAft>
                <a:spcPts val="100"/>
              </a:spcAft>
              <a:defRPr sz="1400" b="0">
                <a:solidFill>
                  <a:srgbClr val="888888"/>
                </a:solidFill>
                <a:latin typeface="Courier New"/>
              </a:defRPr>
            </a:pPr>
            <a:r>
              <a:rPr lang="en-GB" altLang="en-GB"/>
              <a:t>Applications: Epidemic Sound.app</a:t>
            </a:r>
          </a:p>
          <a:p>
            <a:pPr algn="l">
              <a:spcAft>
                <a:spcPts val="100"/>
              </a:spcAft>
              <a:defRPr sz="1400" b="0">
                <a:solidFill>
                  <a:srgbClr val="888888"/>
                </a:solidFill>
                <a:latin typeface="Courier New"/>
              </a:defRPr>
            </a:pPr>
            <a:r>
              <a:rPr lang="en-GB" altLang="en-GB"/>
              <a:t>Bundle ID: com.electron.epidemic-sound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1828800"/>
            <a:ext cx="10698480" cy="1371600"/>
          </a:xfrm>
          <a:prstGeom prst="rect">
            <a:avLst/>
          </a:prstGeom>
          <a:noFill/>
        </p:spPr>
        <p:txBody>
          <a:bodyPr wrap="square"/>
          <a:lstStyle/>
          <a:p>
            <a:pPr algn="ctr">
              <a:spcBef>
                <a:spcPts val="0"/>
              </a:spcBef>
              <a:spcAft>
                <a:spcPts val="0"/>
              </a:spcAft>
              <a:defRPr sz="6400" b="1">
                <a:solidFill>
                  <a:srgbClr val="CC2424"/>
                </a:solidFill>
                <a:latin typeface="Courier New"/>
              </a:defRPr>
            </a:pPr>
            <a:r>
              <a:rPr lang="en-GB" altLang="en-GB"/>
              <a:t>FIELD OPERATION</a:t>
            </a:r>
          </a:p>
        </p:txBody>
      </p:sp>
      <p:sp>
        <p:nvSpPr>
          <p:cNvPr id="3" name="Rectangle 2"/>
          <p:cNvSpPr/>
          <p:nvPr/>
        </p:nvSpPr>
        <p:spPr>
          <a:xfrm>
            <a:off x="731520" y="3291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0"/>
            <a:ext cx="10698480" cy="914400"/>
          </a:xfrm>
          <a:prstGeom prst="rect">
            <a:avLst/>
          </a:prstGeom>
          <a:noFill/>
        </p:spPr>
        <p:txBody>
          <a:bodyPr wrap="square"/>
          <a:lstStyle/>
          <a:p>
            <a:pPr algn="ctr">
              <a:spcBef>
                <a:spcPts val="0"/>
              </a:spcBef>
              <a:spcAft>
                <a:spcPts val="0"/>
              </a:spcAft>
              <a:defRPr sz="4000" b="1">
                <a:solidFill>
                  <a:srgbClr val="FFA500"/>
                </a:solidFill>
                <a:latin typeface="Courier New"/>
              </a:defRPr>
            </a:pPr>
            <a:r>
              <a:rPr lang="en-GB" altLang="en-GB"/>
              <a:t>[ LIVE DEMO ]</a:t>
            </a:r>
          </a:p>
        </p:txBody>
      </p:sp>
      <p:sp>
        <p:nvSpPr>
          <p:cNvPr id="5" name="TextBox 4"/>
          <p:cNvSpPr txBox="1"/>
          <p:nvPr/>
        </p:nvSpPr>
        <p:spPr>
          <a:xfrm>
            <a:off x="731520" y="4754880"/>
            <a:ext cx="10698480" cy="548640"/>
          </a:xfrm>
          <a:prstGeom prst="rect">
            <a:avLst/>
          </a:prstGeom>
          <a:noFill/>
        </p:spPr>
        <p:txBody>
          <a:bodyPr wrap="square"/>
          <a:lstStyle/>
          <a:p>
            <a:pPr algn="ctr">
              <a:spcBef>
                <a:spcPts val="0"/>
              </a:spcBef>
              <a:spcAft>
                <a:spcPts val="0"/>
              </a:spcAft>
              <a:defRPr sz="2200" b="0">
                <a:solidFill>
                  <a:srgbClr val="888888"/>
                </a:solidFill>
                <a:latin typeface="Courier New"/>
              </a:defRPr>
            </a:pPr>
            <a:r>
              <a:rPr lang="en-GB" altLang="en-GB"/>
              <a:t>"Trust, but verify" — let's verify, live.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RECRUITMENT</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5148072"/>
          </a:xfrm>
          <a:prstGeom prst="rect">
            <a:avLst/>
          </a:prstGeom>
          <a:noFill/>
        </p:spPr>
        <p:txBody>
          <a:bodyPr wrap="square">
            <a:spAutoFit/>
          </a:bodyPr>
          <a:lstStyle/>
          <a:p>
            <a:pPr algn="l">
              <a:spcAft>
                <a:spcPts val="500"/>
              </a:spcAft>
              <a:defRPr sz="2200" b="1">
                <a:solidFill>
                  <a:srgbClr val="CC2424"/>
                </a:solidFill>
                <a:latin typeface="Courier New"/>
              </a:defRPr>
            </a:pPr>
            <a:r>
              <a:rPr lang="en-GB" altLang="en-GB"/>
              <a:t>REQUIREMENTS:</a:t>
            </a:r>
          </a:p>
          <a:p>
            <a:pPr algn="l">
              <a:spcAft>
                <a:spcPts val="500"/>
              </a:spcAft>
              <a:defRPr sz="2000" b="0">
                <a:solidFill>
                  <a:srgbClr val="CCCCCC"/>
                </a:solidFill>
                <a:latin typeface="Courier New"/>
              </a:defRPr>
            </a:pPr>
            <a:r>
              <a:rPr lang="en-GB" altLang="en-GB"/>
              <a:t>  macOS 11+  ·  Python 3.9+  ·  pure stdlib (no pip installs)</a:t>
            </a:r>
          </a:p>
          <a:p>
            <a:pPr algn="l">
              <a:spcAft>
                <a:spcPts val="500"/>
              </a:spcAft>
              <a:defRPr sz="2000" b="0">
                <a:solidFill>
                  <a:srgbClr val="CCCCCC"/>
                </a:solidFill>
                <a:latin typeface="Courier New"/>
              </a:defRPr>
            </a:pPr>
            <a:r>
              <a:rPr lang="en-GB" altLang="en-GB"/>
              <a:t>  Xcode Command Line Tools</a:t>
            </a:r>
          </a:p>
          <a:p>
            <a:pPr algn="l">
              <a:spcAft>
                <a:spcPts val="500"/>
              </a:spcAft>
              <a:defRPr sz="2000" b="0">
                <a:solidFill>
                  <a:srgbClr val="CCCCCC"/>
                </a:solidFill>
                <a:latin typeface="Courier New"/>
              </a:defRPr>
            </a:pPr>
            <a:r>
              <a:rPr lang="en-GB" altLang="en-GB"/>
              <a:t>  Test hardware (or VM if none available)</a:t>
            </a:r>
          </a:p>
          <a:p>
            <a:pPr algn="l">
              <a:spcAft>
                <a:spcPts val="500"/>
              </a:spcAft>
              <a:defRPr sz="800" b="0">
                <a:solidFill>
                  <a:srgbClr val="888888"/>
                </a:solidFill>
                <a:latin typeface="Courier New"/>
              </a:defRPr>
            </a:pPr>
            <a:endParaRPr lang="en-GB" altLang="en-GB"/>
          </a:p>
          <a:p>
            <a:pPr algn="l">
              <a:spcAft>
                <a:spcPts val="500"/>
              </a:spcAft>
              <a:defRPr sz="2200" b="1">
                <a:solidFill>
                  <a:srgbClr val="CC2424"/>
                </a:solidFill>
                <a:latin typeface="Courier New"/>
              </a:defRPr>
            </a:pPr>
            <a:r>
              <a:rPr lang="en-GB" altLang="en-GB"/>
              <a:t>SETUP:</a:t>
            </a:r>
          </a:p>
          <a:p>
            <a:pPr algn="l">
              <a:spcAft>
                <a:spcPts val="500"/>
              </a:spcAft>
              <a:defRPr sz="2000" b="0">
                <a:solidFill>
                  <a:srgbClr val="00C853"/>
                </a:solidFill>
                <a:latin typeface="Courier New"/>
              </a:defRPr>
            </a:pPr>
            <a:r>
              <a:rPr lang="en-GB" altLang="en-GB"/>
              <a:t>  $ git clone https://github.com/paul-cossey/macaduk-2026-trust-but-verify</a:t>
            </a:r>
          </a:p>
          <a:p>
            <a:pPr algn="l">
              <a:spcAft>
                <a:spcPts val="500"/>
              </a:spcAft>
              <a:defRPr sz="2000" b="0">
                <a:solidFill>
                  <a:srgbClr val="00C853"/>
                </a:solidFill>
                <a:latin typeface="Courier New"/>
              </a:defRPr>
            </a:pPr>
            <a:r>
              <a:rPr lang="en-GB" altLang="en-GB"/>
              <a:t>  $ python3 configure.py --edit</a:t>
            </a:r>
          </a:p>
          <a:p>
            <a:pPr algn="l">
              <a:spcAft>
                <a:spcPts val="500"/>
              </a:spcAft>
              <a:defRPr sz="2000" b="0">
                <a:solidFill>
                  <a:srgbClr val="00C853"/>
                </a:solidFill>
                <a:latin typeface="Courier New"/>
              </a:defRPr>
            </a:pPr>
            <a:r>
              <a:rPr lang="en-GB" altLang="en-GB"/>
              <a:t>  $ sudo python3 main.py</a:t>
            </a:r>
          </a:p>
          <a:p>
            <a:pPr algn="l">
              <a:spcAft>
                <a:spcPts val="500"/>
              </a:spcAft>
              <a:defRPr sz="800" b="0">
                <a:solidFill>
                  <a:srgbClr val="888888"/>
                </a:solidFill>
                <a:latin typeface="Courier New"/>
              </a:defRPr>
            </a:pPr>
            <a:endParaRPr lang="en-GB" altLang="en-GB"/>
          </a:p>
          <a:p>
            <a:pPr algn="l">
              <a:spcAft>
                <a:spcPts val="500"/>
              </a:spcAft>
              <a:defRPr sz="2200" b="1">
                <a:solidFill>
                  <a:srgbClr val="CC2424"/>
                </a:solidFill>
                <a:latin typeface="Courier New"/>
              </a:defRPr>
            </a:pPr>
            <a:r>
              <a:rPr lang="en-GB" altLang="en-GB"/>
              <a:t>RECOMMENDED:</a:t>
            </a:r>
          </a:p>
          <a:p>
            <a:pPr algn="l">
              <a:spcAft>
                <a:spcPts val="500"/>
              </a:spcAft>
              <a:defRPr sz="2000" b="0">
                <a:solidFill>
                  <a:srgbClr val="CCCCCC"/>
                </a:solidFill>
                <a:latin typeface="Courier New"/>
              </a:defRPr>
            </a:pPr>
            <a:r>
              <a:rPr lang="en-GB" altLang="en-GB"/>
              <a:t>  Install Objective-See tools for full coverage</a:t>
            </a:r>
          </a:p>
          <a:p>
            <a:pPr algn="l">
              <a:spcAft>
                <a:spcPts val="500"/>
              </a:spcAft>
              <a:defRPr sz="2000" b="0">
                <a:solidFill>
                  <a:srgbClr val="CCCCCC"/>
                </a:solidFill>
                <a:latin typeface="Courier New"/>
              </a:defRPr>
            </a:pPr>
            <a:r>
              <a:rPr lang="en-GB" altLang="en-GB"/>
              <a:t>  Free VirusTotal API key (public tier works)</a:t>
            </a:r>
          </a:p>
          <a:p>
            <a:pPr algn="l">
              <a:spcAft>
                <a:spcPts val="500"/>
              </a:spcAft>
              <a:defRPr sz="2000" b="0">
                <a:solidFill>
                  <a:srgbClr val="CCCCCC"/>
                </a:solidFill>
                <a:latin typeface="Courier New"/>
              </a:defRPr>
            </a:pPr>
            <a:r>
              <a:rPr lang="en-GB" altLang="en-GB"/>
              <a:t>  Jamf ThreatLabs key (free for Jamf customers, beta)</a:t>
            </a:r>
          </a:p>
          <a:p>
            <a:pPr algn="l">
              <a:spcAft>
                <a:spcPts val="500"/>
              </a:spcAft>
              <a:defRPr sz="800" b="0">
                <a:solidFill>
                  <a:srgbClr val="888888"/>
                </a:solidFill>
                <a:latin typeface="Courier New"/>
              </a:defRPr>
            </a:pPr>
            <a:endParaRPr lang="en-GB"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972800" cy="731520"/>
          </a:xfrm>
          <a:prstGeom prst="rect">
            <a:avLst/>
          </a:prstGeom>
          <a:noFill/>
        </p:spPr>
        <p:txBody>
          <a:bodyPr wrap="square"/>
          <a:lstStyle/>
          <a:p>
            <a:pPr algn="l">
              <a:spcBef>
                <a:spcPts val="0"/>
              </a:spcBef>
              <a:spcAft>
                <a:spcPts val="0"/>
              </a:spcAft>
              <a:defRPr sz="4400" b="1">
                <a:solidFill>
                  <a:srgbClr val="CC2424"/>
                </a:solidFill>
                <a:latin typeface="Courier New"/>
              </a:defRPr>
            </a:pPr>
            <a:r>
              <a:rPr lang="en-GB" altLang="en-GB"/>
              <a:t>FUTURE OPS</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2336" y="1371600"/>
            <a:ext cx="10844784" cy="2505456"/>
          </a:xfrm>
          <a:prstGeom prst="rect">
            <a:avLst/>
          </a:prstGeom>
          <a:noFill/>
        </p:spPr>
        <p:txBody>
          <a:bodyPr wrap="square">
            <a:spAutoFit/>
          </a:bodyPr>
          <a:lstStyle/>
          <a:p>
            <a:pPr algn="l">
              <a:spcAft>
                <a:spcPts val="500"/>
              </a:spcAft>
              <a:defRPr sz="2400" b="1">
                <a:solidFill>
                  <a:srgbClr val="FFFFFF"/>
                </a:solidFill>
                <a:latin typeface="Courier New"/>
              </a:defRPr>
            </a:pPr>
            <a:r>
              <a:rPr lang="en-GB" altLang="en-GB"/>
              <a:t>What's on the roadmap:</a:t>
            </a:r>
          </a:p>
          <a:p>
            <a:pPr algn="l">
              <a:spcAft>
                <a:spcPts val="500"/>
              </a:spcAft>
              <a:defRPr sz="1000" b="0">
                <a:solidFill>
                  <a:srgbClr val="888888"/>
                </a:solidFill>
                <a:latin typeface="Courier New"/>
              </a:defRPr>
            </a:pPr>
            <a:endParaRPr lang="en-GB" altLang="en-GB"/>
          </a:p>
          <a:p>
            <a:pPr algn="l">
              <a:spcAft>
                <a:spcPts val="500"/>
              </a:spcAft>
              <a:defRPr sz="2200" b="0">
                <a:solidFill>
                  <a:srgbClr val="CCCCCC"/>
                </a:solidFill>
                <a:latin typeface="Courier New"/>
              </a:defRPr>
            </a:pPr>
            <a:r>
              <a:rPr lang="en-GB" altLang="en-GB"/>
              <a:t>  ░  Remove Python dependency — port to Swift</a:t>
            </a:r>
          </a:p>
          <a:p>
            <a:pPr algn="l">
              <a:spcAft>
                <a:spcPts val="500"/>
              </a:spcAft>
              <a:defRPr sz="2200" b="0">
                <a:solidFill>
                  <a:srgbClr val="CCCCCC"/>
                </a:solidFill>
                <a:latin typeface="Courier New"/>
              </a:defRPr>
            </a:pPr>
            <a:r>
              <a:rPr lang="en-GB" altLang="en-GB"/>
              <a:t>  ░  Convert to an LLM Skill / AI agent workflow</a:t>
            </a:r>
          </a:p>
          <a:p>
            <a:pPr algn="l">
              <a:spcAft>
                <a:spcPts val="500"/>
              </a:spcAft>
              <a:defRPr sz="2200" b="0">
                <a:solidFill>
                  <a:srgbClr val="CCCCCC"/>
                </a:solidFill>
                <a:latin typeface="Courier New"/>
              </a:defRPr>
            </a:pPr>
            <a:r>
              <a:rPr lang="en-GB" altLang="en-GB"/>
              <a:t>  ░  Persistence evaluation </a:t>
            </a:r>
          </a:p>
          <a:p>
            <a:pPr algn="l">
              <a:spcAft>
                <a:spcPts val="500"/>
              </a:spcAft>
              <a:defRPr sz="2200" b="0">
                <a:solidFill>
                  <a:srgbClr val="CCCCCC"/>
                </a:solidFill>
                <a:latin typeface="Courier New"/>
              </a:defRPr>
            </a:pPr>
            <a:r>
              <a:rPr lang="en-GB" altLang="en-GB"/>
              <a:t>  ░  Community contributions welcome</a:t>
            </a:r>
          </a:p>
          <a:p>
            <a:pPr algn="l">
              <a:spcAft>
                <a:spcPts val="500"/>
              </a:spcAft>
              <a:defRPr sz="1000" b="0">
                <a:solidFill>
                  <a:srgbClr val="888888"/>
                </a:solidFill>
                <a:latin typeface="Courier New"/>
              </a:defRPr>
            </a:pPr>
            <a:endParaRPr lang="en-GB"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698480" cy="731520"/>
          </a:xfrm>
          <a:prstGeom prst="rect">
            <a:avLst/>
          </a:prstGeom>
          <a:noFill/>
        </p:spPr>
        <p:txBody>
          <a:bodyPr wrap="square"/>
          <a:lstStyle/>
          <a:p>
            <a:pPr algn="ctr">
              <a:spcBef>
                <a:spcPts val="0"/>
              </a:spcBef>
              <a:spcAft>
                <a:spcPts val="0"/>
              </a:spcAft>
              <a:defRPr sz="4800" b="1">
                <a:solidFill>
                  <a:srgbClr val="CC2424"/>
                </a:solidFill>
                <a:latin typeface="Courier New"/>
              </a:defRPr>
            </a:pPr>
            <a:r>
              <a:rPr lang="en-GB" altLang="en-GB"/>
              <a:t>END OF BRIEFING</a:t>
            </a:r>
          </a:p>
        </p:txBody>
      </p:sp>
      <p:sp>
        <p:nvSpPr>
          <p:cNvPr id="3" name="Rectangle 2"/>
          <p:cNvSpPr/>
          <p:nvPr/>
        </p:nvSpPr>
        <p:spPr>
          <a:xfrm>
            <a:off x="731520" y="1005840"/>
            <a:ext cx="10698480" cy="38100"/>
          </a:xfrm>
          <a:prstGeom prst="rect">
            <a:avLst/>
          </a:prstGeom>
          <a:solidFill>
            <a:srgbClr val="CC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698480" cy="640080"/>
          </a:xfrm>
          <a:prstGeom prst="rect">
            <a:avLst/>
          </a:prstGeom>
          <a:noFill/>
        </p:spPr>
        <p:txBody>
          <a:bodyPr wrap="square"/>
          <a:lstStyle/>
          <a:p>
            <a:pPr algn="ctr">
              <a:spcBef>
                <a:spcPts val="0"/>
              </a:spcBef>
              <a:spcAft>
                <a:spcPts val="0"/>
              </a:spcAft>
              <a:defRPr sz="3200" b="1">
                <a:solidFill>
                  <a:srgbClr val="FFFFFF"/>
                </a:solidFill>
                <a:latin typeface="Courier New"/>
              </a:defRPr>
            </a:pPr>
            <a:r>
              <a:rPr lang="en-GB" altLang="en-GB"/>
              <a:t>"Trust, but verify."</a:t>
            </a:r>
          </a:p>
        </p:txBody>
      </p:sp>
      <p:sp>
        <p:nvSpPr>
          <p:cNvPr id="5" name="TextBox 4"/>
          <p:cNvSpPr txBox="1"/>
          <p:nvPr/>
        </p:nvSpPr>
        <p:spPr>
          <a:xfrm>
            <a:off x="667694" y="2519903"/>
            <a:ext cx="10698480" cy="707928"/>
          </a:xfrm>
          <a:prstGeom prst="rect">
            <a:avLst/>
          </a:prstGeom>
          <a:noFill/>
        </p:spPr>
        <p:txBody>
          <a:bodyPr wrap="square">
            <a:spAutoFit/>
          </a:bodyPr>
          <a:lstStyle/>
          <a:p>
            <a:pPr algn="ctr">
              <a:spcAft>
                <a:spcPts val="100"/>
              </a:spcAft>
              <a:defRPr sz="4000" b="0">
                <a:solidFill>
                  <a:srgbClr val="CCCCCC"/>
                </a:solidFill>
                <a:latin typeface="Courier New"/>
              </a:defRPr>
            </a:pPr>
            <a:r>
              <a:rPr lang="en-GB" altLang="en-GB"/>
              <a:t>GitHub: jamf.it/kdt6wC</a:t>
            </a:r>
          </a:p>
        </p:txBody>
      </p:sp>
      <p:sp>
        <p:nvSpPr>
          <p:cNvPr id="6" name="TextBox 5"/>
          <p:cNvSpPr txBox="1"/>
          <p:nvPr/>
        </p:nvSpPr>
        <p:spPr>
          <a:xfrm>
            <a:off x="731520" y="5029200"/>
            <a:ext cx="10698480" cy="731520"/>
          </a:xfrm>
          <a:prstGeom prst="rect">
            <a:avLst/>
          </a:prstGeom>
          <a:noFill/>
        </p:spPr>
        <p:txBody>
          <a:bodyPr wrap="square"/>
          <a:lstStyle/>
          <a:p>
            <a:pPr algn="ctr">
              <a:spcBef>
                <a:spcPts val="0"/>
              </a:spcBef>
              <a:spcAft>
                <a:spcPts val="0"/>
              </a:spcAft>
              <a:defRPr sz="4400" b="1">
                <a:solidFill>
                  <a:srgbClr val="FFA500"/>
                </a:solidFill>
                <a:latin typeface="Courier New"/>
              </a:defRPr>
            </a:pPr>
            <a:r>
              <a:rPr lang="en-GB" altLang="en-GB"/>
              <a:t>QUESTIONS?</a:t>
            </a:r>
          </a:p>
        </p:txBody>
      </p:sp>
      <p:sp>
        <p:nvSpPr>
          <p:cNvPr id="7" name="Rounded Rectangle 6"/>
          <p:cNvSpPr/>
          <p:nvPr/>
        </p:nvSpPr>
        <p:spPr>
          <a:xfrm rot="21000000">
            <a:off x="7543617" y="3361791"/>
            <a:ext cx="4572000" cy="1280160"/>
          </a:xfrm>
          <a:prstGeom prst="roundRect">
            <a:avLst/>
          </a:prstGeom>
          <a:noFill/>
          <a:ln w="50800">
            <a:solidFill>
              <a:srgbClr val="009933"/>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3200" b="1">
                <a:solidFill>
                  <a:srgbClr val="009933"/>
                </a:solidFill>
                <a:latin typeface="Courier New"/>
              </a:defRPr>
            </a:pPr>
            <a:r>
              <a:rPr lang="en-GB" altLang="en-GB"/>
              <a:t>DECLASSIFIED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53" presetClass="entr" presetSubtype="16" fill="hold" nodeType="clickEffect">
                            <p:stCondLst>
                              <p:cond delay="0"/>
                            </p:stCondLst>
                            <p:childTnLst>
                              <p:set>
                                <p:cBhvr>
                                  <p:cTn id="5" dur="1" fill="hold">
                                    <p:stCondLst>
                                      <p:cond delay="0"/>
                                    </p:stCondLst>
                                  </p:cTn>
                                  <p:tgtEl>
                                    <p:spTgt spid="7"/>
                                  </p:tgtEl>
                                  <p:attrNameLst>
                                    <p:attrName>style.visibility</p:attrName>
                                  </p:attrNameLst>
                                </p:cBhvr>
                                <p:to>
                                  <p:strVal val="visible"/>
                                </p:to>
                              </p:set>
                              <p:animScale>
                                <p:cBhvr>
                                  <p:cTn id="6" dur="200" decel="80000" fill="hold"/>
                                  <p:tgtEl>
                                    <p:spTgt spid="7"/>
                                  </p:tgtEl>
                                </p:cBhvr>
                                <p:from x="200000" y="200000"/>
                                <p:to x="100000" y="100000"/>
                              </p:animScale>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8493</Words>
  <Application>Microsoft Macintosh PowerPoint</Application>
  <PresentationFormat>Widescreen</PresentationFormat>
  <Paragraphs>897</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Paul Cossey</cp:lastModifiedBy>
  <cp:revision>47</cp:revision>
  <dcterms:created xsi:type="dcterms:W3CDTF">2013-01-27T09:14:16Z</dcterms:created>
  <dcterms:modified xsi:type="dcterms:W3CDTF">2026-04-22T12:03:25Z</dcterms:modified>
  <cp:category/>
</cp:coreProperties>
</file>